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wide"/>
  <p:notesSz cx="6858000" cy="9144000"/>
  <p:defaultTextStyle>
    <a:defPPr>
      <a:defRPr lang="en-US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E3A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E3A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4" name="Shape 4"/>
          <p:cNvSpPr/>
          <p:nvPr/>
        </p:nvSpPr>
        <p:spPr>
          <a:xfrm>
            <a:off x="7680960" y="0"/>
            <a:ext cx="4507992" cy="6858000"/>
          </a:xfrm>
          <a:prstGeom prst="rect">
            <a:avLst/>
          </a:prstGeom>
          <a:solidFill>
            <a:srgbClr val="0D2D55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5" name="Shape 5"/>
          <p:cNvSpPr/>
          <p:nvPr/>
        </p:nvSpPr>
        <p:spPr>
          <a:xfrm>
            <a:off x="8092440" y="1143000"/>
            <a:ext cx="3520440" cy="42976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6" name="Shape 6"/>
          <p:cNvSpPr/>
          <p:nvPr/>
        </p:nvSpPr>
        <p:spPr>
          <a:xfrm>
            <a:off x="8339328" y="1463040"/>
            <a:ext cx="3017520" cy="384048"/>
          </a:xfrm>
          <a:prstGeom prst="roundRect">
            <a:avLst/>
          </a:prstGeom>
          <a:solidFill>
            <a:srgbClr val="F4F8FF"/>
          </a:solidFill>
          <a:ln w="9525">
            <a:solidFill>
              <a:srgbClr val="DCE4ED"/>
            </a:solidFill>
          </a:ln>
          <a:effectLst/>
        </p:spPr>
        <p:txBody>
          <a:bodyPr/>
          <a:lstStyle/>
          <a:p/>
        </p:txBody>
      </p:sp>
      <p:sp>
        <p:nvSpPr>
          <p:cNvPr id="7" name="TextBox 7"/>
          <p:cNvSpPr txBox="1"/>
          <p:nvPr/>
        </p:nvSpPr>
        <p:spPr>
          <a:xfrm>
            <a:off x="8458200" y="1554480"/>
            <a:ext cx="1371600" cy="10972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1">
                <a:solidFill>
                  <a:srgbClr val="5B6878"/>
                </a:solidFill>
                <a:latin typeface="Aptos"/>
                <a:ea typeface="Aptos"/>
                <a:cs typeface="Aptos"/>
              </a:rPr>
              <a:t>Dashboard</a:t>
            </a:r>
          </a:p>
        </p:txBody>
      </p:sp>
      <p:sp>
        <p:nvSpPr>
          <p:cNvPr id="8" name="Shape 8"/>
          <p:cNvSpPr/>
          <p:nvPr/>
        </p:nvSpPr>
        <p:spPr>
          <a:xfrm>
            <a:off x="8339328" y="1993392"/>
            <a:ext cx="1353312" cy="713232"/>
          </a:xfrm>
          <a:prstGeom prst="roundRect">
            <a:avLst/>
          </a:prstGeom>
          <a:solidFill>
            <a:srgbClr val="EAF7EF"/>
          </a:solidFill>
          <a:ln w="9525">
            <a:solidFill>
              <a:srgbClr val="DCE4ED"/>
            </a:solidFill>
          </a:ln>
          <a:effectLst/>
        </p:spPr>
        <p:txBody>
          <a:bodyPr/>
          <a:lstStyle/>
          <a:p/>
        </p:txBody>
      </p:sp>
      <p:sp>
        <p:nvSpPr>
          <p:cNvPr id="9" name="Shape 9"/>
          <p:cNvSpPr/>
          <p:nvPr/>
        </p:nvSpPr>
        <p:spPr>
          <a:xfrm>
            <a:off x="9857232" y="1993392"/>
            <a:ext cx="1499616" cy="713232"/>
          </a:xfrm>
          <a:prstGeom prst="roundRect">
            <a:avLst/>
          </a:prstGeom>
          <a:solidFill>
            <a:srgbClr val="E8F0FE"/>
          </a:solidFill>
          <a:ln w="9525">
            <a:solidFill>
              <a:srgbClr val="DCE4ED"/>
            </a:solidFill>
          </a:ln>
          <a:effectLst/>
        </p:spPr>
        <p:txBody>
          <a:bodyPr/>
          <a:lstStyle/>
          <a:p/>
        </p:txBody>
      </p:sp>
      <p:sp>
        <p:nvSpPr>
          <p:cNvPr id="10" name="Shape 10"/>
          <p:cNvSpPr/>
          <p:nvPr/>
        </p:nvSpPr>
        <p:spPr>
          <a:xfrm>
            <a:off x="8339328" y="2926080"/>
            <a:ext cx="3017520" cy="237744"/>
          </a:xfrm>
          <a:prstGeom prst="rect">
            <a:avLst/>
          </a:prstGeom>
          <a:solidFill>
            <a:srgbClr val="DCE4ED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11" name="Shape 11"/>
          <p:cNvSpPr/>
          <p:nvPr/>
        </p:nvSpPr>
        <p:spPr>
          <a:xfrm>
            <a:off x="8339328" y="3310128"/>
            <a:ext cx="2331720" cy="164592"/>
          </a:xfrm>
          <a:prstGeom prst="rect">
            <a:avLst/>
          </a:prstGeom>
          <a:solidFill>
            <a:srgbClr val="9FC2EE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12" name="Shape 12"/>
          <p:cNvSpPr/>
          <p:nvPr/>
        </p:nvSpPr>
        <p:spPr>
          <a:xfrm>
            <a:off x="8339328" y="3657600"/>
            <a:ext cx="2697480" cy="164592"/>
          </a:xfrm>
          <a:prstGeom prst="rect">
            <a:avLst/>
          </a:prstGeom>
          <a:solidFill>
            <a:srgbClr val="CBDEF6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13" name="Shape 13"/>
          <p:cNvSpPr/>
          <p:nvPr/>
        </p:nvSpPr>
        <p:spPr>
          <a:xfrm>
            <a:off x="8339328" y="4005072"/>
            <a:ext cx="1783080" cy="164592"/>
          </a:xfrm>
          <a:prstGeom prst="rect">
            <a:avLst/>
          </a:prstGeom>
          <a:solidFill>
            <a:srgbClr val="9FC2EE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14" name="Shape 14"/>
          <p:cNvSpPr/>
          <p:nvPr/>
        </p:nvSpPr>
        <p:spPr>
          <a:xfrm>
            <a:off x="640080" y="658368"/>
            <a:ext cx="566928" cy="566928"/>
          </a:xfrm>
          <a:prstGeom prst="ellipse">
            <a:avLst/>
          </a:prstGeom>
          <a:solidFill>
            <a:srgbClr val="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15" name="TextBox 15"/>
          <p:cNvSpPr txBox="1"/>
          <p:nvPr/>
        </p:nvSpPr>
        <p:spPr>
          <a:xfrm>
            <a:off x="640080" y="685800"/>
            <a:ext cx="566928" cy="521208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"/>
              </a:spcAft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325880" y="685800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"/>
              </a:spcAft>
            </a:pPr>
            <a:r>
              <a:rPr sz="22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ForgeTDM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325880" y="987552"/>
            <a:ext cx="502920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CBDEF6"/>
                </a:solidFill>
                <a:latin typeface="Aptos"/>
                <a:ea typeface="Aptos"/>
                <a:cs typeface="Aptos"/>
              </a:rPr>
              <a:t>Enterprise Test Data Control Plane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40080" y="1847088"/>
            <a:ext cx="6537960" cy="1143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"/>
              </a:spcAft>
            </a:pPr>
            <a:r>
              <a:rPr sz="41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Showcase safe, realistic test data in minutes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67512" y="3090672"/>
            <a:ext cx="6400800" cy="56692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>
                <a:solidFill>
                  <a:srgbClr val="CBDEF6"/>
                </a:solidFill>
                <a:latin typeface="Aptos"/>
                <a:ea typeface="Aptos"/>
                <a:cs typeface="Aptos"/>
              </a:rPr>
              <a:t>Discover PII, define policy, map DataScope, provision masked subsets, generate synthetic and mainframe files, virtualize environments, and prove the result.</a:t>
            </a:r>
          </a:p>
        </p:txBody>
      </p:sp>
      <p:sp>
        <p:nvSpPr>
          <p:cNvPr id="20" name="Shape 20"/>
          <p:cNvSpPr/>
          <p:nvPr/>
        </p:nvSpPr>
        <p:spPr>
          <a:xfrm>
            <a:off x="667512" y="4160520"/>
            <a:ext cx="2103120" cy="310896"/>
          </a:xfrm>
          <a:prstGeom prst="roundRect">
            <a:avLst/>
          </a:prstGeom>
          <a:solidFill>
            <a:srgbClr val="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21" name="TextBox 21"/>
          <p:cNvSpPr txBox="1"/>
          <p:nvPr/>
        </p:nvSpPr>
        <p:spPr>
          <a:xfrm>
            <a:off x="667512" y="4210812"/>
            <a:ext cx="2103120" cy="137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30"/>
              </a:spcAft>
            </a:pPr>
            <a:r>
              <a:rPr sz="800" b="1">
                <a:solidFill>
                  <a:srgbClr val="DFF7FF"/>
                </a:solidFill>
                <a:latin typeface="Aptos"/>
                <a:ea typeface="Aptos"/>
                <a:cs typeface="Aptos"/>
              </a:rPr>
              <a:t>Relational + Mainframe</a:t>
            </a:r>
          </a:p>
        </p:txBody>
      </p:sp>
      <p:sp>
        <p:nvSpPr>
          <p:cNvPr id="22" name="Shape 22"/>
          <p:cNvSpPr/>
          <p:nvPr/>
        </p:nvSpPr>
        <p:spPr>
          <a:xfrm>
            <a:off x="2916936" y="4160520"/>
            <a:ext cx="1773936" cy="310896"/>
          </a:xfrm>
          <a:prstGeom prst="roundRect">
            <a:avLst/>
          </a:prstGeom>
          <a:solidFill>
            <a:srgbClr val="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23" name="TextBox 23"/>
          <p:cNvSpPr txBox="1"/>
          <p:nvPr/>
        </p:nvSpPr>
        <p:spPr>
          <a:xfrm>
            <a:off x="2916936" y="4210812"/>
            <a:ext cx="1773936" cy="137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30"/>
              </a:spcAft>
            </a:pPr>
            <a:r>
              <a:rPr sz="800" b="1">
                <a:solidFill>
                  <a:srgbClr val="DFF7FF"/>
                </a:solidFill>
                <a:latin typeface="Aptos"/>
                <a:ea typeface="Aptos"/>
                <a:cs typeface="Aptos"/>
              </a:rPr>
              <a:t>Masked + Synthetic</a:t>
            </a:r>
          </a:p>
        </p:txBody>
      </p:sp>
      <p:sp>
        <p:nvSpPr>
          <p:cNvPr id="24" name="Shape 24"/>
          <p:cNvSpPr/>
          <p:nvPr/>
        </p:nvSpPr>
        <p:spPr>
          <a:xfrm>
            <a:off x="4837176" y="4160520"/>
            <a:ext cx="2185416" cy="310896"/>
          </a:xfrm>
          <a:prstGeom prst="roundRect">
            <a:avLst/>
          </a:prstGeom>
          <a:solidFill>
            <a:srgbClr val="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25" name="TextBox 25"/>
          <p:cNvSpPr txBox="1"/>
          <p:nvPr/>
        </p:nvSpPr>
        <p:spPr>
          <a:xfrm>
            <a:off x="4837176" y="4210812"/>
            <a:ext cx="2185416" cy="137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30"/>
              </a:spcAft>
            </a:pPr>
            <a:r>
              <a:rPr sz="800" b="1">
                <a:solidFill>
                  <a:srgbClr val="DFF7FF"/>
                </a:solidFill>
                <a:latin typeface="Aptos"/>
                <a:ea typeface="Aptos"/>
                <a:cs typeface="Aptos"/>
              </a:rPr>
              <a:t>Virtualized + Validated</a:t>
            </a:r>
          </a:p>
        </p:txBody>
      </p:sp>
      <p:sp>
        <p:nvSpPr>
          <p:cNvPr id="26" name="Shape 26"/>
          <p:cNvSpPr/>
          <p:nvPr/>
        </p:nvSpPr>
        <p:spPr>
          <a:xfrm>
            <a:off x="7168896" y="4160520"/>
            <a:ext cx="1197864" cy="310896"/>
          </a:xfrm>
          <a:prstGeom prst="roundRect">
            <a:avLst/>
          </a:prstGeom>
          <a:solidFill>
            <a:srgbClr val="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27" name="TextBox 27"/>
          <p:cNvSpPr txBox="1"/>
          <p:nvPr/>
        </p:nvSpPr>
        <p:spPr>
          <a:xfrm>
            <a:off x="7168896" y="4210812"/>
            <a:ext cx="1197864" cy="137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30"/>
              </a:spcAft>
            </a:pPr>
            <a:r>
              <a:rPr sz="800" b="1">
                <a:solidFill>
                  <a:srgbClr val="DFF7FF"/>
                </a:solidFill>
                <a:latin typeface="Aptos"/>
                <a:ea typeface="Aptos"/>
                <a:cs typeface="Aptos"/>
              </a:rPr>
              <a:t>AI-assisted</a:t>
            </a:r>
          </a:p>
        </p:txBody>
      </p:sp>
      <p:sp>
        <p:nvSpPr>
          <p:cNvPr id="28" name="Shape 28"/>
          <p:cNvSpPr/>
          <p:nvPr/>
        </p:nvSpPr>
        <p:spPr>
          <a:xfrm>
            <a:off x="667512" y="4892040"/>
            <a:ext cx="2057400" cy="868680"/>
          </a:xfrm>
          <a:prstGeom prst="roundRect">
            <a:avLst/>
          </a:prstGeom>
          <a:solidFill>
            <a:srgbClr val="0D2D55"/>
          </a:solidFill>
          <a:ln w="9525">
            <a:solidFill>
              <a:srgbClr val="DCE4ED"/>
            </a:solidFill>
          </a:ln>
          <a:effectLst/>
        </p:spPr>
        <p:txBody>
          <a:bodyPr/>
          <a:lstStyle/>
          <a:p/>
        </p:txBody>
      </p:sp>
      <p:sp>
        <p:nvSpPr>
          <p:cNvPr id="29" name="TextBox 29"/>
          <p:cNvSpPr txBox="1"/>
          <p:nvPr/>
        </p:nvSpPr>
        <p:spPr>
          <a:xfrm>
            <a:off x="850392" y="5029200"/>
            <a:ext cx="169164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71E3A"/>
                </a:solidFill>
                <a:latin typeface="Aptos"/>
                <a:ea typeface="Aptos"/>
                <a:cs typeface="Aptos"/>
              </a:rPr>
              <a:t>Governed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50392" y="5422392"/>
            <a:ext cx="1691640" cy="30175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5"/>
              </a:spcAft>
            </a:pPr>
            <a:r>
              <a:rPr sz="900">
                <a:solidFill>
                  <a:srgbClr val="5B6878"/>
                </a:solidFill>
                <a:latin typeface="Aptos"/>
                <a:ea typeface="Aptos"/>
                <a:cs typeface="Aptos"/>
              </a:rPr>
              <a:t>Policies, approvals, audit.</a:t>
            </a:r>
          </a:p>
        </p:txBody>
      </p:sp>
      <p:sp>
        <p:nvSpPr>
          <p:cNvPr id="31" name="Shape 31"/>
          <p:cNvSpPr/>
          <p:nvPr/>
        </p:nvSpPr>
        <p:spPr>
          <a:xfrm>
            <a:off x="2907792" y="4892040"/>
            <a:ext cx="2057400" cy="868680"/>
          </a:xfrm>
          <a:prstGeom prst="roundRect">
            <a:avLst/>
          </a:prstGeom>
          <a:solidFill>
            <a:srgbClr val="0D2D55"/>
          </a:solidFill>
          <a:ln w="9525">
            <a:solidFill>
              <a:srgbClr val="DCE4ED"/>
            </a:solidFill>
          </a:ln>
          <a:effectLst/>
        </p:spPr>
        <p:txBody>
          <a:bodyPr/>
          <a:lstStyle/>
          <a:p/>
        </p:txBody>
      </p:sp>
      <p:sp>
        <p:nvSpPr>
          <p:cNvPr id="32" name="TextBox 32"/>
          <p:cNvSpPr txBox="1"/>
          <p:nvPr/>
        </p:nvSpPr>
        <p:spPr>
          <a:xfrm>
            <a:off x="3090672" y="5029200"/>
            <a:ext cx="169164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71E3A"/>
                </a:solidFill>
                <a:latin typeface="Aptos"/>
                <a:ea typeface="Aptos"/>
                <a:cs typeface="Aptos"/>
              </a:rPr>
              <a:t>Fast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3090672" y="5422392"/>
            <a:ext cx="1691640" cy="30175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5"/>
              </a:spcAft>
            </a:pPr>
            <a:r>
              <a:rPr sz="900">
                <a:solidFill>
                  <a:srgbClr val="5B6878"/>
                </a:solidFill>
                <a:latin typeface="Aptos"/>
                <a:ea typeface="Aptos"/>
                <a:cs typeface="Aptos"/>
              </a:rPr>
              <a:t>Async jobs, snapshots, VDBs.</a:t>
            </a:r>
          </a:p>
        </p:txBody>
      </p:sp>
      <p:sp>
        <p:nvSpPr>
          <p:cNvPr id="34" name="Shape 34"/>
          <p:cNvSpPr/>
          <p:nvPr/>
        </p:nvSpPr>
        <p:spPr>
          <a:xfrm>
            <a:off x="5148072" y="4892040"/>
            <a:ext cx="2057400" cy="868680"/>
          </a:xfrm>
          <a:prstGeom prst="roundRect">
            <a:avLst/>
          </a:prstGeom>
          <a:solidFill>
            <a:srgbClr val="0D2D55"/>
          </a:solidFill>
          <a:ln w="9525">
            <a:solidFill>
              <a:srgbClr val="DCE4ED"/>
            </a:solidFill>
          </a:ln>
          <a:effectLst/>
        </p:spPr>
        <p:txBody>
          <a:bodyPr/>
          <a:lstStyle/>
          <a:p/>
        </p:txBody>
      </p:sp>
      <p:sp>
        <p:nvSpPr>
          <p:cNvPr id="35" name="TextBox 35"/>
          <p:cNvSpPr txBox="1"/>
          <p:nvPr/>
        </p:nvSpPr>
        <p:spPr>
          <a:xfrm>
            <a:off x="5330952" y="5029200"/>
            <a:ext cx="169164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71E3A"/>
                </a:solidFill>
                <a:latin typeface="Aptos"/>
                <a:ea typeface="Aptos"/>
                <a:cs typeface="Aptos"/>
              </a:rPr>
              <a:t>Credible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5330952" y="5422392"/>
            <a:ext cx="1691640" cy="30175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5"/>
              </a:spcAft>
            </a:pPr>
            <a:r>
              <a:rPr sz="900">
                <a:solidFill>
                  <a:srgbClr val="5B6878"/>
                </a:solidFill>
                <a:latin typeface="Aptos"/>
                <a:ea typeface="Aptos"/>
                <a:cs typeface="Aptos"/>
              </a:rPr>
              <a:t>Validation evidence.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8183880" y="5669280"/>
            <a:ext cx="338328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CBDEF6"/>
                </a:solidFill>
                <a:latin typeface="Aptos"/>
                <a:ea typeface="Aptos"/>
                <a:cs typeface="Aptos"/>
              </a:rPr>
              <a:t>A product story you can demo end-to-end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3" name="TextBox 3"/>
          <p:cNvSpPr txBox="1"/>
          <p:nvPr/>
        </p:nvSpPr>
        <p:spPr>
          <a:xfrm>
            <a:off x="502920" y="310896"/>
            <a:ext cx="365760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1D6FB8"/>
                </a:solidFill>
                <a:latin typeface="Aptos"/>
                <a:ea typeface="Aptos"/>
                <a:cs typeface="Aptos"/>
              </a:rPr>
              <a:t>THE ENTERPRISE PAIN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02920" y="566928"/>
            <a:ext cx="896112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"/>
              </a:spcAft>
            </a:pPr>
            <a:r>
              <a:rPr sz="2700" b="1">
                <a:solidFill>
                  <a:srgbClr val="071E3A"/>
                </a:solidFill>
                <a:latin typeface="Cambria"/>
                <a:ea typeface="Cambria"/>
                <a:cs typeface="Cambria"/>
              </a:rPr>
              <a:t>Why test data work still slows teams down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972800" y="621792"/>
            <a:ext cx="59436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80"/>
              </a:spcAft>
            </a:pPr>
            <a:r>
              <a:rPr sz="1200" b="1">
                <a:solidFill>
                  <a:srgbClr val="1D6FB8"/>
                </a:solidFill>
                <a:latin typeface="Cambria"/>
                <a:ea typeface="Cambria"/>
                <a:cs typeface="Cambria"/>
              </a:rPr>
              <a:t>02</a:t>
            </a:r>
          </a:p>
        </p:txBody>
      </p:sp>
      <p:sp>
        <p:nvSpPr>
          <p:cNvPr id="6" name="Shape 6"/>
          <p:cNvSpPr/>
          <p:nvPr/>
        </p:nvSpPr>
        <p:spPr>
          <a:xfrm>
            <a:off x="502920" y="1124712"/>
            <a:ext cx="11155680" cy="20117"/>
          </a:xfrm>
          <a:prstGeom prst="rect">
            <a:avLst/>
          </a:prstGeom>
          <a:solidFill>
            <a:srgbClr val="DCE4ED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7" name="Shape 7"/>
          <p:cNvSpPr/>
          <p:nvPr/>
        </p:nvSpPr>
        <p:spPr>
          <a:xfrm>
            <a:off x="685800" y="1600200"/>
            <a:ext cx="3246120" cy="960120"/>
          </a:xfrm>
          <a:prstGeom prst="roundRect">
            <a:avLst/>
          </a:prstGeom>
          <a:solidFill>
            <a:srgbClr val="FFF1F1"/>
          </a:solidFill>
          <a:ln w="9525">
            <a:solidFill>
              <a:srgbClr val="DCE4ED"/>
            </a:solidFill>
          </a:ln>
          <a:effectLst/>
        </p:spPr>
        <p:txBody>
          <a:bodyPr/>
          <a:lstStyle/>
          <a:p/>
        </p:txBody>
      </p:sp>
      <p:sp>
        <p:nvSpPr>
          <p:cNvPr id="8" name="TextBox 8"/>
          <p:cNvSpPr txBox="1"/>
          <p:nvPr/>
        </p:nvSpPr>
        <p:spPr>
          <a:xfrm>
            <a:off x="868680" y="1737360"/>
            <a:ext cx="288036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71E3A"/>
                </a:solidFill>
                <a:latin typeface="Aptos"/>
                <a:ea typeface="Aptos"/>
                <a:cs typeface="Aptos"/>
              </a:rPr>
              <a:t>Risk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68680" y="2130552"/>
            <a:ext cx="2880360" cy="3931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5"/>
              </a:spcAft>
            </a:pPr>
            <a:r>
              <a:rPr sz="900">
                <a:solidFill>
                  <a:srgbClr val="5B6878"/>
                </a:solidFill>
                <a:latin typeface="Aptos"/>
                <a:ea typeface="Aptos"/>
                <a:cs typeface="Aptos"/>
              </a:rPr>
              <a:t>Sensitive data leaks into lower environments.</a:t>
            </a:r>
          </a:p>
        </p:txBody>
      </p:sp>
      <p:sp>
        <p:nvSpPr>
          <p:cNvPr id="10" name="Shape 10"/>
          <p:cNvSpPr/>
          <p:nvPr/>
        </p:nvSpPr>
        <p:spPr>
          <a:xfrm>
            <a:off x="4297680" y="1600200"/>
            <a:ext cx="3246120" cy="960120"/>
          </a:xfrm>
          <a:prstGeom prst="roundRect">
            <a:avLst/>
          </a:prstGeom>
          <a:solidFill>
            <a:srgbClr val="FFF4E6"/>
          </a:solidFill>
          <a:ln w="9525">
            <a:solidFill>
              <a:srgbClr val="DCE4ED"/>
            </a:solidFill>
          </a:ln>
          <a:effectLst/>
        </p:spPr>
        <p:txBody>
          <a:bodyPr/>
          <a:lstStyle/>
          <a:p/>
        </p:txBody>
      </p:sp>
      <p:sp>
        <p:nvSpPr>
          <p:cNvPr id="11" name="TextBox 11"/>
          <p:cNvSpPr txBox="1"/>
          <p:nvPr/>
        </p:nvSpPr>
        <p:spPr>
          <a:xfrm>
            <a:off x="4480560" y="1737360"/>
            <a:ext cx="288036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71E3A"/>
                </a:solidFill>
                <a:latin typeface="Aptos"/>
                <a:ea typeface="Aptos"/>
                <a:cs typeface="Aptos"/>
              </a:rPr>
              <a:t>Delay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480560" y="2130552"/>
            <a:ext cx="2880360" cy="3931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5"/>
              </a:spcAft>
            </a:pPr>
            <a:r>
              <a:rPr sz="900">
                <a:solidFill>
                  <a:srgbClr val="5B6878"/>
                </a:solidFill>
                <a:latin typeface="Aptos"/>
                <a:ea typeface="Aptos"/>
                <a:cs typeface="Aptos"/>
              </a:rPr>
              <a:t>DBA tickets, manual extracts and refresh windows.</a:t>
            </a:r>
          </a:p>
        </p:txBody>
      </p:sp>
      <p:sp>
        <p:nvSpPr>
          <p:cNvPr id="13" name="Shape 13"/>
          <p:cNvSpPr/>
          <p:nvPr/>
        </p:nvSpPr>
        <p:spPr>
          <a:xfrm>
            <a:off x="685800" y="2834640"/>
            <a:ext cx="3246120" cy="960120"/>
          </a:xfrm>
          <a:prstGeom prst="roundRect">
            <a:avLst/>
          </a:prstGeom>
          <a:solidFill>
            <a:srgbClr val="FFF1F1"/>
          </a:solidFill>
          <a:ln w="9525">
            <a:solidFill>
              <a:srgbClr val="DCE4ED"/>
            </a:solidFill>
          </a:ln>
          <a:effectLst/>
        </p:spPr>
        <p:txBody>
          <a:bodyPr/>
          <a:lstStyle/>
          <a:p/>
        </p:txBody>
      </p:sp>
      <p:sp>
        <p:nvSpPr>
          <p:cNvPr id="14" name="TextBox 14"/>
          <p:cNvSpPr txBox="1"/>
          <p:nvPr/>
        </p:nvSpPr>
        <p:spPr>
          <a:xfrm>
            <a:off x="868680" y="2971800"/>
            <a:ext cx="288036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71E3A"/>
                </a:solidFill>
                <a:latin typeface="Aptos"/>
                <a:ea typeface="Aptos"/>
                <a:cs typeface="Aptos"/>
              </a:rPr>
              <a:t>Fragility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68680" y="3364992"/>
            <a:ext cx="2880360" cy="3931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5"/>
              </a:spcAft>
            </a:pPr>
            <a:r>
              <a:rPr sz="900">
                <a:solidFill>
                  <a:srgbClr val="5B6878"/>
                </a:solidFill>
                <a:latin typeface="Aptos"/>
                <a:ea typeface="Aptos"/>
                <a:cs typeface="Aptos"/>
              </a:rPr>
              <a:t>Subsets break because relationships are missed.</a:t>
            </a:r>
          </a:p>
        </p:txBody>
      </p:sp>
      <p:sp>
        <p:nvSpPr>
          <p:cNvPr id="16" name="Shape 16"/>
          <p:cNvSpPr/>
          <p:nvPr/>
        </p:nvSpPr>
        <p:spPr>
          <a:xfrm>
            <a:off x="4297680" y="2834640"/>
            <a:ext cx="3246120" cy="960120"/>
          </a:xfrm>
          <a:prstGeom prst="roundRect">
            <a:avLst/>
          </a:prstGeom>
          <a:solidFill>
            <a:srgbClr val="FFF4E6"/>
          </a:solidFill>
          <a:ln w="9525">
            <a:solidFill>
              <a:srgbClr val="DCE4ED"/>
            </a:solidFill>
          </a:ln>
          <a:effectLst/>
        </p:spPr>
        <p:txBody>
          <a:bodyPr/>
          <a:lstStyle/>
          <a:p/>
        </p:txBody>
      </p:sp>
      <p:sp>
        <p:nvSpPr>
          <p:cNvPr id="17" name="TextBox 17"/>
          <p:cNvSpPr txBox="1"/>
          <p:nvPr/>
        </p:nvSpPr>
        <p:spPr>
          <a:xfrm>
            <a:off x="4480560" y="2971800"/>
            <a:ext cx="288036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71E3A"/>
                </a:solidFill>
                <a:latin typeface="Aptos"/>
                <a:ea typeface="Aptos"/>
                <a:cs typeface="Aptos"/>
              </a:rPr>
              <a:t>Low realism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480560" y="3364992"/>
            <a:ext cx="2880360" cy="3931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5"/>
              </a:spcAft>
            </a:pPr>
            <a:r>
              <a:rPr sz="900">
                <a:solidFill>
                  <a:srgbClr val="5B6878"/>
                </a:solidFill>
                <a:latin typeface="Aptos"/>
                <a:ea typeface="Aptos"/>
                <a:cs typeface="Aptos"/>
              </a:rPr>
              <a:t>Synthetic data lacks valid keys, formats or domain logic.</a:t>
            </a:r>
          </a:p>
        </p:txBody>
      </p:sp>
      <p:sp>
        <p:nvSpPr>
          <p:cNvPr id="19" name="Shape 19"/>
          <p:cNvSpPr/>
          <p:nvPr/>
        </p:nvSpPr>
        <p:spPr>
          <a:xfrm>
            <a:off x="685800" y="4069080"/>
            <a:ext cx="3246120" cy="960120"/>
          </a:xfrm>
          <a:prstGeom prst="roundRect">
            <a:avLst/>
          </a:prstGeom>
          <a:solidFill>
            <a:srgbClr val="FFF1F1"/>
          </a:solidFill>
          <a:ln w="9525">
            <a:solidFill>
              <a:srgbClr val="DCE4ED"/>
            </a:solidFill>
          </a:ln>
          <a:effectLst/>
        </p:spPr>
        <p:txBody>
          <a:bodyPr/>
          <a:lstStyle/>
          <a:p/>
        </p:txBody>
      </p:sp>
      <p:sp>
        <p:nvSpPr>
          <p:cNvPr id="20" name="TextBox 20"/>
          <p:cNvSpPr txBox="1"/>
          <p:nvPr/>
        </p:nvSpPr>
        <p:spPr>
          <a:xfrm>
            <a:off x="868680" y="4206240"/>
            <a:ext cx="288036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71E3A"/>
                </a:solidFill>
                <a:latin typeface="Aptos"/>
                <a:ea typeface="Aptos"/>
                <a:cs typeface="Aptos"/>
              </a:rPr>
              <a:t>Legacy gap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68680" y="4599432"/>
            <a:ext cx="2880360" cy="3931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5"/>
              </a:spcAft>
            </a:pPr>
            <a:r>
              <a:rPr sz="900">
                <a:solidFill>
                  <a:srgbClr val="5B6878"/>
                </a:solidFill>
                <a:latin typeface="Aptos"/>
                <a:ea typeface="Aptos"/>
                <a:cs typeface="Aptos"/>
              </a:rPr>
              <a:t>Mainframe files need copybook-aware masking.</a:t>
            </a:r>
          </a:p>
        </p:txBody>
      </p:sp>
      <p:sp>
        <p:nvSpPr>
          <p:cNvPr id="22" name="Shape 22"/>
          <p:cNvSpPr/>
          <p:nvPr/>
        </p:nvSpPr>
        <p:spPr>
          <a:xfrm>
            <a:off x="4297680" y="4069080"/>
            <a:ext cx="3246120" cy="960120"/>
          </a:xfrm>
          <a:prstGeom prst="roundRect">
            <a:avLst/>
          </a:prstGeom>
          <a:solidFill>
            <a:srgbClr val="FFF4E6"/>
          </a:solidFill>
          <a:ln w="9525">
            <a:solidFill>
              <a:srgbClr val="DCE4ED"/>
            </a:solidFill>
          </a:ln>
          <a:effectLst/>
        </p:spPr>
        <p:txBody>
          <a:bodyPr/>
          <a:lstStyle/>
          <a:p/>
        </p:txBody>
      </p:sp>
      <p:sp>
        <p:nvSpPr>
          <p:cNvPr id="23" name="TextBox 23"/>
          <p:cNvSpPr txBox="1"/>
          <p:nvPr/>
        </p:nvSpPr>
        <p:spPr>
          <a:xfrm>
            <a:off x="4480560" y="4206240"/>
            <a:ext cx="288036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71E3A"/>
                </a:solidFill>
                <a:latin typeface="Aptos"/>
                <a:ea typeface="Aptos"/>
                <a:cs typeface="Aptos"/>
              </a:rPr>
              <a:t>No proof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480560" y="4599432"/>
            <a:ext cx="2880360" cy="3931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5"/>
              </a:spcAft>
            </a:pPr>
            <a:r>
              <a:rPr sz="900">
                <a:solidFill>
                  <a:srgbClr val="5B6878"/>
                </a:solidFill>
                <a:latin typeface="Aptos"/>
                <a:ea typeface="Aptos"/>
                <a:cs typeface="Aptos"/>
              </a:rPr>
              <a:t>Teams cannot easily show what was masked and validated.</a:t>
            </a:r>
          </a:p>
        </p:txBody>
      </p:sp>
      <p:sp>
        <p:nvSpPr>
          <p:cNvPr id="25" name="Shape 25"/>
          <p:cNvSpPr/>
          <p:nvPr/>
        </p:nvSpPr>
        <p:spPr>
          <a:xfrm>
            <a:off x="8092440" y="1554480"/>
            <a:ext cx="3246120" cy="3886200"/>
          </a:xfrm>
          <a:prstGeom prst="roundRect">
            <a:avLst/>
          </a:prstGeom>
          <a:solidFill>
            <a:srgbClr val="071E3A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26" name="TextBox 26"/>
          <p:cNvSpPr txBox="1"/>
          <p:nvPr/>
        </p:nvSpPr>
        <p:spPr>
          <a:xfrm>
            <a:off x="8339328" y="187452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"/>
              </a:spcAft>
            </a:pPr>
            <a:r>
              <a:rPr sz="20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ForgeTDM turns this into a governed workflow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357616" y="2788920"/>
            <a:ext cx="2697480" cy="16002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>
                <a:solidFill>
                  <a:srgbClr val="CBDEF6"/>
                </a:solidFill>
                <a:latin typeface="Aptos"/>
                <a:ea typeface="Aptos"/>
                <a:cs typeface="Aptos"/>
              </a:rPr>
              <a:t>One place to connect, classify, design, provision and prove safe test data across relational databases and mainframe files.</a:t>
            </a:r>
          </a:p>
        </p:txBody>
      </p:sp>
      <p:sp>
        <p:nvSpPr>
          <p:cNvPr id="28" name="Shape 28"/>
          <p:cNvSpPr/>
          <p:nvPr/>
        </p:nvSpPr>
        <p:spPr>
          <a:xfrm>
            <a:off x="8375904" y="4663440"/>
            <a:ext cx="2194560" cy="27432"/>
          </a:xfrm>
          <a:prstGeom prst="rect">
            <a:avLst/>
          </a:prstGeom>
          <a:solidFill>
            <a:srgbClr val="19A7CE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29" name="TextBox 29"/>
          <p:cNvSpPr txBox="1"/>
          <p:nvPr/>
        </p:nvSpPr>
        <p:spPr>
          <a:xfrm>
            <a:off x="8375904" y="4864608"/>
            <a:ext cx="260604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Result: faster teams, lower risk, better data.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502920" y="6446520"/>
            <a:ext cx="502920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00">
                <a:solidFill>
                  <a:srgbClr val="5B6878"/>
                </a:solidFill>
                <a:latin typeface="Aptos"/>
                <a:ea typeface="Aptos"/>
                <a:cs typeface="Aptos"/>
              </a:rPr>
              <a:t>ForgeTDM capability showcase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1109960" y="6446520"/>
            <a:ext cx="45720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800">
                <a:solidFill>
                  <a:srgbClr val="5B6878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3" name="TextBox 3"/>
          <p:cNvSpPr txBox="1"/>
          <p:nvPr/>
        </p:nvSpPr>
        <p:spPr>
          <a:xfrm>
            <a:off x="502920" y="310896"/>
            <a:ext cx="365760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1D6FB8"/>
                </a:solidFill>
                <a:latin typeface="Aptos"/>
                <a:ea typeface="Aptos"/>
                <a:cs typeface="Aptos"/>
              </a:rPr>
              <a:t>THE PRODUCT STORY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02920" y="566928"/>
            <a:ext cx="896112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"/>
              </a:spcAft>
            </a:pPr>
            <a:r>
              <a:rPr sz="2700" b="1">
                <a:solidFill>
                  <a:srgbClr val="071E3A"/>
                </a:solidFill>
                <a:latin typeface="Cambria"/>
                <a:ea typeface="Cambria"/>
                <a:cs typeface="Cambria"/>
              </a:rPr>
              <a:t>A complete lifecycle, not another masking script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972800" y="621792"/>
            <a:ext cx="59436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80"/>
              </a:spcAft>
            </a:pPr>
            <a:r>
              <a:rPr sz="1200" b="1">
                <a:solidFill>
                  <a:srgbClr val="1D6FB8"/>
                </a:solidFill>
                <a:latin typeface="Cambria"/>
                <a:ea typeface="Cambria"/>
                <a:cs typeface="Cambria"/>
              </a:rPr>
              <a:t>03</a:t>
            </a:r>
          </a:p>
        </p:txBody>
      </p:sp>
      <p:sp>
        <p:nvSpPr>
          <p:cNvPr id="6" name="Shape 6"/>
          <p:cNvSpPr/>
          <p:nvPr/>
        </p:nvSpPr>
        <p:spPr>
          <a:xfrm>
            <a:off x="502920" y="1124712"/>
            <a:ext cx="11155680" cy="20117"/>
          </a:xfrm>
          <a:prstGeom prst="rect">
            <a:avLst/>
          </a:prstGeom>
          <a:solidFill>
            <a:srgbClr val="DCE4ED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7" name="Shape 7"/>
          <p:cNvSpPr/>
          <p:nvPr/>
        </p:nvSpPr>
        <p:spPr>
          <a:xfrm>
            <a:off x="713232" y="2011680"/>
            <a:ext cx="502920" cy="502920"/>
          </a:xfrm>
          <a:prstGeom prst="ellipse">
            <a:avLst/>
          </a:prstGeom>
          <a:solidFill>
            <a:srgbClr val="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8" name="TextBox 8"/>
          <p:cNvSpPr txBox="1"/>
          <p:nvPr/>
        </p:nvSpPr>
        <p:spPr>
          <a:xfrm>
            <a:off x="713232" y="2039112"/>
            <a:ext cx="50292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"/>
              </a:spcAft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11480" y="2670048"/>
            <a:ext cx="1143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071E3A"/>
                </a:solidFill>
                <a:latin typeface="Aptos"/>
                <a:ea typeface="Aptos"/>
                <a:cs typeface="Aptos"/>
              </a:rPr>
              <a:t>Connect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10312" y="2971800"/>
            <a:ext cx="1554480" cy="65836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>
                <a:solidFill>
                  <a:srgbClr val="5B6878"/>
                </a:solidFill>
                <a:latin typeface="Aptos"/>
                <a:ea typeface="Aptos"/>
                <a:cs typeface="Aptos"/>
              </a:rPr>
              <a:t>Catalog DBs, schemas, LPARs and environments.</a:t>
            </a:r>
          </a:p>
        </p:txBody>
      </p:sp>
      <p:sp>
        <p:nvSpPr>
          <p:cNvPr id="11" name="Shape 11"/>
          <p:cNvSpPr/>
          <p:nvPr/>
        </p:nvSpPr>
        <p:spPr>
          <a:xfrm>
            <a:off x="1243584" y="2249424"/>
            <a:ext cx="1143000" cy="32004"/>
          </a:xfrm>
          <a:prstGeom prst="rect">
            <a:avLst/>
          </a:prstGeom>
          <a:solidFill>
            <a:srgbClr val="DCE4ED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12" name="TextBox 12"/>
          <p:cNvSpPr txBox="1"/>
          <p:nvPr/>
        </p:nvSpPr>
        <p:spPr>
          <a:xfrm>
            <a:off x="1828800" y="2075688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1D6FB8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3" name="Shape 13"/>
          <p:cNvSpPr/>
          <p:nvPr/>
        </p:nvSpPr>
        <p:spPr>
          <a:xfrm>
            <a:off x="2587752" y="2011680"/>
            <a:ext cx="502920" cy="502920"/>
          </a:xfrm>
          <a:prstGeom prst="ellipse">
            <a:avLst/>
          </a:prstGeom>
          <a:solidFill>
            <a:srgbClr val="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14" name="TextBox 14"/>
          <p:cNvSpPr txBox="1"/>
          <p:nvPr/>
        </p:nvSpPr>
        <p:spPr>
          <a:xfrm>
            <a:off x="2587752" y="2039112"/>
            <a:ext cx="50292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"/>
              </a:spcAft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286000" y="2670048"/>
            <a:ext cx="1143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071E3A"/>
                </a:solidFill>
                <a:latin typeface="Aptos"/>
                <a:ea typeface="Aptos"/>
                <a:cs typeface="Aptos"/>
              </a:rPr>
              <a:t>Discover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084832" y="2971800"/>
            <a:ext cx="1554480" cy="65836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>
                <a:solidFill>
                  <a:srgbClr val="5B6878"/>
                </a:solidFill>
                <a:latin typeface="Aptos"/>
                <a:ea typeface="Aptos"/>
                <a:cs typeface="Aptos"/>
              </a:rPr>
              <a:t>Find sensitive data and approve classifications.</a:t>
            </a:r>
          </a:p>
        </p:txBody>
      </p:sp>
      <p:sp>
        <p:nvSpPr>
          <p:cNvPr id="17" name="Shape 17"/>
          <p:cNvSpPr/>
          <p:nvPr/>
        </p:nvSpPr>
        <p:spPr>
          <a:xfrm>
            <a:off x="3118104" y="2249424"/>
            <a:ext cx="1143000" cy="32004"/>
          </a:xfrm>
          <a:prstGeom prst="rect">
            <a:avLst/>
          </a:prstGeom>
          <a:solidFill>
            <a:srgbClr val="DCE4ED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18" name="TextBox 18"/>
          <p:cNvSpPr txBox="1"/>
          <p:nvPr/>
        </p:nvSpPr>
        <p:spPr>
          <a:xfrm>
            <a:off x="3703320" y="2075688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1D6FB8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9" name="Shape 19"/>
          <p:cNvSpPr/>
          <p:nvPr/>
        </p:nvSpPr>
        <p:spPr>
          <a:xfrm>
            <a:off x="4462272" y="2011680"/>
            <a:ext cx="502920" cy="502920"/>
          </a:xfrm>
          <a:prstGeom prst="ellipse">
            <a:avLst/>
          </a:prstGeom>
          <a:solidFill>
            <a:srgbClr val="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20" name="TextBox 20"/>
          <p:cNvSpPr txBox="1"/>
          <p:nvPr/>
        </p:nvSpPr>
        <p:spPr>
          <a:xfrm>
            <a:off x="4462272" y="2039112"/>
            <a:ext cx="50292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"/>
              </a:spcAft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160520" y="2670048"/>
            <a:ext cx="1143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071E3A"/>
                </a:solidFill>
                <a:latin typeface="Aptos"/>
                <a:ea typeface="Aptos"/>
                <a:cs typeface="Aptos"/>
              </a:rPr>
              <a:t>Design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3959352" y="2971800"/>
            <a:ext cx="1554480" cy="65836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>
                <a:solidFill>
                  <a:srgbClr val="5B6878"/>
                </a:solidFill>
                <a:latin typeface="Aptos"/>
                <a:ea typeface="Aptos"/>
                <a:cs typeface="Aptos"/>
              </a:rPr>
              <a:t>DataScope, table maps, column maps and policies.</a:t>
            </a:r>
          </a:p>
        </p:txBody>
      </p:sp>
      <p:sp>
        <p:nvSpPr>
          <p:cNvPr id="23" name="Shape 23"/>
          <p:cNvSpPr/>
          <p:nvPr/>
        </p:nvSpPr>
        <p:spPr>
          <a:xfrm>
            <a:off x="4992624" y="2249424"/>
            <a:ext cx="1143000" cy="32004"/>
          </a:xfrm>
          <a:prstGeom prst="rect">
            <a:avLst/>
          </a:prstGeom>
          <a:solidFill>
            <a:srgbClr val="DCE4ED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24" name="TextBox 24"/>
          <p:cNvSpPr txBox="1"/>
          <p:nvPr/>
        </p:nvSpPr>
        <p:spPr>
          <a:xfrm>
            <a:off x="5577840" y="2075688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1D6FB8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5" name="Shape 25"/>
          <p:cNvSpPr/>
          <p:nvPr/>
        </p:nvSpPr>
        <p:spPr>
          <a:xfrm>
            <a:off x="6336792" y="2011680"/>
            <a:ext cx="502920" cy="502920"/>
          </a:xfrm>
          <a:prstGeom prst="ellipse">
            <a:avLst/>
          </a:prstGeom>
          <a:solidFill>
            <a:srgbClr val="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26" name="TextBox 26"/>
          <p:cNvSpPr txBox="1"/>
          <p:nvPr/>
        </p:nvSpPr>
        <p:spPr>
          <a:xfrm>
            <a:off x="6336792" y="2039112"/>
            <a:ext cx="50292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"/>
              </a:spcAft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035040" y="2670048"/>
            <a:ext cx="1143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071E3A"/>
                </a:solidFill>
                <a:latin typeface="Aptos"/>
                <a:ea typeface="Aptos"/>
                <a:cs typeface="Aptos"/>
              </a:rPr>
              <a:t>Deliver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5833872" y="2971800"/>
            <a:ext cx="1554480" cy="65836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>
                <a:solidFill>
                  <a:srgbClr val="5B6878"/>
                </a:solidFill>
                <a:latin typeface="Aptos"/>
                <a:ea typeface="Aptos"/>
                <a:cs typeface="Aptos"/>
              </a:rPr>
              <a:t>Mask-copy, subset, synthetic load, files, VDBs.</a:t>
            </a:r>
          </a:p>
        </p:txBody>
      </p:sp>
      <p:sp>
        <p:nvSpPr>
          <p:cNvPr id="29" name="Shape 29"/>
          <p:cNvSpPr/>
          <p:nvPr/>
        </p:nvSpPr>
        <p:spPr>
          <a:xfrm>
            <a:off x="6867144" y="2249424"/>
            <a:ext cx="1143000" cy="32004"/>
          </a:xfrm>
          <a:prstGeom prst="rect">
            <a:avLst/>
          </a:prstGeom>
          <a:solidFill>
            <a:srgbClr val="DCE4ED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30" name="TextBox 30"/>
          <p:cNvSpPr txBox="1"/>
          <p:nvPr/>
        </p:nvSpPr>
        <p:spPr>
          <a:xfrm>
            <a:off x="7452360" y="2075688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1D6FB8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31" name="Shape 31"/>
          <p:cNvSpPr/>
          <p:nvPr/>
        </p:nvSpPr>
        <p:spPr>
          <a:xfrm>
            <a:off x="8211312" y="2011680"/>
            <a:ext cx="502920" cy="502920"/>
          </a:xfrm>
          <a:prstGeom prst="ellipse">
            <a:avLst/>
          </a:prstGeom>
          <a:solidFill>
            <a:srgbClr val="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32" name="TextBox 32"/>
          <p:cNvSpPr txBox="1"/>
          <p:nvPr/>
        </p:nvSpPr>
        <p:spPr>
          <a:xfrm>
            <a:off x="8211312" y="2039112"/>
            <a:ext cx="50292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"/>
              </a:spcAft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909560" y="2670048"/>
            <a:ext cx="1143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071E3A"/>
                </a:solidFill>
                <a:latin typeface="Aptos"/>
                <a:ea typeface="Aptos"/>
                <a:cs typeface="Aptos"/>
              </a:rPr>
              <a:t>Validate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708392" y="2971800"/>
            <a:ext cx="1554480" cy="65836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>
                <a:solidFill>
                  <a:srgbClr val="5B6878"/>
                </a:solidFill>
                <a:latin typeface="Aptos"/>
                <a:ea typeface="Aptos"/>
                <a:cs typeface="Aptos"/>
              </a:rPr>
              <a:t>Leak, format, RI and domain checks.</a:t>
            </a:r>
          </a:p>
        </p:txBody>
      </p:sp>
      <p:sp>
        <p:nvSpPr>
          <p:cNvPr id="35" name="Shape 35"/>
          <p:cNvSpPr/>
          <p:nvPr/>
        </p:nvSpPr>
        <p:spPr>
          <a:xfrm>
            <a:off x="8741664" y="2249424"/>
            <a:ext cx="1143000" cy="32004"/>
          </a:xfrm>
          <a:prstGeom prst="rect">
            <a:avLst/>
          </a:prstGeom>
          <a:solidFill>
            <a:srgbClr val="DCE4ED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36" name="TextBox 36"/>
          <p:cNvSpPr txBox="1"/>
          <p:nvPr/>
        </p:nvSpPr>
        <p:spPr>
          <a:xfrm>
            <a:off x="9326880" y="2075688"/>
            <a:ext cx="2286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1D6FB8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37" name="Shape 37"/>
          <p:cNvSpPr/>
          <p:nvPr/>
        </p:nvSpPr>
        <p:spPr>
          <a:xfrm>
            <a:off x="10085832" y="2011680"/>
            <a:ext cx="502920" cy="502920"/>
          </a:xfrm>
          <a:prstGeom prst="ellipse">
            <a:avLst/>
          </a:prstGeom>
          <a:solidFill>
            <a:srgbClr val="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38" name="TextBox 38"/>
          <p:cNvSpPr txBox="1"/>
          <p:nvPr/>
        </p:nvSpPr>
        <p:spPr>
          <a:xfrm>
            <a:off x="10085832" y="2039112"/>
            <a:ext cx="50292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"/>
              </a:spcAft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9784080" y="2670048"/>
            <a:ext cx="1143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071E3A"/>
                </a:solidFill>
                <a:latin typeface="Aptos"/>
                <a:ea typeface="Aptos"/>
                <a:cs typeface="Aptos"/>
              </a:rPr>
              <a:t>Govern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9582912" y="2971800"/>
            <a:ext cx="1554480" cy="65836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>
                <a:solidFill>
                  <a:srgbClr val="5B6878"/>
                </a:solidFill>
                <a:latin typeface="Aptos"/>
                <a:ea typeface="Aptos"/>
                <a:cs typeface="Aptos"/>
              </a:rPr>
              <a:t>Reservations, audit trail and AI approval gates.</a:t>
            </a:r>
          </a:p>
        </p:txBody>
      </p:sp>
      <p:sp>
        <p:nvSpPr>
          <p:cNvPr id="41" name="Shape 41"/>
          <p:cNvSpPr/>
          <p:nvPr/>
        </p:nvSpPr>
        <p:spPr>
          <a:xfrm>
            <a:off x="1005840" y="4617720"/>
            <a:ext cx="10149840" cy="749808"/>
          </a:xfrm>
          <a:prstGeom prst="roundRect">
            <a:avLst/>
          </a:prstGeom>
          <a:solidFill>
            <a:srgbClr val="F4F8FF"/>
          </a:solidFill>
          <a:ln w="9525">
            <a:solidFill>
              <a:srgbClr val="DCE4ED"/>
            </a:solidFill>
          </a:ln>
          <a:effectLst/>
        </p:spPr>
        <p:txBody>
          <a:bodyPr/>
          <a:lstStyle/>
          <a:p/>
        </p:txBody>
      </p:sp>
      <p:sp>
        <p:nvSpPr>
          <p:cNvPr id="42" name="TextBox 42"/>
          <p:cNvSpPr txBox="1"/>
          <p:nvPr/>
        </p:nvSpPr>
        <p:spPr>
          <a:xfrm>
            <a:off x="1234440" y="4828032"/>
            <a:ext cx="969264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071E3A"/>
                </a:solidFill>
                <a:latin typeface="Aptos"/>
                <a:ea typeface="Aptos"/>
                <a:cs typeface="Aptos"/>
              </a:rPr>
              <a:t>Every stage feeds the next: discovery creates policies, policies drive maps, maps drive jobs, jobs create validation and audit evidence.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502920" y="6446520"/>
            <a:ext cx="502920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00">
                <a:solidFill>
                  <a:srgbClr val="5B6878"/>
                </a:solidFill>
                <a:latin typeface="Aptos"/>
                <a:ea typeface="Aptos"/>
                <a:cs typeface="Aptos"/>
              </a:rPr>
              <a:t>ForgeTDM capability showcase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1109960" y="6446520"/>
            <a:ext cx="45720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800">
                <a:solidFill>
                  <a:srgbClr val="5B6878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3" name="TextBox 3"/>
          <p:cNvSpPr txBox="1"/>
          <p:nvPr/>
        </p:nvSpPr>
        <p:spPr>
          <a:xfrm>
            <a:off x="502920" y="310896"/>
            <a:ext cx="365760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1D6FB8"/>
                </a:solidFill>
                <a:latin typeface="Aptos"/>
                <a:ea typeface="Aptos"/>
                <a:cs typeface="Aptos"/>
              </a:rPr>
              <a:t>CAPABILITY MAP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02920" y="566928"/>
            <a:ext cx="896112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"/>
              </a:spcAft>
            </a:pPr>
            <a:r>
              <a:rPr sz="2700" b="1">
                <a:solidFill>
                  <a:srgbClr val="071E3A"/>
                </a:solidFill>
                <a:latin typeface="Cambria"/>
                <a:ea typeface="Cambria"/>
                <a:cs typeface="Cambria"/>
              </a:rPr>
              <a:t>The modules that make the platform complete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972800" y="621792"/>
            <a:ext cx="59436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80"/>
              </a:spcAft>
            </a:pPr>
            <a:r>
              <a:rPr sz="1200" b="1">
                <a:solidFill>
                  <a:srgbClr val="1D6FB8"/>
                </a:solidFill>
                <a:latin typeface="Cambria"/>
                <a:ea typeface="Cambria"/>
                <a:cs typeface="Cambria"/>
              </a:rPr>
              <a:t>04</a:t>
            </a:r>
          </a:p>
        </p:txBody>
      </p:sp>
      <p:sp>
        <p:nvSpPr>
          <p:cNvPr id="6" name="Shape 6"/>
          <p:cNvSpPr/>
          <p:nvPr/>
        </p:nvSpPr>
        <p:spPr>
          <a:xfrm>
            <a:off x="502920" y="1124712"/>
            <a:ext cx="11155680" cy="20117"/>
          </a:xfrm>
          <a:prstGeom prst="rect">
            <a:avLst/>
          </a:prstGeom>
          <a:solidFill>
            <a:srgbClr val="DCE4ED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7" name="Shape 7"/>
          <p:cNvSpPr/>
          <p:nvPr/>
        </p:nvSpPr>
        <p:spPr>
          <a:xfrm>
            <a:off x="566928" y="1481328"/>
            <a:ext cx="2651760" cy="106070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E4ED"/>
            </a:solidFill>
          </a:ln>
          <a:effectLst/>
        </p:spPr>
        <p:txBody>
          <a:bodyPr/>
          <a:lstStyle/>
          <a:p/>
        </p:txBody>
      </p:sp>
      <p:sp>
        <p:nvSpPr>
          <p:cNvPr id="8" name="Shape 8"/>
          <p:cNvSpPr/>
          <p:nvPr/>
        </p:nvSpPr>
        <p:spPr>
          <a:xfrm>
            <a:off x="731520" y="1682496"/>
            <a:ext cx="438912" cy="438912"/>
          </a:xfrm>
          <a:prstGeom prst="ellipse">
            <a:avLst/>
          </a:prstGeom>
          <a:solidFill>
            <a:srgbClr val="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9" name="TextBox 9"/>
          <p:cNvSpPr txBox="1"/>
          <p:nvPr/>
        </p:nvSpPr>
        <p:spPr>
          <a:xfrm>
            <a:off x="731520" y="1709928"/>
            <a:ext cx="438912" cy="393192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"/>
              </a:spcAft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80160" y="1636776"/>
            <a:ext cx="1737360" cy="21031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71E3A"/>
                </a:solidFill>
                <a:latin typeface="Aptos"/>
                <a:ea typeface="Aptos"/>
                <a:cs typeface="Aptos"/>
              </a:rPr>
              <a:t>Data Sources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80160" y="1938528"/>
            <a:ext cx="178308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700">
                <a:solidFill>
                  <a:srgbClr val="5B6878"/>
                </a:solidFill>
                <a:latin typeface="Aptos"/>
                <a:ea typeface="Aptos"/>
                <a:cs typeface="Aptos"/>
              </a:rPr>
              <a:t>Connection catalog, health checks, schema/table/column metadata.</a:t>
            </a:r>
          </a:p>
        </p:txBody>
      </p:sp>
      <p:sp>
        <p:nvSpPr>
          <p:cNvPr id="12" name="Shape 12"/>
          <p:cNvSpPr/>
          <p:nvPr/>
        </p:nvSpPr>
        <p:spPr>
          <a:xfrm>
            <a:off x="3474720" y="1481328"/>
            <a:ext cx="2651760" cy="106070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E4ED"/>
            </a:solidFill>
          </a:ln>
          <a:effectLst/>
        </p:spPr>
        <p:txBody>
          <a:bodyPr/>
          <a:lstStyle/>
          <a:p/>
        </p:txBody>
      </p:sp>
      <p:sp>
        <p:nvSpPr>
          <p:cNvPr id="13" name="Shape 13"/>
          <p:cNvSpPr/>
          <p:nvPr/>
        </p:nvSpPr>
        <p:spPr>
          <a:xfrm>
            <a:off x="3639312" y="1682496"/>
            <a:ext cx="438912" cy="438912"/>
          </a:xfrm>
          <a:prstGeom prst="ellipse">
            <a:avLst/>
          </a:prstGeom>
          <a:solidFill>
            <a:srgbClr val="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14" name="TextBox 14"/>
          <p:cNvSpPr txBox="1"/>
          <p:nvPr/>
        </p:nvSpPr>
        <p:spPr>
          <a:xfrm>
            <a:off x="3639312" y="1709928"/>
            <a:ext cx="438912" cy="393192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"/>
              </a:spcAft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EX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187952" y="1636776"/>
            <a:ext cx="1737360" cy="21031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71E3A"/>
                </a:solidFill>
                <a:latin typeface="Aptos"/>
                <a:ea typeface="Aptos"/>
                <a:cs typeface="Aptos"/>
              </a:rPr>
              <a:t>Data Explorer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187952" y="1938528"/>
            <a:ext cx="178308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700">
                <a:solidFill>
                  <a:srgbClr val="5B6878"/>
                </a:solidFill>
                <a:latin typeface="Aptos"/>
                <a:ea typeface="Aptos"/>
                <a:cs typeface="Aptos"/>
              </a:rPr>
              <a:t>Read-only query preview for quick inspection.</a:t>
            </a:r>
          </a:p>
        </p:txBody>
      </p:sp>
      <p:sp>
        <p:nvSpPr>
          <p:cNvPr id="17" name="Shape 17"/>
          <p:cNvSpPr/>
          <p:nvPr/>
        </p:nvSpPr>
        <p:spPr>
          <a:xfrm>
            <a:off x="6382512" y="1481328"/>
            <a:ext cx="2651760" cy="106070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E4ED"/>
            </a:solidFill>
          </a:ln>
          <a:effectLst/>
        </p:spPr>
        <p:txBody>
          <a:bodyPr/>
          <a:lstStyle/>
          <a:p/>
        </p:txBody>
      </p:sp>
      <p:sp>
        <p:nvSpPr>
          <p:cNvPr id="18" name="Shape 18"/>
          <p:cNvSpPr/>
          <p:nvPr/>
        </p:nvSpPr>
        <p:spPr>
          <a:xfrm>
            <a:off x="6547104" y="1682496"/>
            <a:ext cx="438912" cy="438912"/>
          </a:xfrm>
          <a:prstGeom prst="ellipse">
            <a:avLst/>
          </a:prstGeom>
          <a:solidFill>
            <a:srgbClr val="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19" name="TextBox 19"/>
          <p:cNvSpPr txBox="1"/>
          <p:nvPr/>
        </p:nvSpPr>
        <p:spPr>
          <a:xfrm>
            <a:off x="6547104" y="1709928"/>
            <a:ext cx="438912" cy="393192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"/>
              </a:spcAft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PI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095744" y="1636776"/>
            <a:ext cx="1737360" cy="21031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71E3A"/>
                </a:solidFill>
                <a:latin typeface="Aptos"/>
                <a:ea typeface="Aptos"/>
                <a:cs typeface="Aptos"/>
              </a:rPr>
              <a:t>PII Discovery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095744" y="1938528"/>
            <a:ext cx="178308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700">
                <a:solidFill>
                  <a:srgbClr val="5B6878"/>
                </a:solidFill>
                <a:latin typeface="Aptos"/>
                <a:ea typeface="Aptos"/>
                <a:cs typeface="Aptos"/>
              </a:rPr>
              <a:t>Dual signal scan, review, approve, policy generation.</a:t>
            </a:r>
          </a:p>
        </p:txBody>
      </p:sp>
      <p:sp>
        <p:nvSpPr>
          <p:cNvPr id="22" name="Shape 22"/>
          <p:cNvSpPr/>
          <p:nvPr/>
        </p:nvSpPr>
        <p:spPr>
          <a:xfrm>
            <a:off x="9290304" y="1481328"/>
            <a:ext cx="2651760" cy="106070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E4ED"/>
            </a:solidFill>
          </a:ln>
          <a:effectLst/>
        </p:spPr>
        <p:txBody>
          <a:bodyPr/>
          <a:lstStyle/>
          <a:p/>
        </p:txBody>
      </p:sp>
      <p:sp>
        <p:nvSpPr>
          <p:cNvPr id="23" name="Shape 23"/>
          <p:cNvSpPr/>
          <p:nvPr/>
        </p:nvSpPr>
        <p:spPr>
          <a:xfrm>
            <a:off x="9454896" y="1682496"/>
            <a:ext cx="438912" cy="438912"/>
          </a:xfrm>
          <a:prstGeom prst="ellipse">
            <a:avLst/>
          </a:prstGeom>
          <a:solidFill>
            <a:srgbClr val="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24" name="TextBox 24"/>
          <p:cNvSpPr txBox="1"/>
          <p:nvPr/>
        </p:nvSpPr>
        <p:spPr>
          <a:xfrm>
            <a:off x="9454896" y="1709928"/>
            <a:ext cx="438912" cy="393192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"/>
              </a:spcAft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MP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003536" y="1636776"/>
            <a:ext cx="1737360" cy="21031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71E3A"/>
                </a:solidFill>
                <a:latin typeface="Aptos"/>
                <a:ea typeface="Aptos"/>
                <a:cs typeface="Aptos"/>
              </a:rPr>
              <a:t>Masking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003536" y="1938528"/>
            <a:ext cx="178308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700">
                <a:solidFill>
                  <a:srgbClr val="5B6878"/>
                </a:solidFill>
                <a:latin typeface="Aptos"/>
                <a:ea typeface="Aptos"/>
                <a:cs typeface="Aptos"/>
              </a:rPr>
              <a:t>Policy rules, studio preview, deterministic functions.</a:t>
            </a:r>
          </a:p>
        </p:txBody>
      </p:sp>
      <p:sp>
        <p:nvSpPr>
          <p:cNvPr id="27" name="Shape 27"/>
          <p:cNvSpPr/>
          <p:nvPr/>
        </p:nvSpPr>
        <p:spPr>
          <a:xfrm>
            <a:off x="566928" y="2825496"/>
            <a:ext cx="2651760" cy="1060704"/>
          </a:xfrm>
          <a:prstGeom prst="roundRect">
            <a:avLst/>
          </a:prstGeom>
          <a:solidFill>
            <a:srgbClr val="F4F8FF"/>
          </a:solidFill>
          <a:ln w="9525">
            <a:solidFill>
              <a:srgbClr val="DCE4ED"/>
            </a:solidFill>
          </a:ln>
          <a:effectLst/>
        </p:spPr>
        <p:txBody>
          <a:bodyPr/>
          <a:lstStyle/>
          <a:p/>
        </p:txBody>
      </p:sp>
      <p:sp>
        <p:nvSpPr>
          <p:cNvPr id="28" name="Shape 28"/>
          <p:cNvSpPr/>
          <p:nvPr/>
        </p:nvSpPr>
        <p:spPr>
          <a:xfrm>
            <a:off x="731520" y="3026664"/>
            <a:ext cx="438912" cy="438912"/>
          </a:xfrm>
          <a:prstGeom prst="ellipse">
            <a:avLst/>
          </a:prstGeom>
          <a:solidFill>
            <a:srgbClr val="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29" name="TextBox 29"/>
          <p:cNvSpPr txBox="1"/>
          <p:nvPr/>
        </p:nvSpPr>
        <p:spPr>
          <a:xfrm>
            <a:off x="731520" y="3054096"/>
            <a:ext cx="438912" cy="393192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"/>
              </a:spcAft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AD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280160" y="2980944"/>
            <a:ext cx="1737360" cy="21031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71E3A"/>
                </a:solidFill>
                <a:latin typeface="Aptos"/>
                <a:ea typeface="Aptos"/>
                <a:cs typeface="Aptos"/>
              </a:rPr>
              <a:t>DataScope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280160" y="3282696"/>
            <a:ext cx="178308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700">
                <a:solidFill>
                  <a:srgbClr val="5B6878"/>
                </a:solidFill>
                <a:latin typeface="Aptos"/>
                <a:ea typeface="Aptos"/>
                <a:cs typeface="Aptos"/>
              </a:rPr>
              <a:t>Blueprints, mixed sources, table/column maps, RI traversal.</a:t>
            </a:r>
          </a:p>
        </p:txBody>
      </p:sp>
      <p:sp>
        <p:nvSpPr>
          <p:cNvPr id="32" name="Shape 32"/>
          <p:cNvSpPr/>
          <p:nvPr/>
        </p:nvSpPr>
        <p:spPr>
          <a:xfrm>
            <a:off x="3474720" y="2825496"/>
            <a:ext cx="2651760" cy="1060704"/>
          </a:xfrm>
          <a:prstGeom prst="roundRect">
            <a:avLst/>
          </a:prstGeom>
          <a:solidFill>
            <a:srgbClr val="F4F8FF"/>
          </a:solidFill>
          <a:ln w="9525">
            <a:solidFill>
              <a:srgbClr val="DCE4ED"/>
            </a:solidFill>
          </a:ln>
          <a:effectLst/>
        </p:spPr>
        <p:txBody>
          <a:bodyPr/>
          <a:lstStyle/>
          <a:p/>
        </p:txBody>
      </p:sp>
      <p:sp>
        <p:nvSpPr>
          <p:cNvPr id="33" name="Shape 33"/>
          <p:cNvSpPr/>
          <p:nvPr/>
        </p:nvSpPr>
        <p:spPr>
          <a:xfrm>
            <a:off x="3639312" y="3026664"/>
            <a:ext cx="438912" cy="438912"/>
          </a:xfrm>
          <a:prstGeom prst="ellipse">
            <a:avLst/>
          </a:prstGeom>
          <a:solidFill>
            <a:srgbClr val="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34" name="TextBox 34"/>
          <p:cNvSpPr txBox="1"/>
          <p:nvPr/>
        </p:nvSpPr>
        <p:spPr>
          <a:xfrm>
            <a:off x="3639312" y="3054096"/>
            <a:ext cx="438912" cy="393192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"/>
              </a:spcAft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PJ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4187952" y="2980944"/>
            <a:ext cx="1737360" cy="21031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71E3A"/>
                </a:solidFill>
                <a:latin typeface="Aptos"/>
                <a:ea typeface="Aptos"/>
                <a:cs typeface="Aptos"/>
              </a:rPr>
              <a:t>Provisioning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4187952" y="3282696"/>
            <a:ext cx="178308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700">
                <a:solidFill>
                  <a:srgbClr val="5B6878"/>
                </a:solidFill>
                <a:latin typeface="Aptos"/>
                <a:ea typeface="Aptos"/>
                <a:cs typeface="Aptos"/>
              </a:rPr>
              <a:t>Async jobs, load actions, cancel, monitor, sample.</a:t>
            </a:r>
          </a:p>
        </p:txBody>
      </p:sp>
      <p:sp>
        <p:nvSpPr>
          <p:cNvPr id="37" name="Shape 37"/>
          <p:cNvSpPr/>
          <p:nvPr/>
        </p:nvSpPr>
        <p:spPr>
          <a:xfrm>
            <a:off x="6382512" y="2825496"/>
            <a:ext cx="2651760" cy="1060704"/>
          </a:xfrm>
          <a:prstGeom prst="roundRect">
            <a:avLst/>
          </a:prstGeom>
          <a:solidFill>
            <a:srgbClr val="F4F8FF"/>
          </a:solidFill>
          <a:ln w="9525">
            <a:solidFill>
              <a:srgbClr val="DCE4ED"/>
            </a:solidFill>
          </a:ln>
          <a:effectLst/>
        </p:spPr>
        <p:txBody>
          <a:bodyPr/>
          <a:lstStyle/>
          <a:p/>
        </p:txBody>
      </p:sp>
      <p:sp>
        <p:nvSpPr>
          <p:cNvPr id="38" name="Shape 38"/>
          <p:cNvSpPr/>
          <p:nvPr/>
        </p:nvSpPr>
        <p:spPr>
          <a:xfrm>
            <a:off x="6547104" y="3026664"/>
            <a:ext cx="438912" cy="438912"/>
          </a:xfrm>
          <a:prstGeom prst="ellipse">
            <a:avLst/>
          </a:prstGeom>
          <a:solidFill>
            <a:srgbClr val="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39" name="TextBox 39"/>
          <p:cNvSpPr txBox="1"/>
          <p:nvPr/>
        </p:nvSpPr>
        <p:spPr>
          <a:xfrm>
            <a:off x="6547104" y="3054096"/>
            <a:ext cx="438912" cy="393192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"/>
              </a:spcAft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SY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7095744" y="2980944"/>
            <a:ext cx="1737360" cy="21031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71E3A"/>
                </a:solidFill>
                <a:latin typeface="Aptos"/>
                <a:ea typeface="Aptos"/>
                <a:cs typeface="Aptos"/>
              </a:rPr>
              <a:t>Synthetic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7095744" y="3282696"/>
            <a:ext cx="178308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700">
                <a:solidFill>
                  <a:srgbClr val="5B6878"/>
                </a:solidFill>
                <a:latin typeface="Aptos"/>
                <a:ea typeface="Aptos"/>
                <a:cs typeface="Aptos"/>
              </a:rPr>
              <a:t>Blueprints, generator catalog, FK-aware loads and files.</a:t>
            </a:r>
          </a:p>
        </p:txBody>
      </p:sp>
      <p:sp>
        <p:nvSpPr>
          <p:cNvPr id="42" name="Shape 42"/>
          <p:cNvSpPr/>
          <p:nvPr/>
        </p:nvSpPr>
        <p:spPr>
          <a:xfrm>
            <a:off x="9290304" y="2825496"/>
            <a:ext cx="2651760" cy="1060704"/>
          </a:xfrm>
          <a:prstGeom prst="roundRect">
            <a:avLst/>
          </a:prstGeom>
          <a:solidFill>
            <a:srgbClr val="F4F8FF"/>
          </a:solidFill>
          <a:ln w="9525">
            <a:solidFill>
              <a:srgbClr val="DCE4ED"/>
            </a:solidFill>
          </a:ln>
          <a:effectLst/>
        </p:spPr>
        <p:txBody>
          <a:bodyPr/>
          <a:lstStyle/>
          <a:p/>
        </p:txBody>
      </p:sp>
      <p:sp>
        <p:nvSpPr>
          <p:cNvPr id="43" name="Shape 43"/>
          <p:cNvSpPr/>
          <p:nvPr/>
        </p:nvSpPr>
        <p:spPr>
          <a:xfrm>
            <a:off x="9454896" y="3026664"/>
            <a:ext cx="438912" cy="438912"/>
          </a:xfrm>
          <a:prstGeom prst="ellipse">
            <a:avLst/>
          </a:prstGeom>
          <a:solidFill>
            <a:srgbClr val="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44" name="TextBox 44"/>
          <p:cNvSpPr txBox="1"/>
          <p:nvPr/>
        </p:nvSpPr>
        <p:spPr>
          <a:xfrm>
            <a:off x="9454896" y="3054096"/>
            <a:ext cx="438912" cy="393192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"/>
              </a:spcAft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MF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0003536" y="2980944"/>
            <a:ext cx="1737360" cy="21031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71E3A"/>
                </a:solidFill>
                <a:latin typeface="Aptos"/>
                <a:ea typeface="Aptos"/>
                <a:cs typeface="Aptos"/>
              </a:rPr>
              <a:t>Mainframe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0003536" y="3282696"/>
            <a:ext cx="178308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700">
                <a:solidFill>
                  <a:srgbClr val="5B6878"/>
                </a:solidFill>
                <a:latin typeface="Aptos"/>
                <a:ea typeface="Aptos"/>
                <a:cs typeface="Aptos"/>
              </a:rPr>
              <a:t>Copybooks, EBCDIC, COMP-3, LPAR file masking.</a:t>
            </a:r>
          </a:p>
        </p:txBody>
      </p:sp>
      <p:sp>
        <p:nvSpPr>
          <p:cNvPr id="47" name="Shape 47"/>
          <p:cNvSpPr/>
          <p:nvPr/>
        </p:nvSpPr>
        <p:spPr>
          <a:xfrm>
            <a:off x="566928" y="4169664"/>
            <a:ext cx="2651760" cy="106070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E4ED"/>
            </a:solidFill>
          </a:ln>
          <a:effectLst/>
        </p:spPr>
        <p:txBody>
          <a:bodyPr/>
          <a:lstStyle/>
          <a:p/>
        </p:txBody>
      </p:sp>
      <p:sp>
        <p:nvSpPr>
          <p:cNvPr id="48" name="Shape 48"/>
          <p:cNvSpPr/>
          <p:nvPr/>
        </p:nvSpPr>
        <p:spPr>
          <a:xfrm>
            <a:off x="731520" y="4370832"/>
            <a:ext cx="438912" cy="438912"/>
          </a:xfrm>
          <a:prstGeom prst="ellipse">
            <a:avLst/>
          </a:prstGeom>
          <a:solidFill>
            <a:srgbClr val="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49" name="TextBox 49"/>
          <p:cNvSpPr txBox="1"/>
          <p:nvPr/>
        </p:nvSpPr>
        <p:spPr>
          <a:xfrm>
            <a:off x="731520" y="4398264"/>
            <a:ext cx="438912" cy="393192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"/>
              </a:spcAft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VG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280160" y="4325112"/>
            <a:ext cx="1737360" cy="21031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71E3A"/>
                </a:solidFill>
                <a:latin typeface="Aptos"/>
                <a:ea typeface="Aptos"/>
                <a:cs typeface="Aptos"/>
              </a:rPr>
              <a:t>Virtualization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280160" y="4626864"/>
            <a:ext cx="178308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700">
                <a:solidFill>
                  <a:srgbClr val="5B6878"/>
                </a:solidFill>
                <a:latin typeface="Aptos"/>
                <a:ea typeface="Aptos"/>
                <a:cs typeface="Aptos"/>
              </a:rPr>
              <a:t>Snapshots, VDBs, bookmarks, refresh, rewind, LogSync.</a:t>
            </a:r>
          </a:p>
        </p:txBody>
      </p:sp>
      <p:sp>
        <p:nvSpPr>
          <p:cNvPr id="52" name="Shape 52"/>
          <p:cNvSpPr/>
          <p:nvPr/>
        </p:nvSpPr>
        <p:spPr>
          <a:xfrm>
            <a:off x="3474720" y="4169664"/>
            <a:ext cx="2651760" cy="106070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E4ED"/>
            </a:solidFill>
          </a:ln>
          <a:effectLst/>
        </p:spPr>
        <p:txBody>
          <a:bodyPr/>
          <a:lstStyle/>
          <a:p/>
        </p:txBody>
      </p:sp>
      <p:sp>
        <p:nvSpPr>
          <p:cNvPr id="53" name="Shape 53"/>
          <p:cNvSpPr/>
          <p:nvPr/>
        </p:nvSpPr>
        <p:spPr>
          <a:xfrm>
            <a:off x="3639312" y="4370832"/>
            <a:ext cx="438912" cy="438912"/>
          </a:xfrm>
          <a:prstGeom prst="ellipse">
            <a:avLst/>
          </a:prstGeom>
          <a:solidFill>
            <a:srgbClr val="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54" name="TextBox 54"/>
          <p:cNvSpPr txBox="1"/>
          <p:nvPr/>
        </p:nvSpPr>
        <p:spPr>
          <a:xfrm>
            <a:off x="3639312" y="4398264"/>
            <a:ext cx="438912" cy="393192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"/>
              </a:spcAft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AI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4187952" y="4325112"/>
            <a:ext cx="1737360" cy="21031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71E3A"/>
                </a:solidFill>
                <a:latin typeface="Aptos"/>
                <a:ea typeface="Aptos"/>
                <a:cs typeface="Aptos"/>
              </a:rPr>
              <a:t>AI Copilot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4187952" y="4626864"/>
            <a:ext cx="178308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700">
                <a:solidFill>
                  <a:srgbClr val="5B6878"/>
                </a:solidFill>
                <a:latin typeface="Aptos"/>
                <a:ea typeface="Aptos"/>
                <a:cs typeface="Aptos"/>
              </a:rPr>
              <a:t>Metadata-aware assistant with approval-gated actions.</a:t>
            </a:r>
          </a:p>
        </p:txBody>
      </p:sp>
      <p:sp>
        <p:nvSpPr>
          <p:cNvPr id="57" name="Shape 57"/>
          <p:cNvSpPr/>
          <p:nvPr/>
        </p:nvSpPr>
        <p:spPr>
          <a:xfrm>
            <a:off x="6382512" y="4169664"/>
            <a:ext cx="2651760" cy="106070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E4ED"/>
            </a:solidFill>
          </a:ln>
          <a:effectLst/>
        </p:spPr>
        <p:txBody>
          <a:bodyPr/>
          <a:lstStyle/>
          <a:p/>
        </p:txBody>
      </p:sp>
      <p:sp>
        <p:nvSpPr>
          <p:cNvPr id="58" name="Shape 58"/>
          <p:cNvSpPr/>
          <p:nvPr/>
        </p:nvSpPr>
        <p:spPr>
          <a:xfrm>
            <a:off x="6547104" y="4370832"/>
            <a:ext cx="438912" cy="438912"/>
          </a:xfrm>
          <a:prstGeom prst="ellipse">
            <a:avLst/>
          </a:prstGeom>
          <a:solidFill>
            <a:srgbClr val="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59" name="TextBox 59"/>
          <p:cNvSpPr txBox="1"/>
          <p:nvPr/>
        </p:nvSpPr>
        <p:spPr>
          <a:xfrm>
            <a:off x="6547104" y="4398264"/>
            <a:ext cx="438912" cy="393192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"/>
              </a:spcAft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FR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7095744" y="4325112"/>
            <a:ext cx="1737360" cy="21031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71E3A"/>
                </a:solidFill>
                <a:latin typeface="Aptos"/>
                <a:ea typeface="Aptos"/>
                <a:cs typeface="Aptos"/>
              </a:rPr>
              <a:t>Reserve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7095744" y="4626864"/>
            <a:ext cx="178308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700">
                <a:solidFill>
                  <a:srgbClr val="5B6878"/>
                </a:solidFill>
                <a:latin typeface="Aptos"/>
                <a:ea typeface="Aptos"/>
                <a:cs typeface="Aptos"/>
              </a:rPr>
              <a:t>Find and reserve rows with TTL.</a:t>
            </a:r>
          </a:p>
        </p:txBody>
      </p:sp>
      <p:sp>
        <p:nvSpPr>
          <p:cNvPr id="62" name="Shape 62"/>
          <p:cNvSpPr/>
          <p:nvPr/>
        </p:nvSpPr>
        <p:spPr>
          <a:xfrm>
            <a:off x="9290304" y="4169664"/>
            <a:ext cx="2651760" cy="106070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E4ED"/>
            </a:solidFill>
          </a:ln>
          <a:effectLst/>
        </p:spPr>
        <p:txBody>
          <a:bodyPr/>
          <a:lstStyle/>
          <a:p/>
        </p:txBody>
      </p:sp>
      <p:sp>
        <p:nvSpPr>
          <p:cNvPr id="63" name="Shape 63"/>
          <p:cNvSpPr/>
          <p:nvPr/>
        </p:nvSpPr>
        <p:spPr>
          <a:xfrm>
            <a:off x="9454896" y="4370832"/>
            <a:ext cx="438912" cy="438912"/>
          </a:xfrm>
          <a:prstGeom prst="ellipse">
            <a:avLst/>
          </a:prstGeom>
          <a:solidFill>
            <a:srgbClr val="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64" name="TextBox 64"/>
          <p:cNvSpPr txBox="1"/>
          <p:nvPr/>
        </p:nvSpPr>
        <p:spPr>
          <a:xfrm>
            <a:off x="9454896" y="4398264"/>
            <a:ext cx="438912" cy="393192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"/>
              </a:spcAft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VL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10003536" y="4325112"/>
            <a:ext cx="1737360" cy="21031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71E3A"/>
                </a:solidFill>
                <a:latin typeface="Aptos"/>
                <a:ea typeface="Aptos"/>
                <a:cs typeface="Aptos"/>
              </a:rPr>
              <a:t>Validate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10003536" y="4626864"/>
            <a:ext cx="1783080" cy="4114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700">
                <a:solidFill>
                  <a:srgbClr val="5B6878"/>
                </a:solidFill>
                <a:latin typeface="Aptos"/>
                <a:ea typeface="Aptos"/>
                <a:cs typeface="Aptos"/>
              </a:rPr>
              <a:t>Leak, format, RI and domain evidence.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502920" y="6446520"/>
            <a:ext cx="502920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00">
                <a:solidFill>
                  <a:srgbClr val="5B6878"/>
                </a:solidFill>
                <a:latin typeface="Aptos"/>
                <a:ea typeface="Aptos"/>
                <a:cs typeface="Aptos"/>
              </a:rPr>
              <a:t>ForgeTDM capability showcase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11109960" y="6446520"/>
            <a:ext cx="45720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800">
                <a:solidFill>
                  <a:srgbClr val="5B6878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3" name="TextBox 3"/>
          <p:cNvSpPr txBox="1"/>
          <p:nvPr/>
        </p:nvSpPr>
        <p:spPr>
          <a:xfrm>
            <a:off x="502920" y="310896"/>
            <a:ext cx="365760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1D6FB8"/>
                </a:solidFill>
                <a:latin typeface="Aptos"/>
                <a:ea typeface="Aptos"/>
                <a:cs typeface="Aptos"/>
              </a:rPr>
              <a:t>DEEP DIVE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02920" y="566928"/>
            <a:ext cx="896112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"/>
              </a:spcAft>
            </a:pPr>
            <a:r>
              <a:rPr sz="2700" b="1">
                <a:solidFill>
                  <a:srgbClr val="071E3A"/>
                </a:solidFill>
                <a:latin typeface="Cambria"/>
                <a:ea typeface="Cambria"/>
                <a:cs typeface="Cambria"/>
              </a:rPr>
              <a:t>DataScope is the command center for right-sized provisioning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972800" y="621792"/>
            <a:ext cx="59436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80"/>
              </a:spcAft>
            </a:pPr>
            <a:r>
              <a:rPr sz="1200" b="1">
                <a:solidFill>
                  <a:srgbClr val="1D6FB8"/>
                </a:solidFill>
                <a:latin typeface="Cambria"/>
                <a:ea typeface="Cambria"/>
                <a:cs typeface="Cambria"/>
              </a:rPr>
              <a:t>05</a:t>
            </a:r>
          </a:p>
        </p:txBody>
      </p:sp>
      <p:sp>
        <p:nvSpPr>
          <p:cNvPr id="6" name="Shape 6"/>
          <p:cNvSpPr/>
          <p:nvPr/>
        </p:nvSpPr>
        <p:spPr>
          <a:xfrm>
            <a:off x="502920" y="1124712"/>
            <a:ext cx="11155680" cy="20117"/>
          </a:xfrm>
          <a:prstGeom prst="rect">
            <a:avLst/>
          </a:prstGeom>
          <a:solidFill>
            <a:srgbClr val="DCE4ED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7" name="Shape 7"/>
          <p:cNvSpPr/>
          <p:nvPr/>
        </p:nvSpPr>
        <p:spPr>
          <a:xfrm>
            <a:off x="685800" y="1554480"/>
            <a:ext cx="4663440" cy="4160520"/>
          </a:xfrm>
          <a:prstGeom prst="roundRect">
            <a:avLst/>
          </a:prstGeom>
          <a:solidFill>
            <a:srgbClr val="F4F8FF"/>
          </a:solidFill>
          <a:ln w="9525">
            <a:solidFill>
              <a:srgbClr val="DCE4ED"/>
            </a:solidFill>
          </a:ln>
          <a:effectLst/>
        </p:spPr>
        <p:txBody>
          <a:bodyPr/>
          <a:lstStyle/>
          <a:p/>
        </p:txBody>
      </p:sp>
      <p:sp>
        <p:nvSpPr>
          <p:cNvPr id="8" name="TextBox 8"/>
          <p:cNvSpPr txBox="1"/>
          <p:nvPr/>
        </p:nvSpPr>
        <p:spPr>
          <a:xfrm>
            <a:off x="914400" y="1783080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"/>
              </a:spcAft>
            </a:pPr>
            <a:r>
              <a:rPr sz="1600" b="1">
                <a:solidFill>
                  <a:srgbClr val="071E3A"/>
                </a:solidFill>
                <a:latin typeface="Cambria"/>
                <a:ea typeface="Cambria"/>
                <a:cs typeface="Cambria"/>
              </a:rPr>
              <a:t>Blueprint workspace</a:t>
            </a:r>
          </a:p>
        </p:txBody>
      </p:sp>
      <p:sp>
        <p:nvSpPr>
          <p:cNvPr id="9" name="Shape 9"/>
          <p:cNvSpPr/>
          <p:nvPr/>
        </p:nvSpPr>
        <p:spPr>
          <a:xfrm>
            <a:off x="914400" y="2331720"/>
            <a:ext cx="237744" cy="237744"/>
          </a:xfrm>
          <a:prstGeom prst="ellipse">
            <a:avLst/>
          </a:prstGeom>
          <a:solidFill>
            <a:srgbClr val="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10" name="TextBox 10"/>
          <p:cNvSpPr txBox="1"/>
          <p:nvPr/>
        </p:nvSpPr>
        <p:spPr>
          <a:xfrm>
            <a:off x="914400" y="2359152"/>
            <a:ext cx="237744" cy="192024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"/>
              </a:spcAft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61872" y="2350008"/>
            <a:ext cx="379476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>
                <a:solidFill>
                  <a:srgbClr val="111827"/>
                </a:solidFill>
                <a:latin typeface="Aptos"/>
                <a:ea typeface="Aptos"/>
                <a:cs typeface="Aptos"/>
              </a:rPr>
              <a:t>Driver table + filter + row limit</a:t>
            </a:r>
          </a:p>
        </p:txBody>
      </p:sp>
      <p:sp>
        <p:nvSpPr>
          <p:cNvPr id="12" name="Shape 12"/>
          <p:cNvSpPr/>
          <p:nvPr/>
        </p:nvSpPr>
        <p:spPr>
          <a:xfrm>
            <a:off x="914400" y="2770632"/>
            <a:ext cx="237744" cy="237744"/>
          </a:xfrm>
          <a:prstGeom prst="ellipse">
            <a:avLst/>
          </a:prstGeom>
          <a:solidFill>
            <a:srgbClr val="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13" name="TextBox 13"/>
          <p:cNvSpPr txBox="1"/>
          <p:nvPr/>
        </p:nvSpPr>
        <p:spPr>
          <a:xfrm>
            <a:off x="914400" y="2798064"/>
            <a:ext cx="237744" cy="192024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"/>
              </a:spcAft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61872" y="2788920"/>
            <a:ext cx="379476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>
                <a:solidFill>
                  <a:srgbClr val="111827"/>
                </a:solidFill>
                <a:latin typeface="Aptos"/>
                <a:ea typeface="Aptos"/>
                <a:cs typeface="Aptos"/>
              </a:rPr>
              <a:t>Tables from Source 1, Source 2, ...</a:t>
            </a:r>
          </a:p>
        </p:txBody>
      </p:sp>
      <p:sp>
        <p:nvSpPr>
          <p:cNvPr id="15" name="Shape 15"/>
          <p:cNvSpPr/>
          <p:nvPr/>
        </p:nvSpPr>
        <p:spPr>
          <a:xfrm>
            <a:off x="914400" y="3209544"/>
            <a:ext cx="237744" cy="237744"/>
          </a:xfrm>
          <a:prstGeom prst="ellipse">
            <a:avLst/>
          </a:prstGeom>
          <a:solidFill>
            <a:srgbClr val="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16" name="TextBox 16"/>
          <p:cNvSpPr txBox="1"/>
          <p:nvPr/>
        </p:nvSpPr>
        <p:spPr>
          <a:xfrm>
            <a:off x="914400" y="3236976"/>
            <a:ext cx="237744" cy="192024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"/>
              </a:spcAft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61872" y="3227832"/>
            <a:ext cx="379476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>
                <a:solidFill>
                  <a:srgbClr val="111827"/>
                </a:solidFill>
                <a:latin typeface="Aptos"/>
                <a:ea typeface="Aptos"/>
                <a:cs typeface="Aptos"/>
              </a:rPr>
              <a:t>Target table map, one target once</a:t>
            </a:r>
          </a:p>
        </p:txBody>
      </p:sp>
      <p:sp>
        <p:nvSpPr>
          <p:cNvPr id="18" name="Shape 18"/>
          <p:cNvSpPr/>
          <p:nvPr/>
        </p:nvSpPr>
        <p:spPr>
          <a:xfrm>
            <a:off x="914400" y="3648456"/>
            <a:ext cx="237744" cy="237744"/>
          </a:xfrm>
          <a:prstGeom prst="ellipse">
            <a:avLst/>
          </a:prstGeom>
          <a:solidFill>
            <a:srgbClr val="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19" name="TextBox 19"/>
          <p:cNvSpPr txBox="1"/>
          <p:nvPr/>
        </p:nvSpPr>
        <p:spPr>
          <a:xfrm>
            <a:off x="914400" y="3675888"/>
            <a:ext cx="237744" cy="192024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"/>
              </a:spcAft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61872" y="3666744"/>
            <a:ext cx="379476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>
                <a:solidFill>
                  <a:srgbClr val="111827"/>
                </a:solidFill>
                <a:latin typeface="Aptos"/>
                <a:ea typeface="Aptos"/>
                <a:cs typeface="Aptos"/>
              </a:rPr>
              <a:t>Column map: auto match, dropdown, literal, unused</a:t>
            </a:r>
          </a:p>
        </p:txBody>
      </p:sp>
      <p:sp>
        <p:nvSpPr>
          <p:cNvPr id="21" name="Shape 21"/>
          <p:cNvSpPr/>
          <p:nvPr/>
        </p:nvSpPr>
        <p:spPr>
          <a:xfrm>
            <a:off x="914400" y="4087368"/>
            <a:ext cx="237744" cy="237744"/>
          </a:xfrm>
          <a:prstGeom prst="ellipse">
            <a:avLst/>
          </a:prstGeom>
          <a:solidFill>
            <a:srgbClr val="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22" name="TextBox 22"/>
          <p:cNvSpPr txBox="1"/>
          <p:nvPr/>
        </p:nvSpPr>
        <p:spPr>
          <a:xfrm>
            <a:off x="914400" y="4114800"/>
            <a:ext cx="237744" cy="192024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"/>
              </a:spcAft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261872" y="4105656"/>
            <a:ext cx="379476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>
                <a:solidFill>
                  <a:srgbClr val="111827"/>
                </a:solidFill>
                <a:latin typeface="Aptos"/>
                <a:ea typeface="Aptos"/>
                <a:cs typeface="Aptos"/>
              </a:rPr>
              <a:t>Per-table masking policy or no masking</a:t>
            </a:r>
          </a:p>
        </p:txBody>
      </p:sp>
      <p:sp>
        <p:nvSpPr>
          <p:cNvPr id="24" name="Shape 24"/>
          <p:cNvSpPr/>
          <p:nvPr/>
        </p:nvSpPr>
        <p:spPr>
          <a:xfrm>
            <a:off x="914400" y="4526280"/>
            <a:ext cx="237744" cy="237744"/>
          </a:xfrm>
          <a:prstGeom prst="ellipse">
            <a:avLst/>
          </a:prstGeom>
          <a:solidFill>
            <a:srgbClr val="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25" name="TextBox 25"/>
          <p:cNvSpPr txBox="1"/>
          <p:nvPr/>
        </p:nvSpPr>
        <p:spPr>
          <a:xfrm>
            <a:off x="914400" y="4553712"/>
            <a:ext cx="237744" cy="192024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"/>
              </a:spcAft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261872" y="4544568"/>
            <a:ext cx="379476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>
                <a:solidFill>
                  <a:srgbClr val="111827"/>
                </a:solidFill>
                <a:latin typeface="Aptos"/>
                <a:ea typeface="Aptos"/>
                <a:cs typeface="Aptos"/>
              </a:rPr>
              <a:t>Provision using saved map + seed</a:t>
            </a:r>
          </a:p>
        </p:txBody>
      </p:sp>
      <p:sp>
        <p:nvSpPr>
          <p:cNvPr id="27" name="Shape 27"/>
          <p:cNvSpPr/>
          <p:nvPr/>
        </p:nvSpPr>
        <p:spPr>
          <a:xfrm>
            <a:off x="5806440" y="1554480"/>
            <a:ext cx="5440680" cy="1417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E4ED"/>
            </a:solidFill>
          </a:ln>
          <a:effectLst/>
        </p:spPr>
        <p:txBody>
          <a:bodyPr/>
          <a:lstStyle/>
          <a:p/>
        </p:txBody>
      </p:sp>
      <p:sp>
        <p:nvSpPr>
          <p:cNvPr id="28" name="TextBox 28"/>
          <p:cNvSpPr txBox="1"/>
          <p:nvPr/>
        </p:nvSpPr>
        <p:spPr>
          <a:xfrm>
            <a:off x="6053328" y="1755648"/>
            <a:ext cx="493776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71E3A"/>
                </a:solidFill>
                <a:latin typeface="Aptos"/>
                <a:ea typeface="Aptos"/>
                <a:cs typeface="Aptos"/>
              </a:rPr>
              <a:t>Table map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053328" y="2084832"/>
            <a:ext cx="146304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5B6878"/>
                </a:solidFill>
                <a:latin typeface="Aptos"/>
                <a:ea typeface="Aptos"/>
                <a:cs typeface="Aptos"/>
              </a:rPr>
              <a:t>Source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635240" y="2084832"/>
            <a:ext cx="146304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5B6878"/>
                </a:solidFill>
                <a:latin typeface="Aptos"/>
                <a:ea typeface="Aptos"/>
                <a:cs typeface="Aptos"/>
              </a:rPr>
              <a:t>Target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281160" y="2084832"/>
            <a:ext cx="146304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5B6878"/>
                </a:solidFill>
                <a:latin typeface="Aptos"/>
                <a:ea typeface="Aptos"/>
                <a:cs typeface="Aptos"/>
              </a:rPr>
              <a:t>Policy</a:t>
            </a:r>
          </a:p>
        </p:txBody>
      </p:sp>
      <p:sp>
        <p:nvSpPr>
          <p:cNvPr id="32" name="Shape 32"/>
          <p:cNvSpPr/>
          <p:nvPr/>
        </p:nvSpPr>
        <p:spPr>
          <a:xfrm>
            <a:off x="6053328" y="2340864"/>
            <a:ext cx="4846320" cy="18288"/>
          </a:xfrm>
          <a:prstGeom prst="rect">
            <a:avLst/>
          </a:prstGeom>
          <a:solidFill>
            <a:srgbClr val="DCE4ED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33" name="TextBox 33"/>
          <p:cNvSpPr txBox="1"/>
          <p:nvPr/>
        </p:nvSpPr>
        <p:spPr>
          <a:xfrm>
            <a:off x="6053328" y="2468880"/>
            <a:ext cx="146304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00">
                <a:solidFill>
                  <a:srgbClr val="111827"/>
                </a:solidFill>
                <a:latin typeface="Aptos"/>
                <a:ea typeface="Aptos"/>
                <a:cs typeface="Aptos"/>
              </a:rPr>
              <a:t>crm.customers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635240" y="2468880"/>
            <a:ext cx="146304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00">
                <a:solidFill>
                  <a:srgbClr val="111827"/>
                </a:solidFill>
                <a:latin typeface="Aptos"/>
                <a:ea typeface="Aptos"/>
                <a:cs typeface="Aptos"/>
              </a:rPr>
              <a:t>qa.party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9281160" y="2468880"/>
            <a:ext cx="155448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1">
                <a:solidFill>
                  <a:srgbClr val="2F7D59"/>
                </a:solidFill>
                <a:latin typeface="Aptos"/>
                <a:ea typeface="Aptos"/>
                <a:cs typeface="Aptos"/>
              </a:rPr>
              <a:t>Customer Mask</a:t>
            </a:r>
          </a:p>
        </p:txBody>
      </p:sp>
      <p:sp>
        <p:nvSpPr>
          <p:cNvPr id="36" name="Shape 36"/>
          <p:cNvSpPr/>
          <p:nvPr/>
        </p:nvSpPr>
        <p:spPr>
          <a:xfrm>
            <a:off x="5806440" y="3246120"/>
            <a:ext cx="5440680" cy="24688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E4ED"/>
            </a:solidFill>
          </a:ln>
          <a:effectLst/>
        </p:spPr>
        <p:txBody>
          <a:bodyPr/>
          <a:lstStyle/>
          <a:p/>
        </p:txBody>
      </p:sp>
      <p:sp>
        <p:nvSpPr>
          <p:cNvPr id="37" name="TextBox 37"/>
          <p:cNvSpPr txBox="1"/>
          <p:nvPr/>
        </p:nvSpPr>
        <p:spPr>
          <a:xfrm>
            <a:off x="6053328" y="3474720"/>
            <a:ext cx="4937760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71E3A"/>
                </a:solidFill>
                <a:latin typeface="Aptos"/>
                <a:ea typeface="Aptos"/>
                <a:cs typeface="Aptos"/>
              </a:rPr>
              <a:t>Column map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6053328" y="3840480"/>
            <a:ext cx="475488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>
                <a:solidFill>
                  <a:srgbClr val="5B6878"/>
                </a:solidFill>
                <a:latin typeface="Aptos"/>
                <a:ea typeface="Aptos"/>
                <a:cs typeface="Aptos"/>
              </a:rPr>
              <a:t>Auto mapping handles same/similar names. Exceptions are explicit: choose a remaining source column, set a literal, mark unused, or set no masking where needed.</a:t>
            </a:r>
          </a:p>
        </p:txBody>
      </p:sp>
      <p:sp>
        <p:nvSpPr>
          <p:cNvPr id="39" name="Shape 39"/>
          <p:cNvSpPr/>
          <p:nvPr/>
        </p:nvSpPr>
        <p:spPr>
          <a:xfrm>
            <a:off x="6053328" y="4727448"/>
            <a:ext cx="1115568" cy="310896"/>
          </a:xfrm>
          <a:prstGeom prst="roundRect">
            <a:avLst/>
          </a:prstGeom>
          <a:solidFill>
            <a:srgbClr val="1D6FB8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40" name="TextBox 40"/>
          <p:cNvSpPr txBox="1"/>
          <p:nvPr/>
        </p:nvSpPr>
        <p:spPr>
          <a:xfrm>
            <a:off x="6053328" y="4777740"/>
            <a:ext cx="1115568" cy="137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30"/>
              </a:spcAft>
            </a:pPr>
            <a:r>
              <a:rPr sz="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Auto match</a:t>
            </a:r>
          </a:p>
        </p:txBody>
      </p:sp>
      <p:sp>
        <p:nvSpPr>
          <p:cNvPr id="41" name="Shape 41"/>
          <p:cNvSpPr/>
          <p:nvPr/>
        </p:nvSpPr>
        <p:spPr>
          <a:xfrm>
            <a:off x="7278624" y="4727448"/>
            <a:ext cx="950976" cy="310896"/>
          </a:xfrm>
          <a:prstGeom prst="roundRect">
            <a:avLst/>
          </a:prstGeom>
          <a:solidFill>
            <a:srgbClr val="1D6FB8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42" name="TextBox 42"/>
          <p:cNvSpPr txBox="1"/>
          <p:nvPr/>
        </p:nvSpPr>
        <p:spPr>
          <a:xfrm>
            <a:off x="7278624" y="4777740"/>
            <a:ext cx="950976" cy="137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30"/>
              </a:spcAft>
            </a:pPr>
            <a:r>
              <a:rPr sz="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Dropdown</a:t>
            </a:r>
          </a:p>
        </p:txBody>
      </p:sp>
      <p:sp>
        <p:nvSpPr>
          <p:cNvPr id="43" name="Shape 43"/>
          <p:cNvSpPr/>
          <p:nvPr/>
        </p:nvSpPr>
        <p:spPr>
          <a:xfrm>
            <a:off x="8339328" y="4727448"/>
            <a:ext cx="868680" cy="310896"/>
          </a:xfrm>
          <a:prstGeom prst="roundRect">
            <a:avLst/>
          </a:prstGeom>
          <a:solidFill>
            <a:srgbClr val="1D6FB8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44" name="TextBox 44"/>
          <p:cNvSpPr txBox="1"/>
          <p:nvPr/>
        </p:nvSpPr>
        <p:spPr>
          <a:xfrm>
            <a:off x="8339328" y="4777740"/>
            <a:ext cx="868680" cy="137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30"/>
              </a:spcAft>
            </a:pPr>
            <a:r>
              <a:rPr sz="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Literal</a:t>
            </a:r>
          </a:p>
        </p:txBody>
      </p:sp>
      <p:sp>
        <p:nvSpPr>
          <p:cNvPr id="45" name="Shape 45"/>
          <p:cNvSpPr/>
          <p:nvPr/>
        </p:nvSpPr>
        <p:spPr>
          <a:xfrm>
            <a:off x="9317736" y="4727448"/>
            <a:ext cx="786384" cy="310896"/>
          </a:xfrm>
          <a:prstGeom prst="roundRect">
            <a:avLst/>
          </a:prstGeom>
          <a:solidFill>
            <a:srgbClr val="1D6FB8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46" name="TextBox 46"/>
          <p:cNvSpPr txBox="1"/>
          <p:nvPr/>
        </p:nvSpPr>
        <p:spPr>
          <a:xfrm>
            <a:off x="9317736" y="4777740"/>
            <a:ext cx="786384" cy="137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30"/>
              </a:spcAft>
            </a:pPr>
            <a:r>
              <a:rPr sz="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Unused</a:t>
            </a:r>
          </a:p>
        </p:txBody>
      </p:sp>
      <p:sp>
        <p:nvSpPr>
          <p:cNvPr id="47" name="Shape 47"/>
          <p:cNvSpPr/>
          <p:nvPr/>
        </p:nvSpPr>
        <p:spPr>
          <a:xfrm>
            <a:off x="10213848" y="4727448"/>
            <a:ext cx="1115568" cy="310896"/>
          </a:xfrm>
          <a:prstGeom prst="roundRect">
            <a:avLst/>
          </a:prstGeom>
          <a:solidFill>
            <a:srgbClr val="2F7D59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48" name="TextBox 48"/>
          <p:cNvSpPr txBox="1"/>
          <p:nvPr/>
        </p:nvSpPr>
        <p:spPr>
          <a:xfrm>
            <a:off x="10213848" y="4777740"/>
            <a:ext cx="1115568" cy="137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30"/>
              </a:spcAft>
            </a:pPr>
            <a:r>
              <a:rPr sz="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No masking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502920" y="6446520"/>
            <a:ext cx="502920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00">
                <a:solidFill>
                  <a:srgbClr val="5B6878"/>
                </a:solidFill>
                <a:latin typeface="Aptos"/>
                <a:ea typeface="Aptos"/>
                <a:cs typeface="Aptos"/>
              </a:rPr>
              <a:t>ForgeTDM capability showcase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1109960" y="6446520"/>
            <a:ext cx="45720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800">
                <a:solidFill>
                  <a:srgbClr val="5B6878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3" name="TextBox 3"/>
          <p:cNvSpPr txBox="1"/>
          <p:nvPr/>
        </p:nvSpPr>
        <p:spPr>
          <a:xfrm>
            <a:off x="502920" y="310896"/>
            <a:ext cx="365760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1D6FB8"/>
                </a:solidFill>
                <a:latin typeface="Aptos"/>
                <a:ea typeface="Aptos"/>
                <a:cs typeface="Aptos"/>
              </a:rPr>
              <a:t>DEEP DIVE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02920" y="566928"/>
            <a:ext cx="896112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"/>
              </a:spcAft>
            </a:pPr>
            <a:r>
              <a:rPr sz="2700" b="1">
                <a:solidFill>
                  <a:srgbClr val="071E3A"/>
                </a:solidFill>
                <a:latin typeface="Cambria"/>
                <a:ea typeface="Cambria"/>
                <a:cs typeface="Cambria"/>
              </a:rPr>
              <a:t>Masking that preserves business usefulness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972800" y="621792"/>
            <a:ext cx="59436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80"/>
              </a:spcAft>
            </a:pPr>
            <a:r>
              <a:rPr sz="1200" b="1">
                <a:solidFill>
                  <a:srgbClr val="1D6FB8"/>
                </a:solidFill>
                <a:latin typeface="Cambria"/>
                <a:ea typeface="Cambria"/>
                <a:cs typeface="Cambria"/>
              </a:rPr>
              <a:t>06</a:t>
            </a:r>
          </a:p>
        </p:txBody>
      </p:sp>
      <p:sp>
        <p:nvSpPr>
          <p:cNvPr id="6" name="Shape 6"/>
          <p:cNvSpPr/>
          <p:nvPr/>
        </p:nvSpPr>
        <p:spPr>
          <a:xfrm>
            <a:off x="502920" y="1124712"/>
            <a:ext cx="11155680" cy="20117"/>
          </a:xfrm>
          <a:prstGeom prst="rect">
            <a:avLst/>
          </a:prstGeom>
          <a:solidFill>
            <a:srgbClr val="DCE4ED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7" name="Shape 7"/>
          <p:cNvSpPr/>
          <p:nvPr/>
        </p:nvSpPr>
        <p:spPr>
          <a:xfrm>
            <a:off x="685800" y="1600200"/>
            <a:ext cx="2971800" cy="3429000"/>
          </a:xfrm>
          <a:prstGeom prst="roundRect">
            <a:avLst/>
          </a:prstGeom>
          <a:solidFill>
            <a:srgbClr val="071E3A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8" name="TextBox 8"/>
          <p:cNvSpPr txBox="1"/>
          <p:nvPr/>
        </p:nvSpPr>
        <p:spPr>
          <a:xfrm>
            <a:off x="960120" y="1874520"/>
            <a:ext cx="242316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"/>
              </a:spcAft>
            </a:pPr>
            <a:r>
              <a:rPr sz="18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Deterministic by design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60120" y="2542032"/>
            <a:ext cx="2423160" cy="8686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>
                <a:solidFill>
                  <a:srgbClr val="CBDEF6"/>
                </a:solidFill>
                <a:latin typeface="Aptos"/>
                <a:ea typeface="Aptos"/>
                <a:cs typeface="Aptos"/>
              </a:rPr>
              <a:t>Same value + same secret -&gt; same masked output across every table, database and run.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60120" y="3840480"/>
            <a:ext cx="2423160" cy="59436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No cross-reference table. No reversible encryption key stored with data.</a:t>
            </a:r>
          </a:p>
        </p:txBody>
      </p:sp>
      <p:sp>
        <p:nvSpPr>
          <p:cNvPr id="11" name="Shape 11"/>
          <p:cNvSpPr/>
          <p:nvPr/>
        </p:nvSpPr>
        <p:spPr>
          <a:xfrm>
            <a:off x="4069080" y="1600200"/>
            <a:ext cx="3337560" cy="1353312"/>
          </a:xfrm>
          <a:prstGeom prst="roundRect">
            <a:avLst/>
          </a:prstGeom>
          <a:solidFill>
            <a:srgbClr val="F4F8FF"/>
          </a:solidFill>
          <a:ln w="9525">
            <a:solidFill>
              <a:srgbClr val="DCE4ED"/>
            </a:solidFill>
          </a:ln>
          <a:effectLst/>
        </p:spPr>
        <p:txBody>
          <a:bodyPr/>
          <a:lstStyle/>
          <a:p/>
        </p:txBody>
      </p:sp>
      <p:sp>
        <p:nvSpPr>
          <p:cNvPr id="12" name="TextBox 12"/>
          <p:cNvSpPr txBox="1"/>
          <p:nvPr/>
        </p:nvSpPr>
        <p:spPr>
          <a:xfrm>
            <a:off x="4251960" y="1737360"/>
            <a:ext cx="29718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71E3A"/>
                </a:solidFill>
                <a:latin typeface="Aptos"/>
                <a:ea typeface="Aptos"/>
                <a:cs typeface="Aptos"/>
              </a:rPr>
              <a:t>Format aware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251960" y="2130552"/>
            <a:ext cx="2971800" cy="786384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5"/>
              </a:spcAft>
            </a:pPr>
            <a:r>
              <a:rPr sz="900">
                <a:solidFill>
                  <a:srgbClr val="5B6878"/>
                </a:solidFill>
                <a:latin typeface="Aptos"/>
                <a:ea typeface="Aptos"/>
                <a:cs typeface="Aptos"/>
              </a:rPr>
              <a:t>Credit cards keep BIN and Luhn. Phone, SSN, dates and addresses keep useful shape.</a:t>
            </a:r>
          </a:p>
        </p:txBody>
      </p:sp>
      <p:sp>
        <p:nvSpPr>
          <p:cNvPr id="14" name="Shape 14"/>
          <p:cNvSpPr/>
          <p:nvPr/>
        </p:nvSpPr>
        <p:spPr>
          <a:xfrm>
            <a:off x="7772400" y="1600200"/>
            <a:ext cx="3337560" cy="1353312"/>
          </a:xfrm>
          <a:prstGeom prst="roundRect">
            <a:avLst/>
          </a:prstGeom>
          <a:solidFill>
            <a:srgbClr val="EAF7EF"/>
          </a:solidFill>
          <a:ln w="9525">
            <a:solidFill>
              <a:srgbClr val="DCE4ED"/>
            </a:solidFill>
          </a:ln>
          <a:effectLst/>
        </p:spPr>
        <p:txBody>
          <a:bodyPr/>
          <a:lstStyle/>
          <a:p/>
        </p:txBody>
      </p:sp>
      <p:sp>
        <p:nvSpPr>
          <p:cNvPr id="15" name="TextBox 15"/>
          <p:cNvSpPr txBox="1"/>
          <p:nvPr/>
        </p:nvSpPr>
        <p:spPr>
          <a:xfrm>
            <a:off x="7955280" y="1737360"/>
            <a:ext cx="29718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71E3A"/>
                </a:solidFill>
                <a:latin typeface="Aptos"/>
                <a:ea typeface="Aptos"/>
                <a:cs typeface="Aptos"/>
              </a:rPr>
              <a:t>Semantic coherence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955280" y="2130552"/>
            <a:ext cx="2971800" cy="786384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5"/>
              </a:spcAft>
            </a:pPr>
            <a:r>
              <a:rPr sz="900">
                <a:solidFill>
                  <a:srgbClr val="5B6878"/>
                </a:solidFill>
                <a:latin typeface="Aptos"/>
                <a:ea typeface="Aptos"/>
                <a:cs typeface="Aptos"/>
              </a:rPr>
              <a:t>Full name, email, address and city/state/zip stay realistic enough for tests.</a:t>
            </a:r>
          </a:p>
        </p:txBody>
      </p:sp>
      <p:sp>
        <p:nvSpPr>
          <p:cNvPr id="17" name="Shape 17"/>
          <p:cNvSpPr/>
          <p:nvPr/>
        </p:nvSpPr>
        <p:spPr>
          <a:xfrm>
            <a:off x="4069080" y="3291840"/>
            <a:ext cx="3337560" cy="1353312"/>
          </a:xfrm>
          <a:prstGeom prst="roundRect">
            <a:avLst/>
          </a:prstGeom>
          <a:solidFill>
            <a:srgbClr val="F4F8FF"/>
          </a:solidFill>
          <a:ln w="9525">
            <a:solidFill>
              <a:srgbClr val="DCE4ED"/>
            </a:solidFill>
          </a:ln>
          <a:effectLst/>
        </p:spPr>
        <p:txBody>
          <a:bodyPr/>
          <a:lstStyle/>
          <a:p/>
        </p:txBody>
      </p:sp>
      <p:sp>
        <p:nvSpPr>
          <p:cNvPr id="18" name="TextBox 18"/>
          <p:cNvSpPr txBox="1"/>
          <p:nvPr/>
        </p:nvSpPr>
        <p:spPr>
          <a:xfrm>
            <a:off x="4251960" y="3429000"/>
            <a:ext cx="29718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71E3A"/>
                </a:solidFill>
                <a:latin typeface="Aptos"/>
                <a:ea typeface="Aptos"/>
                <a:cs typeface="Aptos"/>
              </a:rPr>
              <a:t>Conditional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251960" y="3822192"/>
            <a:ext cx="2971800" cy="786384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5"/>
              </a:spcAft>
            </a:pPr>
            <a:r>
              <a:rPr sz="900">
                <a:solidFill>
                  <a:srgbClr val="5B6878"/>
                </a:solidFill>
                <a:latin typeface="Aptos"/>
                <a:ea typeface="Aptos"/>
                <a:cs typeface="Aptos"/>
              </a:rPr>
              <a:t>Column-level conditions let some rows use a different masking rule.</a:t>
            </a:r>
          </a:p>
        </p:txBody>
      </p:sp>
      <p:sp>
        <p:nvSpPr>
          <p:cNvPr id="20" name="Shape 20"/>
          <p:cNvSpPr/>
          <p:nvPr/>
        </p:nvSpPr>
        <p:spPr>
          <a:xfrm>
            <a:off x="7772400" y="3291840"/>
            <a:ext cx="3337560" cy="1353312"/>
          </a:xfrm>
          <a:prstGeom prst="roundRect">
            <a:avLst/>
          </a:prstGeom>
          <a:solidFill>
            <a:srgbClr val="EAF7EF"/>
          </a:solidFill>
          <a:ln w="9525">
            <a:solidFill>
              <a:srgbClr val="DCE4ED"/>
            </a:solidFill>
          </a:ln>
          <a:effectLst/>
        </p:spPr>
        <p:txBody>
          <a:bodyPr/>
          <a:lstStyle/>
          <a:p/>
        </p:txBody>
      </p:sp>
      <p:sp>
        <p:nvSpPr>
          <p:cNvPr id="21" name="TextBox 21"/>
          <p:cNvSpPr txBox="1"/>
          <p:nvPr/>
        </p:nvSpPr>
        <p:spPr>
          <a:xfrm>
            <a:off x="7955280" y="3429000"/>
            <a:ext cx="29718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71E3A"/>
                </a:solidFill>
                <a:latin typeface="Aptos"/>
                <a:ea typeface="Aptos"/>
                <a:cs typeface="Aptos"/>
              </a:rPr>
              <a:t>Policy reusable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955280" y="3822192"/>
            <a:ext cx="2971800" cy="786384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5"/>
              </a:spcAft>
            </a:pPr>
            <a:r>
              <a:rPr sz="900">
                <a:solidFill>
                  <a:srgbClr val="5B6878"/>
                </a:solidFill>
                <a:latin typeface="Aptos"/>
                <a:ea typeface="Aptos"/>
                <a:cs typeface="Aptos"/>
              </a:rPr>
              <a:t>One approved policy can feed mask-copy, subset-mask, DataScope and mainframe patterns.</a:t>
            </a:r>
          </a:p>
        </p:txBody>
      </p:sp>
      <p:sp>
        <p:nvSpPr>
          <p:cNvPr id="23" name="Shape 23"/>
          <p:cNvSpPr/>
          <p:nvPr/>
        </p:nvSpPr>
        <p:spPr>
          <a:xfrm>
            <a:off x="4069080" y="5074920"/>
            <a:ext cx="7040880" cy="502920"/>
          </a:xfrm>
          <a:prstGeom prst="roundRect">
            <a:avLst/>
          </a:prstGeom>
          <a:solidFill>
            <a:srgbClr val="F1EFFF"/>
          </a:solidFill>
          <a:ln w="9525">
            <a:solidFill>
              <a:srgbClr val="DCE4ED"/>
            </a:solidFill>
          </a:ln>
          <a:effectLst/>
        </p:spPr>
        <p:txBody>
          <a:bodyPr/>
          <a:lstStyle/>
          <a:p/>
        </p:txBody>
      </p:sp>
      <p:sp>
        <p:nvSpPr>
          <p:cNvPr id="24" name="TextBox 24"/>
          <p:cNvSpPr txBox="1"/>
          <p:nvPr/>
        </p:nvSpPr>
        <p:spPr>
          <a:xfrm>
            <a:off x="4297680" y="5248656"/>
            <a:ext cx="6583680" cy="146304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5146A6"/>
                </a:solidFill>
                <a:latin typeface="Aptos"/>
                <a:ea typeface="Aptos"/>
                <a:cs typeface="Aptos"/>
              </a:rPr>
              <a:t>Function families: names, email, phone, SSN, credit card, DOB, address, format preserve, redact, hash LOV, fixed, nullify, sequence, passthrough.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02920" y="6446520"/>
            <a:ext cx="502920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00">
                <a:solidFill>
                  <a:srgbClr val="5B6878"/>
                </a:solidFill>
                <a:latin typeface="Aptos"/>
                <a:ea typeface="Aptos"/>
                <a:cs typeface="Aptos"/>
              </a:rPr>
              <a:t>ForgeTDM capability showcase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1109960" y="6446520"/>
            <a:ext cx="45720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800">
                <a:solidFill>
                  <a:srgbClr val="5B6878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3" name="TextBox 3"/>
          <p:cNvSpPr txBox="1"/>
          <p:nvPr/>
        </p:nvSpPr>
        <p:spPr>
          <a:xfrm>
            <a:off x="502920" y="310896"/>
            <a:ext cx="365760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1D6FB8"/>
                </a:solidFill>
                <a:latin typeface="Aptos"/>
                <a:ea typeface="Aptos"/>
                <a:cs typeface="Aptos"/>
              </a:rPr>
              <a:t>DEEP DIVE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02920" y="566928"/>
            <a:ext cx="896112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"/>
              </a:spcAft>
            </a:pPr>
            <a:r>
              <a:rPr sz="2700" b="1">
                <a:solidFill>
                  <a:srgbClr val="071E3A"/>
                </a:solidFill>
                <a:latin typeface="Cambria"/>
                <a:ea typeface="Cambria"/>
                <a:cs typeface="Cambria"/>
              </a:rPr>
              <a:t>Synthetic data that behaves like an application dataset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972800" y="621792"/>
            <a:ext cx="59436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80"/>
              </a:spcAft>
            </a:pPr>
            <a:r>
              <a:rPr sz="1200" b="1">
                <a:solidFill>
                  <a:srgbClr val="1D6FB8"/>
                </a:solidFill>
                <a:latin typeface="Cambria"/>
                <a:ea typeface="Cambria"/>
                <a:cs typeface="Cambria"/>
              </a:rPr>
              <a:t>07</a:t>
            </a:r>
          </a:p>
        </p:txBody>
      </p:sp>
      <p:sp>
        <p:nvSpPr>
          <p:cNvPr id="6" name="Shape 6"/>
          <p:cNvSpPr/>
          <p:nvPr/>
        </p:nvSpPr>
        <p:spPr>
          <a:xfrm>
            <a:off x="502920" y="1124712"/>
            <a:ext cx="11155680" cy="20117"/>
          </a:xfrm>
          <a:prstGeom prst="rect">
            <a:avLst/>
          </a:prstGeom>
          <a:solidFill>
            <a:srgbClr val="DCE4ED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7" name="Shape 7"/>
          <p:cNvSpPr/>
          <p:nvPr/>
        </p:nvSpPr>
        <p:spPr>
          <a:xfrm>
            <a:off x="640080" y="1536192"/>
            <a:ext cx="3063240" cy="4160520"/>
          </a:xfrm>
          <a:prstGeom prst="roundRect">
            <a:avLst/>
          </a:prstGeom>
          <a:solidFill>
            <a:srgbClr val="F4F8FF"/>
          </a:solidFill>
          <a:ln w="9525">
            <a:solidFill>
              <a:srgbClr val="DCE4ED"/>
            </a:solidFill>
          </a:ln>
          <a:effectLst/>
        </p:spPr>
        <p:txBody>
          <a:bodyPr/>
          <a:lstStyle/>
          <a:p/>
        </p:txBody>
      </p:sp>
      <p:sp>
        <p:nvSpPr>
          <p:cNvPr id="8" name="TextBox 8"/>
          <p:cNvSpPr txBox="1"/>
          <p:nvPr/>
        </p:nvSpPr>
        <p:spPr>
          <a:xfrm>
            <a:off x="868680" y="1764792"/>
            <a:ext cx="265176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"/>
              </a:spcAft>
            </a:pPr>
            <a:r>
              <a:rPr sz="1600" b="1">
                <a:solidFill>
                  <a:srgbClr val="071E3A"/>
                </a:solidFill>
                <a:latin typeface="Cambria"/>
                <a:ea typeface="Cambria"/>
                <a:cs typeface="Cambria"/>
              </a:rPr>
              <a:t>Design wizard</a:t>
            </a:r>
          </a:p>
        </p:txBody>
      </p:sp>
      <p:sp>
        <p:nvSpPr>
          <p:cNvPr id="9" name="Shape 9"/>
          <p:cNvSpPr/>
          <p:nvPr/>
        </p:nvSpPr>
        <p:spPr>
          <a:xfrm>
            <a:off x="914400" y="2331720"/>
            <a:ext cx="347472" cy="347472"/>
          </a:xfrm>
          <a:prstGeom prst="ellipse">
            <a:avLst/>
          </a:prstGeom>
          <a:solidFill>
            <a:srgbClr val="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10" name="TextBox 10"/>
          <p:cNvSpPr txBox="1"/>
          <p:nvPr/>
        </p:nvSpPr>
        <p:spPr>
          <a:xfrm>
            <a:off x="914400" y="2359152"/>
            <a:ext cx="347472" cy="301752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"/>
              </a:spcAft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89888" y="2350008"/>
            <a:ext cx="196596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71E3A"/>
                </a:solidFill>
                <a:latin typeface="Aptos"/>
                <a:ea typeface="Aptos"/>
                <a:cs typeface="Aptos"/>
              </a:rPr>
              <a:t>Source + Tables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89888" y="2615184"/>
            <a:ext cx="196596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00">
                <a:solidFill>
                  <a:srgbClr val="5B6878"/>
                </a:solidFill>
                <a:latin typeface="Aptos"/>
                <a:ea typeface="Aptos"/>
                <a:cs typeface="Aptos"/>
              </a:rPr>
              <a:t>Blueprint or schema import</a:t>
            </a:r>
          </a:p>
        </p:txBody>
      </p:sp>
      <p:sp>
        <p:nvSpPr>
          <p:cNvPr id="13" name="Shape 13"/>
          <p:cNvSpPr/>
          <p:nvPr/>
        </p:nvSpPr>
        <p:spPr>
          <a:xfrm>
            <a:off x="914400" y="3172968"/>
            <a:ext cx="347472" cy="347472"/>
          </a:xfrm>
          <a:prstGeom prst="ellipse">
            <a:avLst/>
          </a:prstGeom>
          <a:solidFill>
            <a:srgbClr val="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14" name="TextBox 14"/>
          <p:cNvSpPr txBox="1"/>
          <p:nvPr/>
        </p:nvSpPr>
        <p:spPr>
          <a:xfrm>
            <a:off x="914400" y="3200400"/>
            <a:ext cx="347472" cy="301752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"/>
              </a:spcAft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89888" y="3191256"/>
            <a:ext cx="196596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71E3A"/>
                </a:solidFill>
                <a:latin typeface="Aptos"/>
                <a:ea typeface="Aptos"/>
                <a:cs typeface="Aptos"/>
              </a:rPr>
              <a:t>Fields + FKs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389888" y="3456432"/>
            <a:ext cx="196596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00">
                <a:solidFill>
                  <a:srgbClr val="5B6878"/>
                </a:solidFill>
                <a:latin typeface="Aptos"/>
                <a:ea typeface="Aptos"/>
                <a:cs typeface="Aptos"/>
              </a:rPr>
              <a:t>Type-aware generators</a:t>
            </a:r>
          </a:p>
        </p:txBody>
      </p:sp>
      <p:sp>
        <p:nvSpPr>
          <p:cNvPr id="17" name="Shape 17"/>
          <p:cNvSpPr/>
          <p:nvPr/>
        </p:nvSpPr>
        <p:spPr>
          <a:xfrm>
            <a:off x="914400" y="4014216"/>
            <a:ext cx="347472" cy="347472"/>
          </a:xfrm>
          <a:prstGeom prst="ellipse">
            <a:avLst/>
          </a:prstGeom>
          <a:solidFill>
            <a:srgbClr val="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18" name="TextBox 18"/>
          <p:cNvSpPr txBox="1"/>
          <p:nvPr/>
        </p:nvSpPr>
        <p:spPr>
          <a:xfrm>
            <a:off x="914400" y="4041648"/>
            <a:ext cx="347472" cy="301752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"/>
              </a:spcAft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389888" y="4032504"/>
            <a:ext cx="196596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071E3A"/>
                </a:solidFill>
                <a:latin typeface="Aptos"/>
                <a:ea typeface="Aptos"/>
                <a:cs typeface="Aptos"/>
              </a:rPr>
              <a:t>Output + Generate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389888" y="4297680"/>
            <a:ext cx="196596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00">
                <a:solidFill>
                  <a:srgbClr val="5B6878"/>
                </a:solidFill>
                <a:latin typeface="Aptos"/>
                <a:ea typeface="Aptos"/>
                <a:cs typeface="Aptos"/>
              </a:rPr>
              <a:t>DB, CSV, JSON, SQL</a:t>
            </a:r>
          </a:p>
        </p:txBody>
      </p:sp>
      <p:sp>
        <p:nvSpPr>
          <p:cNvPr id="21" name="Shape 21"/>
          <p:cNvSpPr/>
          <p:nvPr/>
        </p:nvSpPr>
        <p:spPr>
          <a:xfrm>
            <a:off x="4041648" y="1536192"/>
            <a:ext cx="3337560" cy="41605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E4ED"/>
            </a:solidFill>
          </a:ln>
          <a:effectLst/>
        </p:spPr>
        <p:txBody>
          <a:bodyPr/>
          <a:lstStyle/>
          <a:p/>
        </p:txBody>
      </p:sp>
      <p:sp>
        <p:nvSpPr>
          <p:cNvPr id="22" name="TextBox 22"/>
          <p:cNvSpPr txBox="1"/>
          <p:nvPr/>
        </p:nvSpPr>
        <p:spPr>
          <a:xfrm>
            <a:off x="4297680" y="1764792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"/>
              </a:spcAft>
            </a:pPr>
            <a:r>
              <a:rPr sz="1600" b="1">
                <a:solidFill>
                  <a:srgbClr val="071E3A"/>
                </a:solidFill>
                <a:latin typeface="Cambria"/>
                <a:ea typeface="Cambria"/>
                <a:cs typeface="Cambria"/>
              </a:rPr>
              <a:t>Generator catalog</a:t>
            </a:r>
          </a:p>
        </p:txBody>
      </p:sp>
      <p:sp>
        <p:nvSpPr>
          <p:cNvPr id="23" name="Shape 23"/>
          <p:cNvSpPr/>
          <p:nvPr/>
        </p:nvSpPr>
        <p:spPr>
          <a:xfrm>
            <a:off x="4343400" y="2331720"/>
            <a:ext cx="786384" cy="310896"/>
          </a:xfrm>
          <a:prstGeom prst="roundRect">
            <a:avLst/>
          </a:prstGeom>
          <a:solidFill>
            <a:srgbClr val="1D6FB8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24" name="TextBox 24"/>
          <p:cNvSpPr txBox="1"/>
          <p:nvPr/>
        </p:nvSpPr>
        <p:spPr>
          <a:xfrm>
            <a:off x="4343400" y="2382012"/>
            <a:ext cx="786384" cy="137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30"/>
              </a:spcAft>
            </a:pPr>
            <a:r>
              <a:rPr sz="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Person</a:t>
            </a:r>
          </a:p>
        </p:txBody>
      </p:sp>
      <p:sp>
        <p:nvSpPr>
          <p:cNvPr id="25" name="Shape 25"/>
          <p:cNvSpPr/>
          <p:nvPr/>
        </p:nvSpPr>
        <p:spPr>
          <a:xfrm>
            <a:off x="5760720" y="2331720"/>
            <a:ext cx="950976" cy="310896"/>
          </a:xfrm>
          <a:prstGeom prst="roundRect">
            <a:avLst/>
          </a:prstGeom>
          <a:solidFill>
            <a:srgbClr val="2F7D59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26" name="TextBox 26"/>
          <p:cNvSpPr txBox="1"/>
          <p:nvPr/>
        </p:nvSpPr>
        <p:spPr>
          <a:xfrm>
            <a:off x="5760720" y="2382012"/>
            <a:ext cx="950976" cy="137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30"/>
              </a:spcAft>
            </a:pPr>
            <a:r>
              <a:rPr sz="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Location</a:t>
            </a:r>
          </a:p>
        </p:txBody>
      </p:sp>
      <p:sp>
        <p:nvSpPr>
          <p:cNvPr id="27" name="Shape 27"/>
          <p:cNvSpPr/>
          <p:nvPr/>
        </p:nvSpPr>
        <p:spPr>
          <a:xfrm>
            <a:off x="4343400" y="2862072"/>
            <a:ext cx="868680" cy="310896"/>
          </a:xfrm>
          <a:prstGeom prst="roundRect">
            <a:avLst/>
          </a:prstGeom>
          <a:solidFill>
            <a:srgbClr val="1D6FB8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28" name="TextBox 28"/>
          <p:cNvSpPr txBox="1"/>
          <p:nvPr/>
        </p:nvSpPr>
        <p:spPr>
          <a:xfrm>
            <a:off x="4343400" y="2912364"/>
            <a:ext cx="868680" cy="137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30"/>
              </a:spcAft>
            </a:pPr>
            <a:r>
              <a:rPr sz="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Finance</a:t>
            </a:r>
          </a:p>
        </p:txBody>
      </p:sp>
      <p:sp>
        <p:nvSpPr>
          <p:cNvPr id="29" name="Shape 29"/>
          <p:cNvSpPr/>
          <p:nvPr/>
        </p:nvSpPr>
        <p:spPr>
          <a:xfrm>
            <a:off x="5760720" y="2862072"/>
            <a:ext cx="1033272" cy="310896"/>
          </a:xfrm>
          <a:prstGeom prst="roundRect">
            <a:avLst/>
          </a:prstGeom>
          <a:solidFill>
            <a:srgbClr val="2F7D59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30" name="TextBox 30"/>
          <p:cNvSpPr txBox="1"/>
          <p:nvPr/>
        </p:nvSpPr>
        <p:spPr>
          <a:xfrm>
            <a:off x="5760720" y="2912364"/>
            <a:ext cx="1033272" cy="137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30"/>
              </a:spcAft>
            </a:pPr>
            <a:r>
              <a:rPr sz="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Date/Time</a:t>
            </a:r>
          </a:p>
        </p:txBody>
      </p:sp>
      <p:sp>
        <p:nvSpPr>
          <p:cNvPr id="31" name="Shape 31"/>
          <p:cNvSpPr/>
          <p:nvPr/>
        </p:nvSpPr>
        <p:spPr>
          <a:xfrm>
            <a:off x="4343400" y="3392424"/>
            <a:ext cx="1033272" cy="310896"/>
          </a:xfrm>
          <a:prstGeom prst="roundRect">
            <a:avLst/>
          </a:prstGeom>
          <a:solidFill>
            <a:srgbClr val="1D6FB8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32" name="TextBox 32"/>
          <p:cNvSpPr txBox="1"/>
          <p:nvPr/>
        </p:nvSpPr>
        <p:spPr>
          <a:xfrm>
            <a:off x="4343400" y="3442716"/>
            <a:ext cx="1033272" cy="137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30"/>
              </a:spcAft>
            </a:pPr>
            <a:r>
              <a:rPr sz="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Technical</a:t>
            </a:r>
          </a:p>
        </p:txBody>
      </p:sp>
      <p:sp>
        <p:nvSpPr>
          <p:cNvPr id="33" name="Shape 33"/>
          <p:cNvSpPr/>
          <p:nvPr/>
        </p:nvSpPr>
        <p:spPr>
          <a:xfrm>
            <a:off x="5760720" y="3392424"/>
            <a:ext cx="950976" cy="310896"/>
          </a:xfrm>
          <a:prstGeom prst="roundRect">
            <a:avLst/>
          </a:prstGeom>
          <a:solidFill>
            <a:srgbClr val="2F7D59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34" name="TextBox 34"/>
          <p:cNvSpPr txBox="1"/>
          <p:nvPr/>
        </p:nvSpPr>
        <p:spPr>
          <a:xfrm>
            <a:off x="5760720" y="3442716"/>
            <a:ext cx="950976" cy="137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30"/>
              </a:spcAft>
            </a:pPr>
            <a:r>
              <a:rPr sz="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Business</a:t>
            </a:r>
          </a:p>
        </p:txBody>
      </p:sp>
      <p:sp>
        <p:nvSpPr>
          <p:cNvPr id="35" name="Shape 35"/>
          <p:cNvSpPr/>
          <p:nvPr/>
        </p:nvSpPr>
        <p:spPr>
          <a:xfrm>
            <a:off x="4343400" y="3922776"/>
            <a:ext cx="868680" cy="310896"/>
          </a:xfrm>
          <a:prstGeom prst="roundRect">
            <a:avLst/>
          </a:prstGeom>
          <a:solidFill>
            <a:srgbClr val="1D6FB8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36" name="TextBox 36"/>
          <p:cNvSpPr txBox="1"/>
          <p:nvPr/>
        </p:nvSpPr>
        <p:spPr>
          <a:xfrm>
            <a:off x="4343400" y="3973068"/>
            <a:ext cx="868680" cy="137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30"/>
              </a:spcAft>
            </a:pPr>
            <a:r>
              <a:rPr sz="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Network</a:t>
            </a:r>
          </a:p>
        </p:txBody>
      </p:sp>
      <p:sp>
        <p:nvSpPr>
          <p:cNvPr id="37" name="Shape 37"/>
          <p:cNvSpPr/>
          <p:nvPr/>
        </p:nvSpPr>
        <p:spPr>
          <a:xfrm>
            <a:off x="5760720" y="3922776"/>
            <a:ext cx="868680" cy="310896"/>
          </a:xfrm>
          <a:prstGeom prst="roundRect">
            <a:avLst/>
          </a:prstGeom>
          <a:solidFill>
            <a:srgbClr val="2F7D59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38" name="TextBox 38"/>
          <p:cNvSpPr txBox="1"/>
          <p:nvPr/>
        </p:nvSpPr>
        <p:spPr>
          <a:xfrm>
            <a:off x="5760720" y="3973068"/>
            <a:ext cx="868680" cy="13716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30"/>
              </a:spcAft>
            </a:pPr>
            <a:r>
              <a:rPr sz="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Control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4297680" y="4663440"/>
            <a:ext cx="274320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>
                <a:solidFill>
                  <a:srgbClr val="5B6878"/>
                </a:solidFill>
                <a:latin typeface="Aptos"/>
                <a:ea typeface="Aptos"/>
                <a:cs typeface="Aptos"/>
              </a:rPr>
              <a:t>Seeded reproducibility plus FK pools keeps parent/child rows consistent.</a:t>
            </a:r>
          </a:p>
        </p:txBody>
      </p:sp>
      <p:sp>
        <p:nvSpPr>
          <p:cNvPr id="40" name="Shape 40"/>
          <p:cNvSpPr/>
          <p:nvPr/>
        </p:nvSpPr>
        <p:spPr>
          <a:xfrm>
            <a:off x="7754112" y="1536192"/>
            <a:ext cx="3520440" cy="41605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E4ED"/>
            </a:solidFill>
          </a:ln>
          <a:effectLst/>
        </p:spPr>
        <p:txBody>
          <a:bodyPr/>
          <a:lstStyle/>
          <a:p/>
        </p:txBody>
      </p:sp>
      <p:sp>
        <p:nvSpPr>
          <p:cNvPr id="41" name="TextBox 41"/>
          <p:cNvSpPr txBox="1"/>
          <p:nvPr/>
        </p:nvSpPr>
        <p:spPr>
          <a:xfrm>
            <a:off x="8001000" y="1764792"/>
            <a:ext cx="29260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"/>
              </a:spcAft>
            </a:pPr>
            <a:r>
              <a:rPr sz="1600" b="1">
                <a:solidFill>
                  <a:srgbClr val="071E3A"/>
                </a:solidFill>
                <a:latin typeface="Cambria"/>
                <a:ea typeface="Cambria"/>
                <a:cs typeface="Cambria"/>
              </a:rPr>
              <a:t>Referential output</a:t>
            </a:r>
          </a:p>
        </p:txBody>
      </p:sp>
      <p:sp>
        <p:nvSpPr>
          <p:cNvPr id="42" name="Shape 42"/>
          <p:cNvSpPr/>
          <p:nvPr/>
        </p:nvSpPr>
        <p:spPr>
          <a:xfrm>
            <a:off x="8247888" y="2423160"/>
            <a:ext cx="1234440" cy="502920"/>
          </a:xfrm>
          <a:prstGeom prst="roundRect">
            <a:avLst/>
          </a:prstGeom>
          <a:solidFill>
            <a:srgbClr val="EAF7EF"/>
          </a:solidFill>
          <a:ln w="9525">
            <a:solidFill>
              <a:srgbClr val="2F7D59"/>
            </a:solidFill>
          </a:ln>
          <a:effectLst/>
        </p:spPr>
        <p:txBody>
          <a:bodyPr/>
          <a:lstStyle/>
          <a:p/>
        </p:txBody>
      </p:sp>
      <p:sp>
        <p:nvSpPr>
          <p:cNvPr id="43" name="TextBox 43"/>
          <p:cNvSpPr txBox="1"/>
          <p:nvPr/>
        </p:nvSpPr>
        <p:spPr>
          <a:xfrm>
            <a:off x="8302752" y="2587752"/>
            <a:ext cx="1097280" cy="10972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1">
                <a:solidFill>
                  <a:srgbClr val="2F7D59"/>
                </a:solidFill>
                <a:latin typeface="Aptos"/>
                <a:ea typeface="Aptos"/>
                <a:cs typeface="Aptos"/>
              </a:rPr>
              <a:t>customers</a:t>
            </a:r>
          </a:p>
        </p:txBody>
      </p:sp>
      <p:sp>
        <p:nvSpPr>
          <p:cNvPr id="44" name="Shape 44"/>
          <p:cNvSpPr/>
          <p:nvPr/>
        </p:nvSpPr>
        <p:spPr>
          <a:xfrm>
            <a:off x="9692640" y="3154680"/>
            <a:ext cx="1234440" cy="502920"/>
          </a:xfrm>
          <a:prstGeom prst="roundRect">
            <a:avLst/>
          </a:prstGeom>
          <a:solidFill>
            <a:srgbClr val="F4F8FF"/>
          </a:solidFill>
          <a:ln w="9525">
            <a:solidFill>
              <a:srgbClr val="1D6FB8"/>
            </a:solidFill>
          </a:ln>
          <a:effectLst/>
        </p:spPr>
        <p:txBody>
          <a:bodyPr/>
          <a:lstStyle/>
          <a:p/>
        </p:txBody>
      </p:sp>
      <p:sp>
        <p:nvSpPr>
          <p:cNvPr id="45" name="TextBox 45"/>
          <p:cNvSpPr txBox="1"/>
          <p:nvPr/>
        </p:nvSpPr>
        <p:spPr>
          <a:xfrm>
            <a:off x="9747504" y="3319272"/>
            <a:ext cx="1097280" cy="10972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1">
                <a:solidFill>
                  <a:srgbClr val="1D6FB8"/>
                </a:solidFill>
                <a:latin typeface="Aptos"/>
                <a:ea typeface="Aptos"/>
                <a:cs typeface="Aptos"/>
              </a:rPr>
              <a:t>accounts</a:t>
            </a:r>
          </a:p>
        </p:txBody>
      </p:sp>
      <p:sp>
        <p:nvSpPr>
          <p:cNvPr id="46" name="Shape 46"/>
          <p:cNvSpPr/>
          <p:nvPr/>
        </p:nvSpPr>
        <p:spPr>
          <a:xfrm>
            <a:off x="9692640" y="4041648"/>
            <a:ext cx="1234440" cy="502920"/>
          </a:xfrm>
          <a:prstGeom prst="roundRect">
            <a:avLst/>
          </a:prstGeom>
          <a:solidFill>
            <a:srgbClr val="F4F8FF"/>
          </a:solidFill>
          <a:ln w="9525">
            <a:solidFill>
              <a:srgbClr val="1D6FB8"/>
            </a:solidFill>
          </a:ln>
          <a:effectLst/>
        </p:spPr>
        <p:txBody>
          <a:bodyPr/>
          <a:lstStyle/>
          <a:p/>
        </p:txBody>
      </p:sp>
      <p:sp>
        <p:nvSpPr>
          <p:cNvPr id="47" name="TextBox 47"/>
          <p:cNvSpPr txBox="1"/>
          <p:nvPr/>
        </p:nvSpPr>
        <p:spPr>
          <a:xfrm>
            <a:off x="9747504" y="4206240"/>
            <a:ext cx="1097280" cy="10972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1">
                <a:solidFill>
                  <a:srgbClr val="1D6FB8"/>
                </a:solidFill>
                <a:latin typeface="Aptos"/>
                <a:ea typeface="Aptos"/>
                <a:cs typeface="Aptos"/>
              </a:rPr>
              <a:t>orders</a:t>
            </a:r>
          </a:p>
        </p:txBody>
      </p:sp>
      <p:sp>
        <p:nvSpPr>
          <p:cNvPr id="48" name="Shape 48"/>
          <p:cNvSpPr/>
          <p:nvPr/>
        </p:nvSpPr>
        <p:spPr>
          <a:xfrm>
            <a:off x="9235440" y="2761488"/>
            <a:ext cx="640080" cy="27432"/>
          </a:xfrm>
          <a:prstGeom prst="rect">
            <a:avLst/>
          </a:prstGeom>
          <a:solidFill>
            <a:srgbClr val="DCE4ED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49" name="Shape 49"/>
          <p:cNvSpPr/>
          <p:nvPr/>
        </p:nvSpPr>
        <p:spPr>
          <a:xfrm>
            <a:off x="9235440" y="2761488"/>
            <a:ext cx="27432" cy="1554480"/>
          </a:xfrm>
          <a:prstGeom prst="rect">
            <a:avLst/>
          </a:prstGeom>
          <a:solidFill>
            <a:srgbClr val="DCE4ED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50" name="Shape 50"/>
          <p:cNvSpPr/>
          <p:nvPr/>
        </p:nvSpPr>
        <p:spPr>
          <a:xfrm>
            <a:off x="9235440" y="3401568"/>
            <a:ext cx="457200" cy="27432"/>
          </a:xfrm>
          <a:prstGeom prst="rect">
            <a:avLst/>
          </a:prstGeom>
          <a:solidFill>
            <a:srgbClr val="DCE4ED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51" name="Shape 51"/>
          <p:cNvSpPr/>
          <p:nvPr/>
        </p:nvSpPr>
        <p:spPr>
          <a:xfrm>
            <a:off x="9235440" y="4297680"/>
            <a:ext cx="457200" cy="27432"/>
          </a:xfrm>
          <a:prstGeom prst="rect">
            <a:avLst/>
          </a:prstGeom>
          <a:solidFill>
            <a:srgbClr val="DCE4ED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52" name="TextBox 52"/>
          <p:cNvSpPr txBox="1"/>
          <p:nvPr/>
        </p:nvSpPr>
        <p:spPr>
          <a:xfrm>
            <a:off x="8001000" y="4892040"/>
            <a:ext cx="283464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5B6878"/>
                </a:solidFill>
                <a:latin typeface="Aptos"/>
                <a:ea typeface="Aptos"/>
                <a:cs typeface="Aptos"/>
              </a:rPr>
              <a:t>Generated data loads parent-first.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502920" y="6446520"/>
            <a:ext cx="502920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00">
                <a:solidFill>
                  <a:srgbClr val="5B6878"/>
                </a:solidFill>
                <a:latin typeface="Aptos"/>
                <a:ea typeface="Aptos"/>
                <a:cs typeface="Aptos"/>
              </a:rPr>
              <a:t>ForgeTDM capability showcase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11109960" y="6446520"/>
            <a:ext cx="45720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800">
                <a:solidFill>
                  <a:srgbClr val="5B6878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3" name="TextBox 3"/>
          <p:cNvSpPr txBox="1"/>
          <p:nvPr/>
        </p:nvSpPr>
        <p:spPr>
          <a:xfrm>
            <a:off x="502920" y="310896"/>
            <a:ext cx="365760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1D6FB8"/>
                </a:solidFill>
                <a:latin typeface="Aptos"/>
                <a:ea typeface="Aptos"/>
                <a:cs typeface="Aptos"/>
              </a:rPr>
              <a:t>MAINFRAME SHOWCASE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02920" y="566928"/>
            <a:ext cx="896112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"/>
              </a:spcAft>
            </a:pPr>
            <a:r>
              <a:rPr sz="2700" b="1">
                <a:solidFill>
                  <a:srgbClr val="071E3A"/>
                </a:solidFill>
                <a:latin typeface="Cambria"/>
                <a:ea typeface="Cambria"/>
                <a:cs typeface="Cambria"/>
              </a:rPr>
              <a:t>Copybook-aware data protection and generation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972800" y="621792"/>
            <a:ext cx="59436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80"/>
              </a:spcAft>
            </a:pPr>
            <a:r>
              <a:rPr sz="1200" b="1">
                <a:solidFill>
                  <a:srgbClr val="1D6FB8"/>
                </a:solidFill>
                <a:latin typeface="Cambria"/>
                <a:ea typeface="Cambria"/>
                <a:cs typeface="Cambria"/>
              </a:rPr>
              <a:t>08</a:t>
            </a:r>
          </a:p>
        </p:txBody>
      </p:sp>
      <p:sp>
        <p:nvSpPr>
          <p:cNvPr id="6" name="Shape 6"/>
          <p:cNvSpPr/>
          <p:nvPr/>
        </p:nvSpPr>
        <p:spPr>
          <a:xfrm>
            <a:off x="502920" y="1124712"/>
            <a:ext cx="11155680" cy="20117"/>
          </a:xfrm>
          <a:prstGeom prst="rect">
            <a:avLst/>
          </a:prstGeom>
          <a:solidFill>
            <a:srgbClr val="DCE4ED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7" name="Shape 7"/>
          <p:cNvSpPr/>
          <p:nvPr/>
        </p:nvSpPr>
        <p:spPr>
          <a:xfrm>
            <a:off x="685800" y="1554480"/>
            <a:ext cx="3749040" cy="4251960"/>
          </a:xfrm>
          <a:prstGeom prst="roundRect">
            <a:avLst/>
          </a:prstGeom>
          <a:solidFill>
            <a:srgbClr val="0B1220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8" name="TextBox 8"/>
          <p:cNvSpPr txBox="1"/>
          <p:nvPr/>
        </p:nvSpPr>
        <p:spPr>
          <a:xfrm>
            <a:off x="960120" y="1828800"/>
            <a:ext cx="32004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COBOL copybook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60120" y="2267712"/>
            <a:ext cx="3154680" cy="128016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"/>
              </a:spcAft>
            </a:pPr>
            <a:r>
              <a:rPr sz="800">
                <a:solidFill>
                  <a:srgbClr val="CBDEF6"/>
                </a:solidFill>
                <a:latin typeface="Consolas"/>
                <a:ea typeface="Consolas"/>
                <a:cs typeface="Consolas"/>
              </a:rPr>
              <a:t>01 CUSTOMER-REC.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60120" y="2578608"/>
            <a:ext cx="3154680" cy="128016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"/>
              </a:spcAft>
            </a:pPr>
            <a:r>
              <a:rPr sz="800">
                <a:solidFill>
                  <a:srgbClr val="CBDEF6"/>
                </a:solidFill>
                <a:latin typeface="Consolas"/>
                <a:ea typeface="Consolas"/>
                <a:cs typeface="Consolas"/>
              </a:rPr>
              <a:t> 05 CUSTOMER-ID    PIC 9(10).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60120" y="2889504"/>
            <a:ext cx="3154680" cy="128016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"/>
              </a:spcAft>
            </a:pPr>
            <a:r>
              <a:rPr sz="800">
                <a:solidFill>
                  <a:srgbClr val="CBDEF6"/>
                </a:solidFill>
                <a:latin typeface="Consolas"/>
                <a:ea typeface="Consolas"/>
                <a:cs typeface="Consolas"/>
              </a:rPr>
              <a:t> 05 CUSTOMER-NAME  PIC X(30).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60120" y="3200400"/>
            <a:ext cx="3154680" cy="128016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"/>
              </a:spcAft>
            </a:pPr>
            <a:r>
              <a:rPr sz="800">
                <a:solidFill>
                  <a:srgbClr val="CBDEF6"/>
                </a:solidFill>
                <a:latin typeface="Consolas"/>
                <a:ea typeface="Consolas"/>
                <a:cs typeface="Consolas"/>
              </a:rPr>
              <a:t> 05 BALANCE        PIC S9(7)V99 COMP-3.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60120" y="3511296"/>
            <a:ext cx="3154680" cy="128016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"/>
              </a:spcAft>
            </a:pPr>
            <a:r>
              <a:rPr sz="800">
                <a:solidFill>
                  <a:srgbClr val="CBDEF6"/>
                </a:solidFill>
                <a:latin typeface="Consolas"/>
                <a:ea typeface="Consolas"/>
                <a:cs typeface="Consolas"/>
              </a:rPr>
              <a:t> 05 PHONE-NUMBER   PIC X(14).</a:t>
            </a:r>
          </a:p>
        </p:txBody>
      </p:sp>
      <p:sp>
        <p:nvSpPr>
          <p:cNvPr id="14" name="Shape 14"/>
          <p:cNvSpPr/>
          <p:nvPr/>
        </p:nvSpPr>
        <p:spPr>
          <a:xfrm>
            <a:off x="4800600" y="3154680"/>
            <a:ext cx="914400" cy="32004"/>
          </a:xfrm>
          <a:prstGeom prst="rect">
            <a:avLst/>
          </a:prstGeom>
          <a:solidFill>
            <a:srgbClr val="DCE4ED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15" name="TextBox 15"/>
          <p:cNvSpPr txBox="1"/>
          <p:nvPr/>
        </p:nvSpPr>
        <p:spPr>
          <a:xfrm>
            <a:off x="5184648" y="2962656"/>
            <a:ext cx="22860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1D6FB8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6" name="Shape 16"/>
          <p:cNvSpPr/>
          <p:nvPr/>
        </p:nvSpPr>
        <p:spPr>
          <a:xfrm>
            <a:off x="5715000" y="1554480"/>
            <a:ext cx="2423160" cy="1508760"/>
          </a:xfrm>
          <a:prstGeom prst="roundRect">
            <a:avLst/>
          </a:prstGeom>
          <a:solidFill>
            <a:srgbClr val="F4F8FF"/>
          </a:solidFill>
          <a:ln w="9525">
            <a:solidFill>
              <a:srgbClr val="DCE4ED"/>
            </a:solidFill>
          </a:ln>
          <a:effectLst/>
        </p:spPr>
        <p:txBody>
          <a:bodyPr/>
          <a:lstStyle/>
          <a:p/>
        </p:txBody>
      </p:sp>
      <p:sp>
        <p:nvSpPr>
          <p:cNvPr id="17" name="Shape 17"/>
          <p:cNvSpPr/>
          <p:nvPr/>
        </p:nvSpPr>
        <p:spPr>
          <a:xfrm>
            <a:off x="5879592" y="1700784"/>
            <a:ext cx="475488" cy="256032"/>
          </a:xfrm>
          <a:prstGeom prst="roundRect">
            <a:avLst/>
          </a:prstGeom>
          <a:solidFill>
            <a:srgbClr val="2F7D59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18" name="TextBox 18"/>
          <p:cNvSpPr txBox="1"/>
          <p:nvPr/>
        </p:nvSpPr>
        <p:spPr>
          <a:xfrm>
            <a:off x="5879592" y="1719072"/>
            <a:ext cx="475488" cy="146304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"/>
              </a:spcAft>
            </a:pPr>
            <a:r>
              <a:rPr sz="7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446520" y="1691640"/>
            <a:ext cx="20574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71E3A"/>
                </a:solidFill>
                <a:latin typeface="Aptos"/>
                <a:ea typeface="Aptos"/>
                <a:cs typeface="Aptos"/>
              </a:rPr>
              <a:t>Parse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897880" y="2084832"/>
            <a:ext cx="2057400" cy="9418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5"/>
              </a:spcAft>
            </a:pPr>
            <a:r>
              <a:rPr sz="900">
                <a:solidFill>
                  <a:srgbClr val="5B6878"/>
                </a:solidFill>
                <a:latin typeface="Aptos"/>
                <a:ea typeface="Aptos"/>
                <a:cs typeface="Aptos"/>
              </a:rPr>
              <a:t>Field tree + byte offsets</a:t>
            </a:r>
          </a:p>
        </p:txBody>
      </p:sp>
      <p:sp>
        <p:nvSpPr>
          <p:cNvPr id="21" name="Shape 21"/>
          <p:cNvSpPr/>
          <p:nvPr/>
        </p:nvSpPr>
        <p:spPr>
          <a:xfrm>
            <a:off x="8503920" y="1554480"/>
            <a:ext cx="2423160" cy="1508760"/>
          </a:xfrm>
          <a:prstGeom prst="roundRect">
            <a:avLst/>
          </a:prstGeom>
          <a:solidFill>
            <a:srgbClr val="EAF7EF"/>
          </a:solidFill>
          <a:ln w="9525">
            <a:solidFill>
              <a:srgbClr val="DCE4ED"/>
            </a:solidFill>
          </a:ln>
          <a:effectLst/>
        </p:spPr>
        <p:txBody>
          <a:bodyPr/>
          <a:lstStyle/>
          <a:p/>
        </p:txBody>
      </p:sp>
      <p:sp>
        <p:nvSpPr>
          <p:cNvPr id="22" name="Shape 22"/>
          <p:cNvSpPr/>
          <p:nvPr/>
        </p:nvSpPr>
        <p:spPr>
          <a:xfrm>
            <a:off x="8668512" y="1700784"/>
            <a:ext cx="475488" cy="256032"/>
          </a:xfrm>
          <a:prstGeom prst="roundRect">
            <a:avLst/>
          </a:prstGeom>
          <a:solidFill>
            <a:srgbClr val="2F7D59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23" name="TextBox 23"/>
          <p:cNvSpPr txBox="1"/>
          <p:nvPr/>
        </p:nvSpPr>
        <p:spPr>
          <a:xfrm>
            <a:off x="8668512" y="1719072"/>
            <a:ext cx="475488" cy="146304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"/>
              </a:spcAft>
            </a:pPr>
            <a:r>
              <a:rPr sz="7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235440" y="1691640"/>
            <a:ext cx="20574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71E3A"/>
                </a:solidFill>
                <a:latin typeface="Aptos"/>
                <a:ea typeface="Aptos"/>
                <a:cs typeface="Aptos"/>
              </a:rPr>
              <a:t>Decode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686800" y="2084832"/>
            <a:ext cx="2057400" cy="9418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5"/>
              </a:spcAft>
            </a:pPr>
            <a:r>
              <a:rPr sz="900">
                <a:solidFill>
                  <a:srgbClr val="5B6878"/>
                </a:solidFill>
                <a:latin typeface="Aptos"/>
                <a:ea typeface="Aptos"/>
                <a:cs typeface="Aptos"/>
              </a:rPr>
              <a:t>EBCDIC, COMP, COMP-3, zoned</a:t>
            </a:r>
          </a:p>
        </p:txBody>
      </p:sp>
      <p:sp>
        <p:nvSpPr>
          <p:cNvPr id="26" name="Shape 26"/>
          <p:cNvSpPr/>
          <p:nvPr/>
        </p:nvSpPr>
        <p:spPr>
          <a:xfrm>
            <a:off x="5715000" y="3520440"/>
            <a:ext cx="2423160" cy="1508760"/>
          </a:xfrm>
          <a:prstGeom prst="roundRect">
            <a:avLst/>
          </a:prstGeom>
          <a:solidFill>
            <a:srgbClr val="F4F8FF"/>
          </a:solidFill>
          <a:ln w="9525">
            <a:solidFill>
              <a:srgbClr val="DCE4ED"/>
            </a:solidFill>
          </a:ln>
          <a:effectLst/>
        </p:spPr>
        <p:txBody>
          <a:bodyPr/>
          <a:lstStyle/>
          <a:p/>
        </p:txBody>
      </p:sp>
      <p:sp>
        <p:nvSpPr>
          <p:cNvPr id="27" name="Shape 27"/>
          <p:cNvSpPr/>
          <p:nvPr/>
        </p:nvSpPr>
        <p:spPr>
          <a:xfrm>
            <a:off x="5879592" y="3666744"/>
            <a:ext cx="475488" cy="256032"/>
          </a:xfrm>
          <a:prstGeom prst="roundRect">
            <a:avLst/>
          </a:prstGeom>
          <a:solidFill>
            <a:srgbClr val="2F7D59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28" name="TextBox 28"/>
          <p:cNvSpPr txBox="1"/>
          <p:nvPr/>
        </p:nvSpPr>
        <p:spPr>
          <a:xfrm>
            <a:off x="5879592" y="3685032"/>
            <a:ext cx="475488" cy="146304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"/>
              </a:spcAft>
            </a:pPr>
            <a:r>
              <a:rPr sz="7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446520" y="3657600"/>
            <a:ext cx="20574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71E3A"/>
                </a:solidFill>
                <a:latin typeface="Aptos"/>
                <a:ea typeface="Aptos"/>
                <a:cs typeface="Aptos"/>
              </a:rPr>
              <a:t>Mask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5897880" y="4050792"/>
            <a:ext cx="2057400" cy="9418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5"/>
              </a:spcAft>
            </a:pPr>
            <a:r>
              <a:rPr sz="900">
                <a:solidFill>
                  <a:srgbClr val="5B6878"/>
                </a:solidFill>
                <a:latin typeface="Aptos"/>
                <a:ea typeface="Aptos"/>
                <a:cs typeface="Aptos"/>
              </a:rPr>
              <a:t>Per-field deterministic rules</a:t>
            </a:r>
          </a:p>
        </p:txBody>
      </p:sp>
      <p:sp>
        <p:nvSpPr>
          <p:cNvPr id="31" name="Shape 31"/>
          <p:cNvSpPr/>
          <p:nvPr/>
        </p:nvSpPr>
        <p:spPr>
          <a:xfrm>
            <a:off x="8503920" y="3520440"/>
            <a:ext cx="2423160" cy="1508760"/>
          </a:xfrm>
          <a:prstGeom prst="roundRect">
            <a:avLst/>
          </a:prstGeom>
          <a:solidFill>
            <a:srgbClr val="EAF7EF"/>
          </a:solidFill>
          <a:ln w="9525">
            <a:solidFill>
              <a:srgbClr val="DCE4ED"/>
            </a:solidFill>
          </a:ln>
          <a:effectLst/>
        </p:spPr>
        <p:txBody>
          <a:bodyPr/>
          <a:lstStyle/>
          <a:p/>
        </p:txBody>
      </p:sp>
      <p:sp>
        <p:nvSpPr>
          <p:cNvPr id="32" name="Shape 32"/>
          <p:cNvSpPr/>
          <p:nvPr/>
        </p:nvSpPr>
        <p:spPr>
          <a:xfrm>
            <a:off x="8668512" y="3666744"/>
            <a:ext cx="475488" cy="256032"/>
          </a:xfrm>
          <a:prstGeom prst="roundRect">
            <a:avLst/>
          </a:prstGeom>
          <a:solidFill>
            <a:srgbClr val="2F7D59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33" name="TextBox 33"/>
          <p:cNvSpPr txBox="1"/>
          <p:nvPr/>
        </p:nvSpPr>
        <p:spPr>
          <a:xfrm>
            <a:off x="8668512" y="3685032"/>
            <a:ext cx="475488" cy="146304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"/>
              </a:spcAft>
            </a:pPr>
            <a:r>
              <a:rPr sz="7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9235440" y="3657600"/>
            <a:ext cx="20574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71E3A"/>
                </a:solidFill>
                <a:latin typeface="Aptos"/>
                <a:ea typeface="Aptos"/>
                <a:cs typeface="Aptos"/>
              </a:rPr>
              <a:t>Deliver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8686800" y="4050792"/>
            <a:ext cx="2057400" cy="9418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5"/>
              </a:spcAft>
            </a:pPr>
            <a:r>
              <a:rPr sz="900">
                <a:solidFill>
                  <a:srgbClr val="5B6878"/>
                </a:solidFill>
                <a:latin typeface="Aptos"/>
                <a:ea typeface="Aptos"/>
                <a:cs typeface="Aptos"/>
              </a:rPr>
              <a:t>Download or write to LPAR</a:t>
            </a:r>
          </a:p>
        </p:txBody>
      </p:sp>
      <p:sp>
        <p:nvSpPr>
          <p:cNvPr id="36" name="Shape 36"/>
          <p:cNvSpPr/>
          <p:nvPr/>
        </p:nvSpPr>
        <p:spPr>
          <a:xfrm>
            <a:off x="5715000" y="5486400"/>
            <a:ext cx="5230368" cy="347472"/>
          </a:xfrm>
          <a:prstGeom prst="roundRect">
            <a:avLst/>
          </a:prstGeom>
          <a:solidFill>
            <a:srgbClr val="FFF4E6"/>
          </a:solidFill>
          <a:ln w="9525">
            <a:solidFill>
              <a:srgbClr val="DCE4ED"/>
            </a:solidFill>
          </a:ln>
          <a:effectLst/>
        </p:spPr>
        <p:txBody>
          <a:bodyPr/>
          <a:lstStyle/>
          <a:p/>
        </p:txBody>
      </p:sp>
      <p:sp>
        <p:nvSpPr>
          <p:cNvPr id="37" name="TextBox 37"/>
          <p:cNvSpPr txBox="1"/>
          <p:nvPr/>
        </p:nvSpPr>
        <p:spPr>
          <a:xfrm>
            <a:off x="5897880" y="5596128"/>
            <a:ext cx="4800600" cy="10972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Same governance model for relational and mainframe data.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502920" y="6446520"/>
            <a:ext cx="502920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00">
                <a:solidFill>
                  <a:srgbClr val="5B6878"/>
                </a:solidFill>
                <a:latin typeface="Aptos"/>
                <a:ea typeface="Aptos"/>
                <a:cs typeface="Aptos"/>
              </a:rPr>
              <a:t>ForgeTDM capability showcase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1109960" y="6446520"/>
            <a:ext cx="45720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800">
                <a:solidFill>
                  <a:srgbClr val="5B6878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3" name="TextBox 3"/>
          <p:cNvSpPr txBox="1"/>
          <p:nvPr/>
        </p:nvSpPr>
        <p:spPr>
          <a:xfrm>
            <a:off x="502920" y="310896"/>
            <a:ext cx="365760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1D6FB8"/>
                </a:solidFill>
                <a:latin typeface="Aptos"/>
                <a:ea typeface="Aptos"/>
                <a:cs typeface="Aptos"/>
              </a:rPr>
              <a:t>VIRTUALIZATION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02920" y="566928"/>
            <a:ext cx="896112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"/>
              </a:spcAft>
            </a:pPr>
            <a:r>
              <a:rPr sz="2700" b="1">
                <a:solidFill>
                  <a:srgbClr val="071E3A"/>
                </a:solidFill>
                <a:latin typeface="Cambria"/>
                <a:ea typeface="Cambria"/>
                <a:cs typeface="Cambria"/>
              </a:rPr>
              <a:t>TimeFlow-style snapshots and thin virtual databases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972800" y="621792"/>
            <a:ext cx="59436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80"/>
              </a:spcAft>
            </a:pPr>
            <a:r>
              <a:rPr sz="1200" b="1">
                <a:solidFill>
                  <a:srgbClr val="1D6FB8"/>
                </a:solidFill>
                <a:latin typeface="Cambria"/>
                <a:ea typeface="Cambria"/>
                <a:cs typeface="Cambria"/>
              </a:rPr>
              <a:t>09</a:t>
            </a:r>
          </a:p>
        </p:txBody>
      </p:sp>
      <p:sp>
        <p:nvSpPr>
          <p:cNvPr id="6" name="Shape 6"/>
          <p:cNvSpPr/>
          <p:nvPr/>
        </p:nvSpPr>
        <p:spPr>
          <a:xfrm>
            <a:off x="502920" y="1124712"/>
            <a:ext cx="11155680" cy="20117"/>
          </a:xfrm>
          <a:prstGeom prst="rect">
            <a:avLst/>
          </a:prstGeom>
          <a:solidFill>
            <a:srgbClr val="DCE4ED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7" name="Shape 7"/>
          <p:cNvSpPr/>
          <p:nvPr/>
        </p:nvSpPr>
        <p:spPr>
          <a:xfrm>
            <a:off x="777240" y="1847088"/>
            <a:ext cx="10561320" cy="91440"/>
          </a:xfrm>
          <a:prstGeom prst="rect">
            <a:avLst/>
          </a:prstGeom>
          <a:solidFill>
            <a:srgbClr val="DCE4ED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8" name="Shape 8"/>
          <p:cNvSpPr/>
          <p:nvPr/>
        </p:nvSpPr>
        <p:spPr>
          <a:xfrm>
            <a:off x="1097280" y="1627632"/>
            <a:ext cx="512064" cy="512064"/>
          </a:xfrm>
          <a:prstGeom prst="ellipse">
            <a:avLst/>
          </a:prstGeom>
          <a:solidFill>
            <a:srgbClr val="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9" name="TextBox 9"/>
          <p:cNvSpPr txBox="1"/>
          <p:nvPr/>
        </p:nvSpPr>
        <p:spPr>
          <a:xfrm>
            <a:off x="1097280" y="1655064"/>
            <a:ext cx="512064" cy="466344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"/>
              </a:spcAft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77240" y="2240280"/>
            <a:ext cx="11430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071E3A"/>
                </a:solidFill>
                <a:latin typeface="Aptos"/>
                <a:ea typeface="Aptos"/>
                <a:cs typeface="Aptos"/>
              </a:rPr>
              <a:t>Snapshot 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02920" y="2514600"/>
            <a:ext cx="16916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>
                <a:solidFill>
                  <a:srgbClr val="5B6878"/>
                </a:solidFill>
                <a:latin typeface="Aptos"/>
                <a:ea typeface="Aptos"/>
                <a:cs typeface="Aptos"/>
              </a:rPr>
              <a:t>initial ingest</a:t>
            </a:r>
          </a:p>
        </p:txBody>
      </p:sp>
      <p:sp>
        <p:nvSpPr>
          <p:cNvPr id="12" name="Shape 12"/>
          <p:cNvSpPr/>
          <p:nvPr/>
        </p:nvSpPr>
        <p:spPr>
          <a:xfrm>
            <a:off x="3703320" y="1627632"/>
            <a:ext cx="512064" cy="512064"/>
          </a:xfrm>
          <a:prstGeom prst="ellipse">
            <a:avLst/>
          </a:prstGeom>
          <a:solidFill>
            <a:srgbClr val="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13" name="TextBox 13"/>
          <p:cNvSpPr txBox="1"/>
          <p:nvPr/>
        </p:nvSpPr>
        <p:spPr>
          <a:xfrm>
            <a:off x="3703320" y="1655064"/>
            <a:ext cx="512064" cy="466344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"/>
              </a:spcAft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383280" y="2240280"/>
            <a:ext cx="11430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071E3A"/>
                </a:solidFill>
                <a:latin typeface="Aptos"/>
                <a:ea typeface="Aptos"/>
                <a:cs typeface="Aptos"/>
              </a:rPr>
              <a:t>Snapshot 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108960" y="2514600"/>
            <a:ext cx="16916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>
                <a:solidFill>
                  <a:srgbClr val="5B6878"/>
                </a:solidFill>
                <a:latin typeface="Aptos"/>
                <a:ea typeface="Aptos"/>
                <a:cs typeface="Aptos"/>
              </a:rPr>
              <a:t>changed chunks</a:t>
            </a:r>
          </a:p>
        </p:txBody>
      </p:sp>
      <p:sp>
        <p:nvSpPr>
          <p:cNvPr id="16" name="Shape 16"/>
          <p:cNvSpPr/>
          <p:nvPr/>
        </p:nvSpPr>
        <p:spPr>
          <a:xfrm>
            <a:off x="6309360" y="1627632"/>
            <a:ext cx="512064" cy="512064"/>
          </a:xfrm>
          <a:prstGeom prst="ellipse">
            <a:avLst/>
          </a:prstGeom>
          <a:solidFill>
            <a:srgbClr val="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17" name="TextBox 17"/>
          <p:cNvSpPr txBox="1"/>
          <p:nvPr/>
        </p:nvSpPr>
        <p:spPr>
          <a:xfrm>
            <a:off x="6309360" y="1655064"/>
            <a:ext cx="512064" cy="466344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"/>
              </a:spcAft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989320" y="2240280"/>
            <a:ext cx="11430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071E3A"/>
                </a:solidFill>
                <a:latin typeface="Aptos"/>
                <a:ea typeface="Aptos"/>
                <a:cs typeface="Aptos"/>
              </a:rPr>
              <a:t>Snapshot 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715000" y="2514600"/>
            <a:ext cx="16916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>
                <a:solidFill>
                  <a:srgbClr val="5B6878"/>
                </a:solidFill>
                <a:latin typeface="Aptos"/>
                <a:ea typeface="Aptos"/>
                <a:cs typeface="Aptos"/>
              </a:rPr>
              <a:t>new branch point</a:t>
            </a:r>
          </a:p>
        </p:txBody>
      </p:sp>
      <p:sp>
        <p:nvSpPr>
          <p:cNvPr id="20" name="Shape 20"/>
          <p:cNvSpPr/>
          <p:nvPr/>
        </p:nvSpPr>
        <p:spPr>
          <a:xfrm>
            <a:off x="8915400" y="1627632"/>
            <a:ext cx="512064" cy="512064"/>
          </a:xfrm>
          <a:prstGeom prst="ellipse">
            <a:avLst/>
          </a:prstGeom>
          <a:solidFill>
            <a:srgbClr val="2F7D59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21" name="TextBox 21"/>
          <p:cNvSpPr txBox="1"/>
          <p:nvPr/>
        </p:nvSpPr>
        <p:spPr>
          <a:xfrm>
            <a:off x="8915400" y="1655064"/>
            <a:ext cx="512064" cy="466344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"/>
              </a:spcAft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595360" y="2240280"/>
            <a:ext cx="114300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1">
                <a:solidFill>
                  <a:srgbClr val="071E3A"/>
                </a:solidFill>
                <a:latin typeface="Aptos"/>
                <a:ea typeface="Aptos"/>
                <a:cs typeface="Aptos"/>
              </a:rPr>
              <a:t>Bookmark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321040" y="2514600"/>
            <a:ext cx="169164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>
                <a:solidFill>
                  <a:srgbClr val="5B6878"/>
                </a:solidFill>
                <a:latin typeface="Aptos"/>
                <a:ea typeface="Aptos"/>
                <a:cs typeface="Aptos"/>
              </a:rPr>
              <a:t>tester savepoint</a:t>
            </a:r>
          </a:p>
        </p:txBody>
      </p:sp>
      <p:sp>
        <p:nvSpPr>
          <p:cNvPr id="24" name="Shape 24"/>
          <p:cNvSpPr/>
          <p:nvPr/>
        </p:nvSpPr>
        <p:spPr>
          <a:xfrm>
            <a:off x="777240" y="3657600"/>
            <a:ext cx="2606040" cy="1417320"/>
          </a:xfrm>
          <a:prstGeom prst="roundRect">
            <a:avLst/>
          </a:prstGeom>
          <a:solidFill>
            <a:srgbClr val="F4F8FF"/>
          </a:solidFill>
          <a:ln w="9525">
            <a:solidFill>
              <a:srgbClr val="DCE4ED"/>
            </a:solidFill>
          </a:ln>
          <a:effectLst/>
        </p:spPr>
        <p:txBody>
          <a:bodyPr/>
          <a:lstStyle/>
          <a:p/>
        </p:txBody>
      </p:sp>
      <p:sp>
        <p:nvSpPr>
          <p:cNvPr id="25" name="TextBox 25"/>
          <p:cNvSpPr txBox="1"/>
          <p:nvPr/>
        </p:nvSpPr>
        <p:spPr>
          <a:xfrm>
            <a:off x="960120" y="3794760"/>
            <a:ext cx="22402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71E3A"/>
                </a:solidFill>
                <a:latin typeface="Aptos"/>
                <a:ea typeface="Aptos"/>
                <a:cs typeface="Aptos"/>
              </a:rPr>
              <a:t>POOL provider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60120" y="4187952"/>
            <a:ext cx="2240280" cy="8503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5"/>
              </a:spcAft>
            </a:pPr>
            <a:r>
              <a:rPr sz="900">
                <a:solidFill>
                  <a:srgbClr val="5B6878"/>
                </a:solidFill>
                <a:latin typeface="Aptos"/>
                <a:ea typeface="Aptos"/>
                <a:cs typeface="Aptos"/>
              </a:rPr>
              <a:t>SHA-256 chunk store, gzip compression, deduped row batches.</a:t>
            </a:r>
          </a:p>
        </p:txBody>
      </p:sp>
      <p:sp>
        <p:nvSpPr>
          <p:cNvPr id="27" name="Shape 27"/>
          <p:cNvSpPr/>
          <p:nvPr/>
        </p:nvSpPr>
        <p:spPr>
          <a:xfrm>
            <a:off x="3611880" y="3657600"/>
            <a:ext cx="2606040" cy="1417320"/>
          </a:xfrm>
          <a:prstGeom prst="roundRect">
            <a:avLst/>
          </a:prstGeom>
          <a:solidFill>
            <a:srgbClr val="EAF7EF"/>
          </a:solidFill>
          <a:ln w="9525">
            <a:solidFill>
              <a:srgbClr val="DCE4ED"/>
            </a:solidFill>
          </a:ln>
          <a:effectLst/>
        </p:spPr>
        <p:txBody>
          <a:bodyPr/>
          <a:lstStyle/>
          <a:p/>
        </p:txBody>
      </p:sp>
      <p:sp>
        <p:nvSpPr>
          <p:cNvPr id="28" name="TextBox 28"/>
          <p:cNvSpPr txBox="1"/>
          <p:nvPr/>
        </p:nvSpPr>
        <p:spPr>
          <a:xfrm>
            <a:off x="3794760" y="3794760"/>
            <a:ext cx="22402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71E3A"/>
                </a:solidFill>
                <a:latin typeface="Aptos"/>
                <a:ea typeface="Aptos"/>
                <a:cs typeface="Aptos"/>
              </a:rPr>
              <a:t>Container CoW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3794760" y="4187952"/>
            <a:ext cx="2240280" cy="8503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5"/>
              </a:spcAft>
            </a:pPr>
            <a:r>
              <a:rPr sz="900">
                <a:solidFill>
                  <a:srgbClr val="5B6878"/>
                </a:solidFill>
                <a:latin typeface="Aptos"/>
                <a:ea typeface="Aptos"/>
                <a:cs typeface="Aptos"/>
              </a:rPr>
              <a:t>Postgres physical backup, Docker overlay layers, seconds-to-VDB.</a:t>
            </a:r>
          </a:p>
        </p:txBody>
      </p:sp>
      <p:sp>
        <p:nvSpPr>
          <p:cNvPr id="30" name="Shape 30"/>
          <p:cNvSpPr/>
          <p:nvPr/>
        </p:nvSpPr>
        <p:spPr>
          <a:xfrm>
            <a:off x="6446520" y="3657600"/>
            <a:ext cx="2606040" cy="1417320"/>
          </a:xfrm>
          <a:prstGeom prst="roundRect">
            <a:avLst/>
          </a:prstGeom>
          <a:solidFill>
            <a:srgbClr val="F1EFFF"/>
          </a:solidFill>
          <a:ln w="9525">
            <a:solidFill>
              <a:srgbClr val="DCE4ED"/>
            </a:solidFill>
          </a:ln>
          <a:effectLst/>
        </p:spPr>
        <p:txBody>
          <a:bodyPr/>
          <a:lstStyle/>
          <a:p/>
        </p:txBody>
      </p:sp>
      <p:sp>
        <p:nvSpPr>
          <p:cNvPr id="31" name="TextBox 31"/>
          <p:cNvSpPr txBox="1"/>
          <p:nvPr/>
        </p:nvSpPr>
        <p:spPr>
          <a:xfrm>
            <a:off x="6629400" y="3794760"/>
            <a:ext cx="22402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71E3A"/>
                </a:solidFill>
                <a:latin typeface="Aptos"/>
                <a:ea typeface="Aptos"/>
                <a:cs typeface="Aptos"/>
              </a:rPr>
              <a:t>ZFS engine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629400" y="4187952"/>
            <a:ext cx="2240280" cy="8503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5"/>
              </a:spcAft>
            </a:pPr>
            <a:r>
              <a:rPr sz="900">
                <a:solidFill>
                  <a:srgbClr val="5B6878"/>
                </a:solidFill>
                <a:latin typeface="Aptos"/>
                <a:ea typeface="Aptos"/>
                <a:cs typeface="Aptos"/>
              </a:rPr>
              <a:t>Block-level snapshots, clones, refresh, rewind, target hosts.</a:t>
            </a:r>
          </a:p>
        </p:txBody>
      </p:sp>
      <p:sp>
        <p:nvSpPr>
          <p:cNvPr id="33" name="Shape 33"/>
          <p:cNvSpPr/>
          <p:nvPr/>
        </p:nvSpPr>
        <p:spPr>
          <a:xfrm>
            <a:off x="9281160" y="3657600"/>
            <a:ext cx="2057400" cy="1417320"/>
          </a:xfrm>
          <a:prstGeom prst="roundRect">
            <a:avLst/>
          </a:prstGeom>
          <a:solidFill>
            <a:srgbClr val="FFF4E6"/>
          </a:solidFill>
          <a:ln w="9525">
            <a:solidFill>
              <a:srgbClr val="DCE4ED"/>
            </a:solidFill>
          </a:ln>
          <a:effectLst/>
        </p:spPr>
        <p:txBody>
          <a:bodyPr/>
          <a:lstStyle/>
          <a:p/>
        </p:txBody>
      </p:sp>
      <p:sp>
        <p:nvSpPr>
          <p:cNvPr id="34" name="TextBox 34"/>
          <p:cNvSpPr txBox="1"/>
          <p:nvPr/>
        </p:nvSpPr>
        <p:spPr>
          <a:xfrm>
            <a:off x="9464040" y="3794760"/>
            <a:ext cx="169164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71E3A"/>
                </a:solidFill>
                <a:latin typeface="Aptos"/>
                <a:ea typeface="Aptos"/>
                <a:cs typeface="Aptos"/>
              </a:rPr>
              <a:t>LogSync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9464040" y="4187952"/>
            <a:ext cx="1691640" cy="8503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5"/>
              </a:spcAft>
            </a:pPr>
            <a:r>
              <a:rPr sz="900">
                <a:solidFill>
                  <a:srgbClr val="5B6878"/>
                </a:solidFill>
                <a:latin typeface="Aptos"/>
                <a:ea typeface="Aptos"/>
                <a:cs typeface="Aptos"/>
              </a:rPr>
              <a:t>WAL streaming and point-in-time recovery for Postgres + ZFS.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868680" y="5577840"/>
            <a:ext cx="102412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071E3A"/>
                </a:solidFill>
                <a:latin typeface="Aptos"/>
                <a:ea typeface="Aptos"/>
                <a:cs typeface="Aptos"/>
              </a:rPr>
              <a:t>Virtualized targets become normal ForgeTDM data sources, so they can immediately feed masking, subsetting, validation and exploration.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502920" y="6446520"/>
            <a:ext cx="502920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00">
                <a:solidFill>
                  <a:srgbClr val="5B6878"/>
                </a:solidFill>
                <a:latin typeface="Aptos"/>
                <a:ea typeface="Aptos"/>
                <a:cs typeface="Aptos"/>
              </a:rPr>
              <a:t>ForgeTDM capability showcase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1109960" y="6446520"/>
            <a:ext cx="45720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800">
                <a:solidFill>
                  <a:srgbClr val="5B6878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3" name="TextBox 3"/>
          <p:cNvSpPr txBox="1"/>
          <p:nvPr/>
        </p:nvSpPr>
        <p:spPr>
          <a:xfrm>
            <a:off x="502920" y="310896"/>
            <a:ext cx="365760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1D6FB8"/>
                </a:solidFill>
                <a:latin typeface="Aptos"/>
                <a:ea typeface="Aptos"/>
                <a:cs typeface="Aptos"/>
              </a:rPr>
              <a:t>AI COPILOT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02920" y="566928"/>
            <a:ext cx="896112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"/>
              </a:spcAft>
            </a:pPr>
            <a:r>
              <a:rPr sz="2700" b="1">
                <a:solidFill>
                  <a:srgbClr val="071E3A"/>
                </a:solidFill>
                <a:latin typeface="Cambria"/>
                <a:ea typeface="Cambria"/>
                <a:cs typeface="Cambria"/>
              </a:rPr>
              <a:t>Agentic help without giving away control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972800" y="621792"/>
            <a:ext cx="59436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80"/>
              </a:spcAft>
            </a:pPr>
            <a:r>
              <a:rPr sz="1200" b="1">
                <a:solidFill>
                  <a:srgbClr val="1D6FB8"/>
                </a:solidFill>
                <a:latin typeface="Cambria"/>
                <a:ea typeface="Cambria"/>
                <a:cs typeface="Cambria"/>
              </a:rPr>
              <a:t>10</a:t>
            </a:r>
          </a:p>
        </p:txBody>
      </p:sp>
      <p:sp>
        <p:nvSpPr>
          <p:cNvPr id="6" name="Shape 6"/>
          <p:cNvSpPr/>
          <p:nvPr/>
        </p:nvSpPr>
        <p:spPr>
          <a:xfrm>
            <a:off x="502920" y="1124712"/>
            <a:ext cx="11155680" cy="20117"/>
          </a:xfrm>
          <a:prstGeom prst="rect">
            <a:avLst/>
          </a:prstGeom>
          <a:solidFill>
            <a:srgbClr val="DCE4ED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7" name="Shape 7"/>
          <p:cNvSpPr/>
          <p:nvPr/>
        </p:nvSpPr>
        <p:spPr>
          <a:xfrm>
            <a:off x="685800" y="1554480"/>
            <a:ext cx="3840480" cy="4206240"/>
          </a:xfrm>
          <a:prstGeom prst="roundRect">
            <a:avLst/>
          </a:prstGeom>
          <a:solidFill>
            <a:srgbClr val="071E3A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8" name="TextBox 8"/>
          <p:cNvSpPr txBox="1"/>
          <p:nvPr/>
        </p:nvSpPr>
        <p:spPr>
          <a:xfrm>
            <a:off x="960120" y="1874520"/>
            <a:ext cx="3154680" cy="32004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"/>
              </a:spcAft>
            </a:pPr>
            <a:r>
              <a:rPr sz="18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What the Copilot can do</a:t>
            </a:r>
          </a:p>
        </p:txBody>
      </p:sp>
      <p:sp>
        <p:nvSpPr>
          <p:cNvPr id="9" name="Shape 9"/>
          <p:cNvSpPr/>
          <p:nvPr/>
        </p:nvSpPr>
        <p:spPr>
          <a:xfrm>
            <a:off x="960120" y="2514600"/>
            <a:ext cx="219456" cy="219456"/>
          </a:xfrm>
          <a:prstGeom prst="ellipse">
            <a:avLst/>
          </a:prstGeom>
          <a:solidFill>
            <a:srgbClr val="19A7CE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10" name="TextBox 10"/>
          <p:cNvSpPr txBox="1"/>
          <p:nvPr/>
        </p:nvSpPr>
        <p:spPr>
          <a:xfrm>
            <a:off x="960120" y="2542032"/>
            <a:ext cx="219456" cy="17373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"/>
              </a:spcAft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98448" y="2523744"/>
            <a:ext cx="2971800" cy="146304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>
                <a:solidFill>
                  <a:srgbClr val="DFF7FF"/>
                </a:solidFill>
                <a:latin typeface="Aptos"/>
                <a:ea typeface="Aptos"/>
                <a:cs typeface="Aptos"/>
              </a:rPr>
              <a:t>List data sources, schemas, tables, columns</a:t>
            </a:r>
          </a:p>
        </p:txBody>
      </p:sp>
      <p:sp>
        <p:nvSpPr>
          <p:cNvPr id="12" name="Shape 12"/>
          <p:cNvSpPr/>
          <p:nvPr/>
        </p:nvSpPr>
        <p:spPr>
          <a:xfrm>
            <a:off x="960120" y="3017520"/>
            <a:ext cx="219456" cy="219456"/>
          </a:xfrm>
          <a:prstGeom prst="ellipse">
            <a:avLst/>
          </a:prstGeom>
          <a:solidFill>
            <a:srgbClr val="19A7CE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13" name="TextBox 13"/>
          <p:cNvSpPr txBox="1"/>
          <p:nvPr/>
        </p:nvSpPr>
        <p:spPr>
          <a:xfrm>
            <a:off x="960120" y="3044952"/>
            <a:ext cx="219456" cy="17373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"/>
              </a:spcAft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98448" y="3026664"/>
            <a:ext cx="2971800" cy="146304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>
                <a:solidFill>
                  <a:srgbClr val="DFF7FF"/>
                </a:solidFill>
                <a:latin typeface="Aptos"/>
                <a:ea typeface="Aptos"/>
                <a:cs typeface="Aptos"/>
              </a:rPr>
              <a:t>Explain policies and masking rules</a:t>
            </a:r>
          </a:p>
        </p:txBody>
      </p:sp>
      <p:sp>
        <p:nvSpPr>
          <p:cNvPr id="15" name="Shape 15"/>
          <p:cNvSpPr/>
          <p:nvPr/>
        </p:nvSpPr>
        <p:spPr>
          <a:xfrm>
            <a:off x="960120" y="3520440"/>
            <a:ext cx="219456" cy="219456"/>
          </a:xfrm>
          <a:prstGeom prst="ellipse">
            <a:avLst/>
          </a:prstGeom>
          <a:solidFill>
            <a:srgbClr val="19A7CE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16" name="TextBox 16"/>
          <p:cNvSpPr txBox="1"/>
          <p:nvPr/>
        </p:nvSpPr>
        <p:spPr>
          <a:xfrm>
            <a:off x="960120" y="3547872"/>
            <a:ext cx="219456" cy="17373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"/>
              </a:spcAft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98448" y="3529584"/>
            <a:ext cx="2971800" cy="146304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>
                <a:solidFill>
                  <a:srgbClr val="DFF7FF"/>
                </a:solidFill>
                <a:latin typeface="Aptos"/>
                <a:ea typeface="Aptos"/>
                <a:cs typeface="Aptos"/>
              </a:rPr>
              <a:t>Run discovery and generate a policy</a:t>
            </a:r>
          </a:p>
        </p:txBody>
      </p:sp>
      <p:sp>
        <p:nvSpPr>
          <p:cNvPr id="18" name="Shape 18"/>
          <p:cNvSpPr/>
          <p:nvPr/>
        </p:nvSpPr>
        <p:spPr>
          <a:xfrm>
            <a:off x="960120" y="4023360"/>
            <a:ext cx="219456" cy="219456"/>
          </a:xfrm>
          <a:prstGeom prst="ellipse">
            <a:avLst/>
          </a:prstGeom>
          <a:solidFill>
            <a:srgbClr val="19A7CE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19" name="TextBox 19"/>
          <p:cNvSpPr txBox="1"/>
          <p:nvPr/>
        </p:nvSpPr>
        <p:spPr>
          <a:xfrm>
            <a:off x="960120" y="4050792"/>
            <a:ext cx="219456" cy="17373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"/>
              </a:spcAft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98448" y="4032504"/>
            <a:ext cx="2971800" cy="146304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>
                <a:solidFill>
                  <a:srgbClr val="DFF7FF"/>
                </a:solidFill>
                <a:latin typeface="Aptos"/>
                <a:ea typeface="Aptos"/>
                <a:cs typeface="Aptos"/>
              </a:rPr>
              <a:t>Submit jobs and generate synthetic plans</a:t>
            </a:r>
          </a:p>
        </p:txBody>
      </p:sp>
      <p:sp>
        <p:nvSpPr>
          <p:cNvPr id="21" name="Shape 21"/>
          <p:cNvSpPr/>
          <p:nvPr/>
        </p:nvSpPr>
        <p:spPr>
          <a:xfrm>
            <a:off x="960120" y="4526280"/>
            <a:ext cx="219456" cy="219456"/>
          </a:xfrm>
          <a:prstGeom prst="ellipse">
            <a:avLst/>
          </a:prstGeom>
          <a:solidFill>
            <a:srgbClr val="19A7CE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22" name="TextBox 22"/>
          <p:cNvSpPr txBox="1"/>
          <p:nvPr/>
        </p:nvSpPr>
        <p:spPr>
          <a:xfrm>
            <a:off x="960120" y="4553712"/>
            <a:ext cx="219456" cy="17373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"/>
              </a:spcAft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298448" y="4535424"/>
            <a:ext cx="2971800" cy="146304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>
                <a:solidFill>
                  <a:srgbClr val="DFF7FF"/>
                </a:solidFill>
                <a:latin typeface="Aptos"/>
                <a:ea typeface="Aptos"/>
                <a:cs typeface="Aptos"/>
              </a:rPr>
              <a:t>Inspect job status and validation context</a:t>
            </a:r>
          </a:p>
        </p:txBody>
      </p:sp>
      <p:sp>
        <p:nvSpPr>
          <p:cNvPr id="24" name="Shape 24"/>
          <p:cNvSpPr/>
          <p:nvPr/>
        </p:nvSpPr>
        <p:spPr>
          <a:xfrm>
            <a:off x="4983480" y="1554480"/>
            <a:ext cx="2834640" cy="1828800"/>
          </a:xfrm>
          <a:prstGeom prst="roundRect">
            <a:avLst/>
          </a:prstGeom>
          <a:solidFill>
            <a:srgbClr val="F4F8FF"/>
          </a:solidFill>
          <a:ln w="9525">
            <a:solidFill>
              <a:srgbClr val="DCE4ED"/>
            </a:solidFill>
          </a:ln>
          <a:effectLst/>
        </p:spPr>
        <p:txBody>
          <a:bodyPr/>
          <a:lstStyle/>
          <a:p/>
        </p:txBody>
      </p:sp>
      <p:sp>
        <p:nvSpPr>
          <p:cNvPr id="25" name="Shape 25"/>
          <p:cNvSpPr/>
          <p:nvPr/>
        </p:nvSpPr>
        <p:spPr>
          <a:xfrm>
            <a:off x="5148072" y="1700784"/>
            <a:ext cx="475488" cy="256032"/>
          </a:xfrm>
          <a:prstGeom prst="roundRect">
            <a:avLst/>
          </a:prstGeom>
          <a:solidFill>
            <a:srgbClr val="1D6FB8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26" name="TextBox 26"/>
          <p:cNvSpPr txBox="1"/>
          <p:nvPr/>
        </p:nvSpPr>
        <p:spPr>
          <a:xfrm>
            <a:off x="5148072" y="1719072"/>
            <a:ext cx="475488" cy="146304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"/>
              </a:spcAft>
            </a:pPr>
            <a:r>
              <a:rPr sz="7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SAFE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715000" y="1691640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71E3A"/>
                </a:solidFill>
                <a:latin typeface="Aptos"/>
                <a:ea typeface="Aptos"/>
                <a:cs typeface="Aptos"/>
              </a:rPr>
              <a:t>Metadata first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5166360" y="2084832"/>
            <a:ext cx="2468880" cy="126187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5"/>
              </a:spcAft>
            </a:pPr>
            <a:r>
              <a:rPr sz="900">
                <a:solidFill>
                  <a:srgbClr val="5B6878"/>
                </a:solidFill>
                <a:latin typeface="Aptos"/>
                <a:ea typeface="Aptos"/>
                <a:cs typeface="Aptos"/>
              </a:rPr>
              <a:t>Copilot works from catalog, policies, plans and job metadata.</a:t>
            </a:r>
          </a:p>
          <a:p>
            <a:pPr algn="l">
              <a:spcAft>
                <a:spcPts val="95"/>
              </a:spcAft>
            </a:pPr>
            <a:r>
              <a:rPr sz="900">
                <a:solidFill>
                  <a:srgbClr val="5B6878"/>
                </a:solidFill>
                <a:latin typeface="Aptos"/>
                <a:ea typeface="Aptos"/>
                <a:cs typeface="Aptos"/>
              </a:rPr>
              <a:t>No need to expose raw PII to the model.</a:t>
            </a:r>
          </a:p>
        </p:txBody>
      </p:sp>
      <p:sp>
        <p:nvSpPr>
          <p:cNvPr id="29" name="Shape 29"/>
          <p:cNvSpPr/>
          <p:nvPr/>
        </p:nvSpPr>
        <p:spPr>
          <a:xfrm>
            <a:off x="8183880" y="1554480"/>
            <a:ext cx="2834640" cy="1828800"/>
          </a:xfrm>
          <a:prstGeom prst="roundRect">
            <a:avLst/>
          </a:prstGeom>
          <a:solidFill>
            <a:srgbClr val="EAF7EF"/>
          </a:solidFill>
          <a:ln w="9525">
            <a:solidFill>
              <a:srgbClr val="DCE4ED"/>
            </a:solidFill>
          </a:ln>
          <a:effectLst/>
        </p:spPr>
        <p:txBody>
          <a:bodyPr/>
          <a:lstStyle/>
          <a:p/>
        </p:txBody>
      </p:sp>
      <p:sp>
        <p:nvSpPr>
          <p:cNvPr id="30" name="Shape 30"/>
          <p:cNvSpPr/>
          <p:nvPr/>
        </p:nvSpPr>
        <p:spPr>
          <a:xfrm>
            <a:off x="8348472" y="1700784"/>
            <a:ext cx="475488" cy="256032"/>
          </a:xfrm>
          <a:prstGeom prst="roundRect">
            <a:avLst/>
          </a:prstGeom>
          <a:solidFill>
            <a:srgbClr val="2F7D59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31" name="TextBox 31"/>
          <p:cNvSpPr txBox="1"/>
          <p:nvPr/>
        </p:nvSpPr>
        <p:spPr>
          <a:xfrm>
            <a:off x="8348472" y="1719072"/>
            <a:ext cx="475488" cy="146304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"/>
              </a:spcAft>
            </a:pPr>
            <a:r>
              <a:rPr sz="7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CONTROL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8915400" y="1691640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71E3A"/>
                </a:solidFill>
                <a:latin typeface="Aptos"/>
                <a:ea typeface="Aptos"/>
                <a:cs typeface="Aptos"/>
              </a:rPr>
              <a:t>Approval gates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366760" y="2084832"/>
            <a:ext cx="2468880" cy="126187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5"/>
              </a:spcAft>
            </a:pPr>
            <a:r>
              <a:rPr sz="900">
                <a:solidFill>
                  <a:srgbClr val="5B6878"/>
                </a:solidFill>
                <a:latin typeface="Aptos"/>
                <a:ea typeface="Aptos"/>
                <a:cs typeface="Aptos"/>
              </a:rPr>
              <a:t>Actions such as generate policy or submit job require confirmation.</a:t>
            </a:r>
          </a:p>
          <a:p>
            <a:pPr algn="l">
              <a:spcAft>
                <a:spcPts val="95"/>
              </a:spcAft>
            </a:pPr>
            <a:r>
              <a:rPr sz="900">
                <a:solidFill>
                  <a:srgbClr val="5B6878"/>
                </a:solidFill>
                <a:latin typeface="Aptos"/>
                <a:ea typeface="Aptos"/>
                <a:cs typeface="Aptos"/>
              </a:rPr>
              <a:t>Humans stay in control.</a:t>
            </a:r>
          </a:p>
        </p:txBody>
      </p:sp>
      <p:sp>
        <p:nvSpPr>
          <p:cNvPr id="34" name="Shape 34"/>
          <p:cNvSpPr/>
          <p:nvPr/>
        </p:nvSpPr>
        <p:spPr>
          <a:xfrm>
            <a:off x="4983480" y="3886200"/>
            <a:ext cx="2834640" cy="1600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E4ED"/>
            </a:solidFill>
          </a:ln>
          <a:effectLst/>
        </p:spPr>
        <p:txBody>
          <a:bodyPr/>
          <a:lstStyle/>
          <a:p/>
        </p:txBody>
      </p:sp>
      <p:sp>
        <p:nvSpPr>
          <p:cNvPr id="35" name="TextBox 35"/>
          <p:cNvSpPr txBox="1"/>
          <p:nvPr/>
        </p:nvSpPr>
        <p:spPr>
          <a:xfrm>
            <a:off x="5166360" y="4023360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71E3A"/>
                </a:solidFill>
                <a:latin typeface="Aptos"/>
                <a:ea typeface="Aptos"/>
                <a:cs typeface="Aptos"/>
              </a:rPr>
              <a:t>Demo moment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5166360" y="4416552"/>
            <a:ext cx="2468880" cy="103327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5"/>
              </a:spcAft>
            </a:pPr>
            <a:r>
              <a:rPr sz="900">
                <a:solidFill>
                  <a:srgbClr val="5B6878"/>
                </a:solidFill>
                <a:latin typeface="Aptos"/>
                <a:ea typeface="Aptos"/>
                <a:cs typeface="Aptos"/>
              </a:rPr>
              <a:t>Ask: create a masked subset for QA from this DataScope blueprint with seed 2026.</a:t>
            </a:r>
          </a:p>
          <a:p>
            <a:pPr algn="l">
              <a:spcAft>
                <a:spcPts val="95"/>
              </a:spcAft>
            </a:pPr>
            <a:r>
              <a:rPr sz="900">
                <a:solidFill>
                  <a:srgbClr val="5B6878"/>
                </a:solidFill>
                <a:latin typeface="Aptos"/>
                <a:ea typeface="Aptos"/>
                <a:cs typeface="Aptos"/>
              </a:rPr>
              <a:t>Then approve and monitor.</a:t>
            </a:r>
          </a:p>
        </p:txBody>
      </p:sp>
      <p:sp>
        <p:nvSpPr>
          <p:cNvPr id="37" name="Shape 37"/>
          <p:cNvSpPr/>
          <p:nvPr/>
        </p:nvSpPr>
        <p:spPr>
          <a:xfrm>
            <a:off x="8183880" y="3886200"/>
            <a:ext cx="2834640" cy="1600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E4ED"/>
            </a:solidFill>
          </a:ln>
          <a:effectLst/>
        </p:spPr>
        <p:txBody>
          <a:bodyPr/>
          <a:lstStyle/>
          <a:p/>
        </p:txBody>
      </p:sp>
      <p:sp>
        <p:nvSpPr>
          <p:cNvPr id="38" name="TextBox 38"/>
          <p:cNvSpPr txBox="1"/>
          <p:nvPr/>
        </p:nvSpPr>
        <p:spPr>
          <a:xfrm>
            <a:off x="8366760" y="4023360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71E3A"/>
                </a:solidFill>
                <a:latin typeface="Aptos"/>
                <a:ea typeface="Aptos"/>
                <a:cs typeface="Aptos"/>
              </a:rPr>
              <a:t>Architecture fit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8366760" y="4416552"/>
            <a:ext cx="2468880" cy="103327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5"/>
              </a:spcAft>
            </a:pPr>
            <a:r>
              <a:rPr sz="900">
                <a:solidFill>
                  <a:srgbClr val="5B6878"/>
                </a:solidFill>
                <a:latin typeface="Aptos"/>
                <a:ea typeface="Aptos"/>
                <a:cs typeface="Aptos"/>
              </a:rPr>
              <a:t>Works with OpenAI-compatible providers and local endpoints.</a:t>
            </a:r>
          </a:p>
          <a:p>
            <a:pPr algn="l">
              <a:spcAft>
                <a:spcPts val="95"/>
              </a:spcAft>
            </a:pPr>
            <a:r>
              <a:rPr sz="900">
                <a:solidFill>
                  <a:srgbClr val="5B6878"/>
                </a:solidFill>
                <a:latin typeface="Aptos"/>
                <a:ea typeface="Aptos"/>
                <a:cs typeface="Aptos"/>
              </a:rPr>
              <a:t>Pluggable LLM client.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502920" y="6446520"/>
            <a:ext cx="502920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00">
                <a:solidFill>
                  <a:srgbClr val="5B6878"/>
                </a:solidFill>
                <a:latin typeface="Aptos"/>
                <a:ea typeface="Aptos"/>
                <a:cs typeface="Aptos"/>
              </a:rPr>
              <a:t>ForgeTDM capability showcase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1109960" y="6446520"/>
            <a:ext cx="45720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800">
                <a:solidFill>
                  <a:srgbClr val="5B6878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3" name="TextBox 3"/>
          <p:cNvSpPr txBox="1"/>
          <p:nvPr/>
        </p:nvSpPr>
        <p:spPr>
          <a:xfrm>
            <a:off x="502920" y="310896"/>
            <a:ext cx="365760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1D6FB8"/>
                </a:solidFill>
                <a:latin typeface="Aptos"/>
                <a:ea typeface="Aptos"/>
                <a:cs typeface="Aptos"/>
              </a:rPr>
              <a:t>WHY FORGETDM STANDS OUT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02920" y="566928"/>
            <a:ext cx="8961120" cy="5029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"/>
              </a:spcAft>
            </a:pPr>
            <a:r>
              <a:rPr sz="2700" b="1">
                <a:solidFill>
                  <a:srgbClr val="071E3A"/>
                </a:solidFill>
                <a:latin typeface="Cambria"/>
                <a:ea typeface="Cambria"/>
                <a:cs typeface="Cambria"/>
              </a:rPr>
              <a:t>A credible story for buyers and stakeholders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972800" y="621792"/>
            <a:ext cx="59436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80"/>
              </a:spcAft>
            </a:pPr>
            <a:r>
              <a:rPr sz="1200" b="1">
                <a:solidFill>
                  <a:srgbClr val="1D6FB8"/>
                </a:solidFill>
                <a:latin typeface="Cambria"/>
                <a:ea typeface="Cambria"/>
                <a:cs typeface="Cambria"/>
              </a:rPr>
              <a:t>11</a:t>
            </a:r>
          </a:p>
        </p:txBody>
      </p:sp>
      <p:sp>
        <p:nvSpPr>
          <p:cNvPr id="6" name="Shape 6"/>
          <p:cNvSpPr/>
          <p:nvPr/>
        </p:nvSpPr>
        <p:spPr>
          <a:xfrm>
            <a:off x="502920" y="1124712"/>
            <a:ext cx="11155680" cy="20117"/>
          </a:xfrm>
          <a:prstGeom prst="rect">
            <a:avLst/>
          </a:prstGeom>
          <a:solidFill>
            <a:srgbClr val="DCE4ED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7" name="Shape 7"/>
          <p:cNvSpPr/>
          <p:nvPr/>
        </p:nvSpPr>
        <p:spPr>
          <a:xfrm>
            <a:off x="685800" y="1554480"/>
            <a:ext cx="3337560" cy="1417320"/>
          </a:xfrm>
          <a:prstGeom prst="roundRect">
            <a:avLst/>
          </a:prstGeom>
          <a:solidFill>
            <a:srgbClr val="F4F8FF"/>
          </a:solidFill>
          <a:ln w="9525">
            <a:solidFill>
              <a:srgbClr val="DCE4ED"/>
            </a:solidFill>
          </a:ln>
          <a:effectLst/>
        </p:spPr>
        <p:txBody>
          <a:bodyPr/>
          <a:lstStyle/>
          <a:p/>
        </p:txBody>
      </p:sp>
      <p:sp>
        <p:nvSpPr>
          <p:cNvPr id="8" name="TextBox 8"/>
          <p:cNvSpPr txBox="1"/>
          <p:nvPr/>
        </p:nvSpPr>
        <p:spPr>
          <a:xfrm>
            <a:off x="868680" y="1691640"/>
            <a:ext cx="29718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71E3A"/>
                </a:solidFill>
                <a:latin typeface="Aptos"/>
                <a:ea typeface="Aptos"/>
                <a:cs typeface="Aptos"/>
              </a:rPr>
              <a:t>One control plane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68680" y="2084832"/>
            <a:ext cx="2971800" cy="8503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5"/>
              </a:spcAft>
            </a:pPr>
            <a:r>
              <a:rPr sz="900">
                <a:solidFill>
                  <a:srgbClr val="5B6878"/>
                </a:solidFill>
                <a:latin typeface="Aptos"/>
                <a:ea typeface="Aptos"/>
                <a:cs typeface="Aptos"/>
              </a:rPr>
              <a:t>Relational DBs, mainframe files, synthetic generation and virtual databases in one workflow.</a:t>
            </a:r>
          </a:p>
        </p:txBody>
      </p:sp>
      <p:sp>
        <p:nvSpPr>
          <p:cNvPr id="10" name="Shape 10"/>
          <p:cNvSpPr/>
          <p:nvPr/>
        </p:nvSpPr>
        <p:spPr>
          <a:xfrm>
            <a:off x="4389120" y="1554480"/>
            <a:ext cx="3337560" cy="1417320"/>
          </a:xfrm>
          <a:prstGeom prst="roundRect">
            <a:avLst/>
          </a:prstGeom>
          <a:solidFill>
            <a:srgbClr val="F4F8FF"/>
          </a:solidFill>
          <a:ln w="9525">
            <a:solidFill>
              <a:srgbClr val="DCE4ED"/>
            </a:solidFill>
          </a:ln>
          <a:effectLst/>
        </p:spPr>
        <p:txBody>
          <a:bodyPr/>
          <a:lstStyle/>
          <a:p/>
        </p:txBody>
      </p:sp>
      <p:sp>
        <p:nvSpPr>
          <p:cNvPr id="11" name="TextBox 11"/>
          <p:cNvSpPr txBox="1"/>
          <p:nvPr/>
        </p:nvSpPr>
        <p:spPr>
          <a:xfrm>
            <a:off x="4572000" y="1691640"/>
            <a:ext cx="29718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71E3A"/>
                </a:solidFill>
                <a:latin typeface="Aptos"/>
                <a:ea typeface="Aptos"/>
                <a:cs typeface="Aptos"/>
              </a:rPr>
              <a:t>Optim-style precision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572000" y="2084832"/>
            <a:ext cx="2971800" cy="8503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5"/>
              </a:spcAft>
            </a:pPr>
            <a:r>
              <a:rPr sz="900">
                <a:solidFill>
                  <a:srgbClr val="5B6878"/>
                </a:solidFill>
                <a:latin typeface="Aptos"/>
                <a:ea typeface="Aptos"/>
                <a:cs typeface="Aptos"/>
              </a:rPr>
              <a:t>DataScope table maps, column maps, RI traversal and load behavior are explicit.</a:t>
            </a:r>
          </a:p>
        </p:txBody>
      </p:sp>
      <p:sp>
        <p:nvSpPr>
          <p:cNvPr id="13" name="Shape 13"/>
          <p:cNvSpPr/>
          <p:nvPr/>
        </p:nvSpPr>
        <p:spPr>
          <a:xfrm>
            <a:off x="8092440" y="1554480"/>
            <a:ext cx="3337560" cy="1417320"/>
          </a:xfrm>
          <a:prstGeom prst="roundRect">
            <a:avLst/>
          </a:prstGeom>
          <a:solidFill>
            <a:srgbClr val="F4F8FF"/>
          </a:solidFill>
          <a:ln w="9525">
            <a:solidFill>
              <a:srgbClr val="DCE4ED"/>
            </a:solidFill>
          </a:ln>
          <a:effectLst/>
        </p:spPr>
        <p:txBody>
          <a:bodyPr/>
          <a:lstStyle/>
          <a:p/>
        </p:txBody>
      </p:sp>
      <p:sp>
        <p:nvSpPr>
          <p:cNvPr id="14" name="TextBox 14"/>
          <p:cNvSpPr txBox="1"/>
          <p:nvPr/>
        </p:nvSpPr>
        <p:spPr>
          <a:xfrm>
            <a:off x="8275320" y="1691640"/>
            <a:ext cx="29718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71E3A"/>
                </a:solidFill>
                <a:latin typeface="Aptos"/>
                <a:ea typeface="Aptos"/>
                <a:cs typeface="Aptos"/>
              </a:rPr>
              <a:t>Proof built in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275320" y="2084832"/>
            <a:ext cx="2971800" cy="8503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5"/>
              </a:spcAft>
            </a:pPr>
            <a:r>
              <a:rPr sz="900">
                <a:solidFill>
                  <a:srgbClr val="5B6878"/>
                </a:solidFill>
                <a:latin typeface="Aptos"/>
                <a:ea typeface="Aptos"/>
                <a:cs typeface="Aptos"/>
              </a:rPr>
              <a:t>Validation and audit create evidence, not just transformed data.</a:t>
            </a:r>
          </a:p>
        </p:txBody>
      </p:sp>
      <p:sp>
        <p:nvSpPr>
          <p:cNvPr id="16" name="Shape 16"/>
          <p:cNvSpPr/>
          <p:nvPr/>
        </p:nvSpPr>
        <p:spPr>
          <a:xfrm>
            <a:off x="685800" y="3291840"/>
            <a:ext cx="3337560" cy="1417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E4ED"/>
            </a:solidFill>
          </a:ln>
          <a:effectLst/>
        </p:spPr>
        <p:txBody>
          <a:bodyPr/>
          <a:lstStyle/>
          <a:p/>
        </p:txBody>
      </p:sp>
      <p:sp>
        <p:nvSpPr>
          <p:cNvPr id="17" name="TextBox 17"/>
          <p:cNvSpPr txBox="1"/>
          <p:nvPr/>
        </p:nvSpPr>
        <p:spPr>
          <a:xfrm>
            <a:off x="868680" y="3429000"/>
            <a:ext cx="29718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71E3A"/>
                </a:solidFill>
                <a:latin typeface="Aptos"/>
                <a:ea typeface="Aptos"/>
                <a:cs typeface="Aptos"/>
              </a:rPr>
              <a:t>Realistic data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68680" y="3822192"/>
            <a:ext cx="2971800" cy="8503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5"/>
              </a:spcAft>
            </a:pPr>
            <a:r>
              <a:rPr sz="900">
                <a:solidFill>
                  <a:srgbClr val="5B6878"/>
                </a:solidFill>
                <a:latin typeface="Aptos"/>
                <a:ea typeface="Aptos"/>
                <a:cs typeface="Aptos"/>
              </a:rPr>
              <a:t>Masking preserves useful formats; synthetic generation preserves relationships.</a:t>
            </a:r>
          </a:p>
        </p:txBody>
      </p:sp>
      <p:sp>
        <p:nvSpPr>
          <p:cNvPr id="19" name="Shape 19"/>
          <p:cNvSpPr/>
          <p:nvPr/>
        </p:nvSpPr>
        <p:spPr>
          <a:xfrm>
            <a:off x="4389120" y="3291840"/>
            <a:ext cx="3337560" cy="1417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E4ED"/>
            </a:solidFill>
          </a:ln>
          <a:effectLst/>
        </p:spPr>
        <p:txBody>
          <a:bodyPr/>
          <a:lstStyle/>
          <a:p/>
        </p:txBody>
      </p:sp>
      <p:sp>
        <p:nvSpPr>
          <p:cNvPr id="20" name="TextBox 20"/>
          <p:cNvSpPr txBox="1"/>
          <p:nvPr/>
        </p:nvSpPr>
        <p:spPr>
          <a:xfrm>
            <a:off x="4572000" y="3429000"/>
            <a:ext cx="29718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71E3A"/>
                </a:solidFill>
                <a:latin typeface="Aptos"/>
                <a:ea typeface="Aptos"/>
                <a:cs typeface="Aptos"/>
              </a:rPr>
              <a:t>Fast delivery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572000" y="3822192"/>
            <a:ext cx="2971800" cy="8503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5"/>
              </a:spcAft>
            </a:pPr>
            <a:r>
              <a:rPr sz="900">
                <a:solidFill>
                  <a:srgbClr val="5B6878"/>
                </a:solidFill>
                <a:latin typeface="Aptos"/>
                <a:ea typeface="Aptos"/>
                <a:cs typeface="Aptos"/>
              </a:rPr>
              <a:t>Async jobs, cancel, batch tuning, VDB snapshots and self-service flows.</a:t>
            </a:r>
          </a:p>
        </p:txBody>
      </p:sp>
      <p:sp>
        <p:nvSpPr>
          <p:cNvPr id="22" name="Shape 22"/>
          <p:cNvSpPr/>
          <p:nvPr/>
        </p:nvSpPr>
        <p:spPr>
          <a:xfrm>
            <a:off x="8092440" y="3291840"/>
            <a:ext cx="3337560" cy="1417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E4ED"/>
            </a:solidFill>
          </a:ln>
          <a:effectLst/>
        </p:spPr>
        <p:txBody>
          <a:bodyPr/>
          <a:lstStyle/>
          <a:p/>
        </p:txBody>
      </p:sp>
      <p:sp>
        <p:nvSpPr>
          <p:cNvPr id="23" name="TextBox 23"/>
          <p:cNvSpPr txBox="1"/>
          <p:nvPr/>
        </p:nvSpPr>
        <p:spPr>
          <a:xfrm>
            <a:off x="8275320" y="3429000"/>
            <a:ext cx="29718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71E3A"/>
                </a:solidFill>
                <a:latin typeface="Aptos"/>
                <a:ea typeface="Aptos"/>
                <a:cs typeface="Aptos"/>
              </a:rPr>
              <a:t>Extensible platform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275320" y="3822192"/>
            <a:ext cx="2971800" cy="8503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5"/>
              </a:spcAft>
            </a:pPr>
            <a:r>
              <a:rPr sz="900">
                <a:solidFill>
                  <a:srgbClr val="5B6878"/>
                </a:solidFill>
                <a:latin typeface="Aptos"/>
                <a:ea typeface="Aptos"/>
                <a:cs typeface="Aptos"/>
              </a:rPr>
              <a:t>Spring Boot REST API, Flyway, JDBC dialects, Docker/ZFS providers and AI tools.</a:t>
            </a:r>
          </a:p>
        </p:txBody>
      </p:sp>
      <p:sp>
        <p:nvSpPr>
          <p:cNvPr id="25" name="Shape 25"/>
          <p:cNvSpPr/>
          <p:nvPr/>
        </p:nvSpPr>
        <p:spPr>
          <a:xfrm>
            <a:off x="1143000" y="5394960"/>
            <a:ext cx="9921240" cy="411480"/>
          </a:xfrm>
          <a:prstGeom prst="roundRect">
            <a:avLst/>
          </a:prstGeom>
          <a:solidFill>
            <a:srgbClr val="071E3A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26" name="TextBox 26"/>
          <p:cNvSpPr txBox="1"/>
          <p:nvPr/>
        </p:nvSpPr>
        <p:spPr>
          <a:xfrm>
            <a:off x="1325880" y="5522976"/>
            <a:ext cx="9509760" cy="10972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Positioning: ForgeTDM combines the best ideas from Optim, Delphix, GenRocket and CA TDM into one practical platform.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02920" y="6446520"/>
            <a:ext cx="502920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00">
                <a:solidFill>
                  <a:srgbClr val="5B6878"/>
                </a:solidFill>
                <a:latin typeface="Aptos"/>
                <a:ea typeface="Aptos"/>
                <a:cs typeface="Aptos"/>
              </a:rPr>
              <a:t>ForgeTDM capability showcase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1109960" y="6446520"/>
            <a:ext cx="45720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800">
                <a:solidFill>
                  <a:srgbClr val="5B6878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E3A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3" name="Shap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E3A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4" name="TextBox 4"/>
          <p:cNvSpPr txBox="1"/>
          <p:nvPr/>
        </p:nvSpPr>
        <p:spPr>
          <a:xfrm>
            <a:off x="685800" y="749808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9A7CE"/>
                </a:solidFill>
                <a:latin typeface="Aptos"/>
                <a:ea typeface="Aptos"/>
                <a:cs typeface="Aptos"/>
              </a:rPr>
              <a:t>SHOWCASE SCRIPT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85800" y="1051560"/>
            <a:ext cx="8503920" cy="64008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"/>
              </a:spcAft>
            </a:pPr>
            <a:r>
              <a:rPr sz="33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A compelling 12-minute demo flow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13232" y="1783080"/>
            <a:ext cx="8778240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>
                <a:solidFill>
                  <a:srgbClr val="CBDEF6"/>
                </a:solidFill>
                <a:latin typeface="Aptos"/>
                <a:ea typeface="Aptos"/>
                <a:cs typeface="Aptos"/>
              </a:rPr>
              <a:t>Use this run-of-show to make the tool feel like a complete product, not a set of screens.</a:t>
            </a:r>
          </a:p>
        </p:txBody>
      </p:sp>
      <p:sp>
        <p:nvSpPr>
          <p:cNvPr id="7" name="Shape 7"/>
          <p:cNvSpPr/>
          <p:nvPr/>
        </p:nvSpPr>
        <p:spPr>
          <a:xfrm>
            <a:off x="777240" y="2514600"/>
            <a:ext cx="4892040" cy="713232"/>
          </a:xfrm>
          <a:prstGeom prst="roundRect">
            <a:avLst/>
          </a:prstGeom>
          <a:solidFill>
            <a:srgbClr val="0D2D55"/>
          </a:solidFill>
          <a:ln w="9525">
            <a:solidFill>
              <a:srgbClr val="9FC2EE"/>
            </a:solidFill>
          </a:ln>
          <a:effectLst/>
        </p:spPr>
        <p:txBody>
          <a:bodyPr/>
          <a:lstStyle/>
          <a:p/>
        </p:txBody>
      </p:sp>
      <p:sp>
        <p:nvSpPr>
          <p:cNvPr id="8" name="Shape 8"/>
          <p:cNvSpPr/>
          <p:nvPr/>
        </p:nvSpPr>
        <p:spPr>
          <a:xfrm>
            <a:off x="978408" y="2670048"/>
            <a:ext cx="384048" cy="384048"/>
          </a:xfrm>
          <a:prstGeom prst="ellipse">
            <a:avLst/>
          </a:prstGeom>
          <a:solidFill>
            <a:srgbClr val="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9" name="TextBox 9"/>
          <p:cNvSpPr txBox="1"/>
          <p:nvPr/>
        </p:nvSpPr>
        <p:spPr>
          <a:xfrm>
            <a:off x="978408" y="2697480"/>
            <a:ext cx="384048" cy="338328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"/>
              </a:spcAft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527048" y="2660904"/>
            <a:ext cx="114300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Connect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651760" y="2660904"/>
            <a:ext cx="274320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>
                <a:solidFill>
                  <a:srgbClr val="DFF7FF"/>
                </a:solidFill>
                <a:latin typeface="Aptos"/>
                <a:ea typeface="Aptos"/>
                <a:cs typeface="Aptos"/>
              </a:rPr>
              <a:t>Open Data Sources, test source and target.</a:t>
            </a:r>
          </a:p>
        </p:txBody>
      </p:sp>
      <p:sp>
        <p:nvSpPr>
          <p:cNvPr id="12" name="Shape 12"/>
          <p:cNvSpPr/>
          <p:nvPr/>
        </p:nvSpPr>
        <p:spPr>
          <a:xfrm>
            <a:off x="6217920" y="2514600"/>
            <a:ext cx="4892040" cy="713232"/>
          </a:xfrm>
          <a:prstGeom prst="roundRect">
            <a:avLst/>
          </a:prstGeom>
          <a:solidFill>
            <a:srgbClr val="0D2D55"/>
          </a:solidFill>
          <a:ln w="9525">
            <a:solidFill>
              <a:srgbClr val="9FC2EE"/>
            </a:solidFill>
          </a:ln>
          <a:effectLst/>
        </p:spPr>
        <p:txBody>
          <a:bodyPr/>
          <a:lstStyle/>
          <a:p/>
        </p:txBody>
      </p:sp>
      <p:sp>
        <p:nvSpPr>
          <p:cNvPr id="13" name="Shape 13"/>
          <p:cNvSpPr/>
          <p:nvPr/>
        </p:nvSpPr>
        <p:spPr>
          <a:xfrm>
            <a:off x="6419088" y="2670048"/>
            <a:ext cx="384048" cy="384048"/>
          </a:xfrm>
          <a:prstGeom prst="ellipse">
            <a:avLst/>
          </a:prstGeom>
          <a:solidFill>
            <a:srgbClr val="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14" name="TextBox 14"/>
          <p:cNvSpPr txBox="1"/>
          <p:nvPr/>
        </p:nvSpPr>
        <p:spPr>
          <a:xfrm>
            <a:off x="6419088" y="2697480"/>
            <a:ext cx="384048" cy="338328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"/>
              </a:spcAft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967728" y="2660904"/>
            <a:ext cx="114300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Discover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092440" y="2660904"/>
            <a:ext cx="274320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>
                <a:solidFill>
                  <a:srgbClr val="DFF7FF"/>
                </a:solidFill>
                <a:latin typeface="Aptos"/>
                <a:ea typeface="Aptos"/>
                <a:cs typeface="Aptos"/>
              </a:rPr>
              <a:t>Run PII Discovery, approve findings, generate policy.</a:t>
            </a:r>
          </a:p>
        </p:txBody>
      </p:sp>
      <p:sp>
        <p:nvSpPr>
          <p:cNvPr id="17" name="Shape 17"/>
          <p:cNvSpPr/>
          <p:nvPr/>
        </p:nvSpPr>
        <p:spPr>
          <a:xfrm>
            <a:off x="777240" y="3520440"/>
            <a:ext cx="4892040" cy="713232"/>
          </a:xfrm>
          <a:prstGeom prst="roundRect">
            <a:avLst/>
          </a:prstGeom>
          <a:solidFill>
            <a:srgbClr val="0D2D55"/>
          </a:solidFill>
          <a:ln w="9525">
            <a:solidFill>
              <a:srgbClr val="9FC2EE"/>
            </a:solidFill>
          </a:ln>
          <a:effectLst/>
        </p:spPr>
        <p:txBody>
          <a:bodyPr/>
          <a:lstStyle/>
          <a:p/>
        </p:txBody>
      </p:sp>
      <p:sp>
        <p:nvSpPr>
          <p:cNvPr id="18" name="Shape 18"/>
          <p:cNvSpPr/>
          <p:nvPr/>
        </p:nvSpPr>
        <p:spPr>
          <a:xfrm>
            <a:off x="978408" y="3675888"/>
            <a:ext cx="384048" cy="384048"/>
          </a:xfrm>
          <a:prstGeom prst="ellipse">
            <a:avLst/>
          </a:prstGeom>
          <a:solidFill>
            <a:srgbClr val="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19" name="TextBox 19"/>
          <p:cNvSpPr txBox="1"/>
          <p:nvPr/>
        </p:nvSpPr>
        <p:spPr>
          <a:xfrm>
            <a:off x="978408" y="3703320"/>
            <a:ext cx="384048" cy="338328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"/>
              </a:spcAft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527048" y="3666744"/>
            <a:ext cx="114300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Design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651760" y="3666744"/>
            <a:ext cx="274320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>
                <a:solidFill>
                  <a:srgbClr val="DFF7FF"/>
                </a:solidFill>
                <a:latin typeface="Aptos"/>
                <a:ea typeface="Aptos"/>
                <a:cs typeface="Aptos"/>
              </a:rPr>
              <a:t>Open DataScope, table map, column map and RI traversal.</a:t>
            </a:r>
          </a:p>
        </p:txBody>
      </p:sp>
      <p:sp>
        <p:nvSpPr>
          <p:cNvPr id="22" name="Shape 22"/>
          <p:cNvSpPr/>
          <p:nvPr/>
        </p:nvSpPr>
        <p:spPr>
          <a:xfrm>
            <a:off x="6217920" y="3520440"/>
            <a:ext cx="4892040" cy="713232"/>
          </a:xfrm>
          <a:prstGeom prst="roundRect">
            <a:avLst/>
          </a:prstGeom>
          <a:solidFill>
            <a:srgbClr val="0D2D55"/>
          </a:solidFill>
          <a:ln w="9525">
            <a:solidFill>
              <a:srgbClr val="9FC2EE"/>
            </a:solidFill>
          </a:ln>
          <a:effectLst/>
        </p:spPr>
        <p:txBody>
          <a:bodyPr/>
          <a:lstStyle/>
          <a:p/>
        </p:txBody>
      </p:sp>
      <p:sp>
        <p:nvSpPr>
          <p:cNvPr id="23" name="Shape 23"/>
          <p:cNvSpPr/>
          <p:nvPr/>
        </p:nvSpPr>
        <p:spPr>
          <a:xfrm>
            <a:off x="6419088" y="3675888"/>
            <a:ext cx="384048" cy="384048"/>
          </a:xfrm>
          <a:prstGeom prst="ellipse">
            <a:avLst/>
          </a:prstGeom>
          <a:solidFill>
            <a:srgbClr val="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24" name="TextBox 24"/>
          <p:cNvSpPr txBox="1"/>
          <p:nvPr/>
        </p:nvSpPr>
        <p:spPr>
          <a:xfrm>
            <a:off x="6419088" y="3703320"/>
            <a:ext cx="384048" cy="338328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"/>
              </a:spcAft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6967728" y="3666744"/>
            <a:ext cx="114300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Provision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092440" y="3666744"/>
            <a:ext cx="274320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>
                <a:solidFill>
                  <a:srgbClr val="DFF7FF"/>
                </a:solidFill>
                <a:latin typeface="Aptos"/>
                <a:ea typeface="Aptos"/>
                <a:cs typeface="Aptos"/>
              </a:rPr>
              <a:t>Launch masked subset with seed and load action.</a:t>
            </a:r>
          </a:p>
        </p:txBody>
      </p:sp>
      <p:sp>
        <p:nvSpPr>
          <p:cNvPr id="27" name="Shape 27"/>
          <p:cNvSpPr/>
          <p:nvPr/>
        </p:nvSpPr>
        <p:spPr>
          <a:xfrm>
            <a:off x="777240" y="4526280"/>
            <a:ext cx="4892040" cy="713232"/>
          </a:xfrm>
          <a:prstGeom prst="roundRect">
            <a:avLst/>
          </a:prstGeom>
          <a:solidFill>
            <a:srgbClr val="0D2D55"/>
          </a:solidFill>
          <a:ln w="9525">
            <a:solidFill>
              <a:srgbClr val="9FC2EE"/>
            </a:solidFill>
          </a:ln>
          <a:effectLst/>
        </p:spPr>
        <p:txBody>
          <a:bodyPr/>
          <a:lstStyle/>
          <a:p/>
        </p:txBody>
      </p:sp>
      <p:sp>
        <p:nvSpPr>
          <p:cNvPr id="28" name="Shape 28"/>
          <p:cNvSpPr/>
          <p:nvPr/>
        </p:nvSpPr>
        <p:spPr>
          <a:xfrm>
            <a:off x="978408" y="4681728"/>
            <a:ext cx="384048" cy="384048"/>
          </a:xfrm>
          <a:prstGeom prst="ellipse">
            <a:avLst/>
          </a:prstGeom>
          <a:solidFill>
            <a:srgbClr val="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29" name="TextBox 29"/>
          <p:cNvSpPr txBox="1"/>
          <p:nvPr/>
        </p:nvSpPr>
        <p:spPr>
          <a:xfrm>
            <a:off x="978408" y="4709160"/>
            <a:ext cx="384048" cy="338328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"/>
              </a:spcAft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527048" y="4672584"/>
            <a:ext cx="114300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Generate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2651760" y="4672584"/>
            <a:ext cx="274320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>
                <a:solidFill>
                  <a:srgbClr val="DFF7FF"/>
                </a:solidFill>
                <a:latin typeface="Aptos"/>
                <a:ea typeface="Aptos"/>
                <a:cs typeface="Aptos"/>
              </a:rPr>
              <a:t>Show Synthetic and MF File Generator for data with no source.</a:t>
            </a:r>
          </a:p>
        </p:txBody>
      </p:sp>
      <p:sp>
        <p:nvSpPr>
          <p:cNvPr id="32" name="Shape 32"/>
          <p:cNvSpPr/>
          <p:nvPr/>
        </p:nvSpPr>
        <p:spPr>
          <a:xfrm>
            <a:off x="6217920" y="4526280"/>
            <a:ext cx="4892040" cy="713232"/>
          </a:xfrm>
          <a:prstGeom prst="roundRect">
            <a:avLst/>
          </a:prstGeom>
          <a:solidFill>
            <a:srgbClr val="0D2D55"/>
          </a:solidFill>
          <a:ln w="9525">
            <a:solidFill>
              <a:srgbClr val="9FC2EE"/>
            </a:solidFill>
          </a:ln>
          <a:effectLst/>
        </p:spPr>
        <p:txBody>
          <a:bodyPr/>
          <a:lstStyle/>
          <a:p/>
        </p:txBody>
      </p:sp>
      <p:sp>
        <p:nvSpPr>
          <p:cNvPr id="33" name="Shape 33"/>
          <p:cNvSpPr/>
          <p:nvPr/>
        </p:nvSpPr>
        <p:spPr>
          <a:xfrm>
            <a:off x="6419088" y="4681728"/>
            <a:ext cx="384048" cy="384048"/>
          </a:xfrm>
          <a:prstGeom prst="ellipse">
            <a:avLst/>
          </a:prstGeom>
          <a:solidFill>
            <a:srgbClr val=""/>
          </a:solidFill>
          <a:ln>
            <a:noFill/>
          </a:ln>
          <a:effectLst/>
        </p:spPr>
        <p:txBody>
          <a:bodyPr/>
          <a:lstStyle/>
          <a:p/>
        </p:txBody>
      </p:sp>
      <p:sp>
        <p:nvSpPr>
          <p:cNvPr id="34" name="TextBox 34"/>
          <p:cNvSpPr txBox="1"/>
          <p:nvPr/>
        </p:nvSpPr>
        <p:spPr>
          <a:xfrm>
            <a:off x="6419088" y="4709160"/>
            <a:ext cx="384048" cy="338328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"/>
              </a:spcAft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967728" y="4672584"/>
            <a:ext cx="1143000" cy="16459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Prove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8092440" y="4672584"/>
            <a:ext cx="274320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>
                <a:solidFill>
                  <a:srgbClr val="DFF7FF"/>
                </a:solidFill>
                <a:latin typeface="Aptos"/>
                <a:ea typeface="Aptos"/>
                <a:cs typeface="Aptos"/>
              </a:rPr>
              <a:t>Run Validation, show audit trail and job evidence.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777240" y="5943600"/>
            <a:ext cx="105156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19A7CE"/>
                </a:solidFill>
                <a:latin typeface="Aptos"/>
                <a:ea typeface="Aptos"/>
                <a:cs typeface="Aptos"/>
              </a:rPr>
              <a:t>Close with the value: faster delivery, lower compliance risk, realistic data, and evidence stakeholders can trust.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ForgeTDM</Application>
  <PresentationFormat>On-screen Show (16:9)</PresentationFormat>
  <Paragraphs>0</Paragraphs>
  <Slides>12</Slides>
  <Notes>0</Notes>
  <HiddenSlides>0</HiddenSlides>
  <MMClips>0</MMClips>
  <ScaleCrop>false</ScaleCrop>
  <Company>ForgeTDM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ForgeTDM Showcase Deck</dc:title>
  <dc:subject>Product showcase deck for ForgeTDM capabilities</dc:subject>
  <dc:creator>ForgeTDM</dc:creator>
  <cp:lastModifiedBy>ForgeTDM</cp:lastModifiedBy>
  <dcterms:created xsi:type="dcterms:W3CDTF">2026-06-19T00:00:00Z</dcterms:created>
  <dcterms:modified xsi:type="dcterms:W3CDTF">2026-06-19T00:00:00Z</dcterms:modified>
</cp:coreProperties>
</file>