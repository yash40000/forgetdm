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7512" y="1691640"/>
            <a:ext cx="566928" cy="566928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737360"/>
            <a:ext cx="5669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00784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ForgeTDM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9FC2EE"/>
                </a:solidFill>
                <a:latin typeface="Calibri"/>
              </a:rPr>
              <a:t>TEST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697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86DE"/>
                </a:solidFill>
                <a:latin typeface="Calibri"/>
              </a:rPr>
              <a:t>PRODUCT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01752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Cambria"/>
              </a:rPr>
              <a:t>Enterprise Test Data Management — discover, mask, subset, synthesize, deliver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663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CBDDF6"/>
                </a:solidFill>
                <a:latin typeface="Calibri"/>
              </a:rPr>
              <a:t>One governed platform for safe, realistic, on-demand test data across relational and mainframe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5532120"/>
            <a:ext cx="2107692" cy="384048"/>
          </a:xfrm>
          <a:prstGeom prst="roundRect">
            <a:avLst/>
          </a:prstGeom>
          <a:solidFill>
            <a:srgbClr val="13315C"/>
          </a:solidFill>
          <a:ln w="12700">
            <a:solidFill>
              <a:srgbClr val="9FC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5532120"/>
            <a:ext cx="21076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CE9FA"/>
                </a:solidFill>
                <a:latin typeface="Calibri"/>
              </a:rPr>
              <a:t>Compliant masking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9796" y="5532120"/>
            <a:ext cx="3054096" cy="384048"/>
          </a:xfrm>
          <a:prstGeom prst="roundRect">
            <a:avLst/>
          </a:prstGeom>
          <a:solidFill>
            <a:srgbClr val="13315C"/>
          </a:solidFill>
          <a:ln w="12700">
            <a:solidFill>
              <a:srgbClr val="9FC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9796" y="5532120"/>
            <a:ext cx="30540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CE9FA"/>
                </a:solidFill>
                <a:latin typeface="Calibri"/>
              </a:rPr>
              <a:t>Referential synthetic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8484" y="5532120"/>
            <a:ext cx="2002536" cy="384048"/>
          </a:xfrm>
          <a:prstGeom prst="roundRect">
            <a:avLst/>
          </a:prstGeom>
          <a:solidFill>
            <a:srgbClr val="13315C"/>
          </a:solidFill>
          <a:ln w="12700">
            <a:solidFill>
              <a:srgbClr val="9FC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8484" y="5532120"/>
            <a:ext cx="20025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CE9FA"/>
                </a:solidFill>
                <a:latin typeface="Calibri"/>
              </a:rPr>
              <a:t>Mainframe-native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5612" y="5532120"/>
            <a:ext cx="1371600" cy="384048"/>
          </a:xfrm>
          <a:prstGeom prst="roundRect">
            <a:avLst/>
          </a:prstGeom>
          <a:solidFill>
            <a:srgbClr val="13315C"/>
          </a:solidFill>
          <a:ln w="12700">
            <a:solidFill>
              <a:srgbClr val="9FC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5612" y="55321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DCE9FA"/>
                </a:solidFill>
                <a:latin typeface="Calibri"/>
              </a:rPr>
              <a:t>AI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Calibr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mbria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8686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1D6FB8"/>
                </a:solidFill>
                <a:latin typeface="Cambria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481328"/>
            <a:ext cx="10835640" cy="25603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783080"/>
            <a:ext cx="26151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PII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212848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Dual-signal scan of names + sampled values; classify, approve, auto-build a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6151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94767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Masking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331720"/>
            <a:ext cx="2212848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Deterministic, format-preserving, conditional (WHERE), and in-place at billion-row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783080"/>
            <a:ext cx="26151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194767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DataScope &amp; Subsetting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2331720"/>
            <a:ext cx="2212848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Blueprint-driven, right-sized subsets with full referential integrity + overrides.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783080"/>
            <a:ext cx="26151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194767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Synthetic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331720"/>
            <a:ext cx="2212848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Multi-table, FK-aware with ER view, type-safe generators; load to DB or CSV/JSON/SQL.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913632"/>
            <a:ext cx="26151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78224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Mainframe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62272"/>
            <a:ext cx="2212848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COBOL copybooks, EBCDIC &amp; COMP-3 — byte-faithful masking, Zowe delivery.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913632"/>
            <a:ext cx="26151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4078224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Virtualization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4462272"/>
            <a:ext cx="2212848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Space-efficient snapshot &amp; clone — stand up masked environments fast.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913632"/>
            <a:ext cx="26151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4078224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4462272"/>
            <a:ext cx="2212848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Automated leak, format, referential and domain checks prove data is safe and valid.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3913632"/>
            <a:ext cx="261518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4078224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AI 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4462272"/>
            <a:ext cx="2212848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Pluggable LLM assistant that reads your catalog and runs work — with approval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Calibri"/>
              </a:rPr>
              <a:t>WHERE IT'S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mbria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8686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1D6FB8"/>
                </a:solidFill>
                <a:latin typeface="Cambri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481328"/>
            <a:ext cx="10835640" cy="25603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783080"/>
            <a:ext cx="3529584" cy="196596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1638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D6FB8"/>
                </a:solidFill>
                <a:latin typeface="Calibri"/>
              </a:rPr>
              <a:t>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1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Safe non-production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39"/>
            <a:ext cx="3127248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Remove PII from dev/test/QA with consistent, evidenced masking — GDPR, HIPAA, PCI.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529584" cy="196596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1947672"/>
            <a:ext cx="31638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D6FB8"/>
                </a:solidFill>
                <a:latin typeface="Calibri"/>
              </a:rPr>
              <a:t>RIGHT-SIZE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221991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Referential subsets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2606039"/>
            <a:ext cx="3127248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Carve a small, intact slice of production by a driver + filter, FK closure preserved.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783080"/>
            <a:ext cx="3529584" cy="196596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947672"/>
            <a:ext cx="31638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D6FB8"/>
                </a:solidFill>
                <a:latin typeface="Calibri"/>
              </a:rPr>
              <a:t>GREENFIELD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221991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Synthetic environments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606039"/>
            <a:ext cx="3127248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Generate realistic, related data for a brand-new environment — no source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950208"/>
            <a:ext cx="3529584" cy="196596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14800"/>
            <a:ext cx="31638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D6FB8"/>
                </a:solidFill>
                <a:latin typeface="Calibri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In-place masking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73168"/>
            <a:ext cx="3127248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Mask huge production-clone tables where source = target, chunked and restartable.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3950208"/>
            <a:ext cx="3529584" cy="196596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5" y="4114800"/>
            <a:ext cx="31638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D6FB8"/>
                </a:solidFill>
                <a:latin typeface="Calibri"/>
              </a:rPr>
              <a:t>LEGACY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5" y="4389120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Mainframe masking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5" y="4773168"/>
            <a:ext cx="3127248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Mask fixed/variable EBCDIC datasets from copybooks without leaving the platform.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3950208"/>
            <a:ext cx="3529584" cy="196596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2" y="4114800"/>
            <a:ext cx="31638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D6FB8"/>
                </a:solidFill>
                <a:latin typeface="Calibri"/>
              </a:rPr>
              <a:t>QA VELOCITY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4389120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On-demand &amp; defect repro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4773168"/>
            <a:ext cx="3127248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Self-service data and compliant reproductions of production issues, fast.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mbria"/>
              </a:rPr>
              <a:t>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8686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1D6FB8"/>
                </a:solidFill>
                <a:latin typeface="Cambria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481328"/>
            <a:ext cx="10835640" cy="25603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83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1783080"/>
            <a:ext cx="3794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5212B"/>
                </a:solidFill>
                <a:latin typeface="Calibri"/>
              </a:rPr>
              <a:t>Java 17 · Spring Boot 3 service, REST API, browser UI; Flyway-managed schema.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17830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Data engines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1783080"/>
            <a:ext cx="3794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5212B"/>
                </a:solidFill>
                <a:latin typeface="Calibri"/>
              </a:rPr>
              <a:t>Postgres, Oracle, SQL Server, DB2, MySQL, H2 — plus mainframe files via copybook codecs.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243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Masking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624328"/>
            <a:ext cx="3794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5212B"/>
                </a:solidFill>
                <a:latin typeface="Calibri"/>
              </a:rPr>
              <a:t>Deterministic HMAC — same input to same output, irreversible; format-preserving; conditional.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262432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2624328"/>
            <a:ext cx="3794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5212B"/>
                </a:solidFill>
                <a:latin typeface="Calibri"/>
              </a:rPr>
              <a:t>Keyset-paginated, per-chunk committed in-place updates via staging join; parallel workers.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46557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3465576"/>
            <a:ext cx="3794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5212B"/>
                </a:solidFill>
                <a:latin typeface="Calibri"/>
              </a:rPr>
              <a:t>Docker / containers, on-prem or in-VPC; metadata in Postgres; env-driven config.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346557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AI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3465576"/>
            <a:ext cx="3794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5212B"/>
                </a:solidFill>
                <a:latin typeface="Calibri"/>
              </a:rPr>
              <a:t>Any OpenAI-compatible endpoint (cloud or local) — metadata only, never raw PII.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3068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4306824"/>
            <a:ext cx="3794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5212B"/>
                </a:solidFill>
                <a:latin typeface="Calibri"/>
              </a:rPr>
              <a:t>Full audit trail, human approval gates, reproducible runs, role-ready access.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43068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4306824"/>
            <a:ext cx="3794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5212B"/>
                </a:solidFill>
                <a:latin typeface="Calibri"/>
              </a:rPr>
              <a:t>Auto FK detection, parent-first load order, type-safe generation &amp; length-aware loads.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5285232"/>
            <a:ext cx="749808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5285232"/>
            <a:ext cx="74980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B2545"/>
                </a:solidFill>
                <a:latin typeface="Calibri"/>
              </a:rPr>
              <a:t>GDPR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81912" y="5285232"/>
            <a:ext cx="8458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81912" y="5285232"/>
            <a:ext cx="8458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B2545"/>
                </a:solidFill>
                <a:latin typeface="Calibri"/>
              </a:rPr>
              <a:t>HIPAA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92324" y="5285232"/>
            <a:ext cx="103784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2324" y="5285232"/>
            <a:ext cx="103784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B2545"/>
                </a:solidFill>
                <a:latin typeface="Calibri"/>
              </a:rPr>
              <a:t>PCI-DSS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94760" y="5285232"/>
            <a:ext cx="247802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5285232"/>
            <a:ext cx="247802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B2545"/>
                </a:solidFill>
                <a:latin typeface="Calibri"/>
              </a:rPr>
              <a:t>REST API / CI-CD ready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7376" y="5285232"/>
            <a:ext cx="1613916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5285232"/>
            <a:ext cx="161391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0B2545"/>
                </a:solidFill>
                <a:latin typeface="Calibri"/>
              </a:rPr>
              <a:t>On-prem / VPC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mbria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8686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1D6FB8"/>
                </a:solidFill>
                <a:latin typeface="Cambria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481328"/>
            <a:ext cx="10835640" cy="25603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783080"/>
            <a:ext cx="2615184" cy="13716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2545"/>
                </a:solidFill>
                <a:latin typeface="Cambria"/>
              </a:rPr>
              <a:t>Days -&gt;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C6B7B"/>
                </a:solidFill>
                <a:latin typeface="Calibri"/>
              </a:rPr>
              <a:t>Provisioning time, via self-service &amp; chunked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83080"/>
            <a:ext cx="2615184" cy="13716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92024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2545"/>
                </a:solidFill>
                <a:latin typeface="Cambria"/>
              </a:rPr>
              <a:t>1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4203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C6B7B"/>
                </a:solidFill>
                <a:latin typeface="Calibri"/>
              </a:rPr>
              <a:t>Replaces scattered scripts across relational &amp; mainframe.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783080"/>
            <a:ext cx="2615184" cy="13716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192024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2545"/>
                </a:solidFill>
                <a:latin typeface="Cambria"/>
              </a:rPr>
              <a:t>100%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254203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C6B7B"/>
                </a:solidFill>
                <a:latin typeface="Calibri"/>
              </a:rPr>
              <a:t>Every masking &amp; AI action logged and explainable.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783080"/>
            <a:ext cx="2615184" cy="13716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1920240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2545"/>
                </a:solidFill>
                <a:latin typeface="Cambria"/>
              </a:rPr>
              <a:t>Lower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54203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C6B7B"/>
                </a:solidFill>
                <a:latin typeface="Calibri"/>
              </a:rPr>
              <a:t>Consistent, evidenced removal of PII from non-prod.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429000"/>
            <a:ext cx="352958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9359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Compliance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40"/>
            <a:ext cx="3127248" cy="932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Deterministic masking and an audit trail give auditors the evidence pack on demand.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3429000"/>
            <a:ext cx="352958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5" y="359359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Faster, self-service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5" y="3977640"/>
            <a:ext cx="3127248" cy="932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Teams get right-sized, masked or synthetic data without DBA tickets.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3429000"/>
            <a:ext cx="3529584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  <a:effectLst/>
          <a:effectLst>
            <a:outerShdw blurRad="90000" dist="30000" dir="5400000" rotWithShape="0">
              <a:srgbClr val="0B2545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2" y="359359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B2545"/>
                </a:solidFill>
                <a:latin typeface="Calibri"/>
              </a:rPr>
              <a:t>Trustworthy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3977640"/>
            <a:ext cx="3127248" cy="932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C6B7B"/>
                </a:solidFill>
                <a:latin typeface="Calibri"/>
              </a:rPr>
              <a:t>Referential integrity, type-safety and validation mean data that works in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1663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C6B7B"/>
                </a:solidFill>
                <a:latin typeface="Calibri"/>
              </a:rPr>
              <a:t>Figures are representative value directions, quantified per environment during a pilot.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mbria"/>
              </a:rP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8686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1D6FB8"/>
                </a:solidFill>
                <a:latin typeface="Cambria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481328"/>
            <a:ext cx="10835640" cy="25603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783080"/>
            <a:ext cx="3529584" cy="32004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Calibri"/>
              </a:rPr>
              <a:t>NEAR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0723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5212B"/>
                </a:solidFill>
                <a:latin typeface="Calibri"/>
              </a:rPr>
              <a:t>•  Shadow-table rebuild for in-place masking of unique-indexed columns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5212B"/>
                </a:solidFill>
                <a:latin typeface="Calibri"/>
              </a:rPr>
              <a:t>•  Richer generators (currency/code, address packs) with smart suggestions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5212B"/>
                </a:solidFill>
                <a:latin typeface="Calibri"/>
              </a:rPr>
              <a:t>•  Load-time 'uncovered NOT NULL column' warnings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83080"/>
            <a:ext cx="3529584" cy="32004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993392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Calibri"/>
              </a:rPr>
              <a:t>MID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395728"/>
            <a:ext cx="30723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5212B"/>
                </a:solidFill>
                <a:latin typeface="Calibri"/>
              </a:rPr>
              <a:t>•  Agentic provisioning: conversational, end-to-end with approvals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5212B"/>
                </a:solidFill>
                <a:latin typeface="Calibri"/>
              </a:rPr>
              <a:t>•  Self-healing validation that explains &amp; proposes fixes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5212B"/>
                </a:solidFill>
                <a:latin typeface="Calibri"/>
              </a:rPr>
              <a:t>•  More connectors (NoSQL, message queues, cloud warehouses)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783080"/>
            <a:ext cx="3529584" cy="32004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DC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93392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Calibri"/>
              </a:rPr>
              <a:t>STRATEGIC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95728"/>
            <a:ext cx="30723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15212B"/>
                </a:solidFill>
                <a:latin typeface="Calibri"/>
              </a:rPr>
              <a:t>•  Entity-based delivery &amp; refresh, K2View-style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5212B"/>
                </a:solidFill>
                <a:latin typeface="Calibri"/>
              </a:rPr>
              <a:t>•  Test-case-driven coverage generation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5212B"/>
                </a:solidFill>
                <a:latin typeface="Calibri"/>
              </a:rPr>
              <a:t>•  Scheduling, approvals &amp; environment lifecycle automation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7512" y="14173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7FB2F0"/>
                </a:solidFill>
                <a:latin typeface="Calibri"/>
              </a:rPr>
              <a:t>LET'S SEE IT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7830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mbria"/>
              </a:rPr>
              <a:t>Safe, realistic, on-demand test data — from one governed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306324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BDDF6"/>
                </a:solidFill>
                <a:latin typeface="Calibri"/>
              </a:rPr>
              <a:t>Relational and mainframe, masked and synthetic, AI-accelerated and compliance-ready.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3977639"/>
            <a:ext cx="384048" cy="384048"/>
          </a:xfrm>
          <a:prstGeom prst="roundRect">
            <a:avLst/>
          </a:prstGeom>
          <a:solidFill>
            <a:srgbClr val="13315C"/>
          </a:solidFill>
          <a:ln w="12700">
            <a:solidFill>
              <a:srgbClr val="9FC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397763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9FC2E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3959352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D9E6F8"/>
                </a:solidFill>
                <a:latin typeface="Calibri"/>
              </a:rPr>
              <a:t>Discover &amp; mask sensitive data with deterministic, evidenced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79592" y="3977639"/>
            <a:ext cx="384048" cy="384048"/>
          </a:xfrm>
          <a:prstGeom prst="roundRect">
            <a:avLst/>
          </a:prstGeom>
          <a:solidFill>
            <a:srgbClr val="13315C"/>
          </a:solidFill>
          <a:ln w="12700">
            <a:solidFill>
              <a:srgbClr val="9FC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397763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9FC2E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3959352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D9E6F8"/>
                </a:solidFill>
                <a:latin typeface="Calibri"/>
              </a:rPr>
              <a:t>Subset or synthesize referentially-intact datasets on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4617720"/>
            <a:ext cx="384048" cy="384048"/>
          </a:xfrm>
          <a:prstGeom prst="roundRect">
            <a:avLst/>
          </a:prstGeom>
          <a:solidFill>
            <a:srgbClr val="13315C"/>
          </a:solidFill>
          <a:ln w="12700">
            <a:solidFill>
              <a:srgbClr val="9FC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617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9FC2E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599432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D9E6F8"/>
                </a:solidFill>
                <a:latin typeface="Calibri"/>
              </a:rPr>
              <a:t>Deliver to any target — relational, files, or mainframe.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9592" y="4617720"/>
            <a:ext cx="384048" cy="384048"/>
          </a:xfrm>
          <a:prstGeom prst="roundRect">
            <a:avLst/>
          </a:prstGeom>
          <a:solidFill>
            <a:srgbClr val="13315C"/>
          </a:solidFill>
          <a:ln w="12700">
            <a:solidFill>
              <a:srgbClr val="9FC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46177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9FC2EE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599432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0">
                <a:solidFill>
                  <a:srgbClr val="D9E6F8"/>
                </a:solidFill>
                <a:latin typeface="Calibri"/>
              </a:rPr>
              <a:t>Govern every run with audit, approvals and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FC2EE"/>
                </a:solidFill>
                <a:latin typeface="Calibri"/>
              </a:rPr>
              <a:t>Next step — a scoped pilot on one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