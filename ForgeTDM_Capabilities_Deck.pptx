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640080" y="1024128"/>
            <a:ext cx="621792" cy="621792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640080" y="1088136"/>
            <a:ext cx="621792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"/>
              </a:spcAft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89888" y="102412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"/>
              </a:spcAft>
            </a:pPr>
            <a:r>
              <a:rPr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ForgeTDM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9888" y="13716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CBDEF6"/>
                </a:solidFill>
                <a:latin typeface="Aptos"/>
                <a:ea typeface="Aptos"/>
                <a:cs typeface="Aptos"/>
              </a:rPr>
              <a:t>ENTERPRISE TEST DATA MANAGEMENT PLATFORM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0080" y="2176272"/>
            <a:ext cx="1005840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"/>
              </a:spcAft>
            </a:pPr>
            <a:r>
              <a:rPr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Complete Capability Deck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8368" y="3383280"/>
            <a:ext cx="9692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800">
                <a:solidFill>
                  <a:srgbClr val="CBDEF6"/>
                </a:solidFill>
                <a:latin typeface="Aptos"/>
                <a:ea typeface="Aptos"/>
                <a:cs typeface="Aptos"/>
              </a:rPr>
              <a:t>Discover, mask, subset, synthesize, virtualize, validate, reserve, and deliver safe test data across relational and mainframe estates.</a:t>
            </a:r>
          </a:p>
        </p:txBody>
      </p:sp>
      <p:sp>
        <p:nvSpPr>
          <p:cNvPr id="10" name="Shape 10"/>
          <p:cNvSpPr/>
          <p:nvPr/>
        </p:nvSpPr>
        <p:spPr>
          <a:xfrm>
            <a:off x="640080" y="4892040"/>
            <a:ext cx="1248156" cy="384048"/>
          </a:xfrm>
          <a:prstGeom prst="roundRect">
            <a:avLst/>
          </a:prstGeom>
          <a:solidFill>
            <a:srgbClr val="13315C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0080" y="4937760"/>
            <a:ext cx="124815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50"/>
              </a:spcAft>
            </a:pPr>
            <a:r>
              <a:rPr sz="1100" b="1">
                <a:solidFill>
                  <a:srgbClr val="DCE9FA"/>
                </a:solidFill>
                <a:latin typeface="Aptos"/>
                <a:ea typeface="Aptos"/>
                <a:cs typeface="Aptos"/>
              </a:rPr>
              <a:t>DataScope</a:t>
            </a:r>
          </a:p>
        </p:txBody>
      </p:sp>
      <p:sp>
        <p:nvSpPr>
          <p:cNvPr id="12" name="Shape 12"/>
          <p:cNvSpPr/>
          <p:nvPr/>
        </p:nvSpPr>
        <p:spPr>
          <a:xfrm>
            <a:off x="2034540" y="4892040"/>
            <a:ext cx="1728216" cy="384048"/>
          </a:xfrm>
          <a:prstGeom prst="roundRect">
            <a:avLst/>
          </a:prstGeom>
          <a:solidFill>
            <a:srgbClr val="13315C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2034540" y="4937760"/>
            <a:ext cx="17282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50"/>
              </a:spcAft>
            </a:pPr>
            <a:r>
              <a:rPr sz="1100" b="1">
                <a:solidFill>
                  <a:srgbClr val="DCE9FA"/>
                </a:solidFill>
                <a:latin typeface="Aptos"/>
                <a:ea typeface="Aptos"/>
                <a:cs typeface="Aptos"/>
              </a:rPr>
              <a:t>Synthetic Data</a:t>
            </a:r>
          </a:p>
        </p:txBody>
      </p:sp>
      <p:sp>
        <p:nvSpPr>
          <p:cNvPr id="14" name="Shape 14"/>
          <p:cNvSpPr/>
          <p:nvPr/>
        </p:nvSpPr>
        <p:spPr>
          <a:xfrm>
            <a:off x="3909060" y="4892040"/>
            <a:ext cx="2304288" cy="384048"/>
          </a:xfrm>
          <a:prstGeom prst="roundRect">
            <a:avLst/>
          </a:prstGeom>
          <a:solidFill>
            <a:srgbClr val="13315C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3909060" y="4937760"/>
            <a:ext cx="230428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50"/>
              </a:spcAft>
            </a:pPr>
            <a:r>
              <a:rPr sz="1100" b="1">
                <a:solidFill>
                  <a:srgbClr val="DCE9FA"/>
                </a:solidFill>
                <a:latin typeface="Aptos"/>
                <a:ea typeface="Aptos"/>
                <a:cs typeface="Aptos"/>
              </a:rPr>
              <a:t>Copybook + Mainframe</a:t>
            </a:r>
          </a:p>
        </p:txBody>
      </p:sp>
      <p:sp>
        <p:nvSpPr>
          <p:cNvPr id="16" name="Shape 16"/>
          <p:cNvSpPr/>
          <p:nvPr/>
        </p:nvSpPr>
        <p:spPr>
          <a:xfrm>
            <a:off x="6359652" y="4892040"/>
            <a:ext cx="1728216" cy="384048"/>
          </a:xfrm>
          <a:prstGeom prst="roundRect">
            <a:avLst/>
          </a:prstGeom>
          <a:solidFill>
            <a:srgbClr val="13315C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6359652" y="4937760"/>
            <a:ext cx="17282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50"/>
              </a:spcAft>
            </a:pPr>
            <a:r>
              <a:rPr sz="1100" b="1">
                <a:solidFill>
                  <a:srgbClr val="DCE9FA"/>
                </a:solidFill>
                <a:latin typeface="Aptos"/>
                <a:ea typeface="Aptos"/>
                <a:cs typeface="Aptos"/>
              </a:rPr>
              <a:t>Virtualization</a:t>
            </a:r>
          </a:p>
        </p:txBody>
      </p:sp>
      <p:sp>
        <p:nvSpPr>
          <p:cNvPr id="18" name="Shape 18"/>
          <p:cNvSpPr/>
          <p:nvPr/>
        </p:nvSpPr>
        <p:spPr>
          <a:xfrm>
            <a:off x="8234172" y="4892040"/>
            <a:ext cx="1344168" cy="384048"/>
          </a:xfrm>
          <a:prstGeom prst="roundRect">
            <a:avLst/>
          </a:prstGeom>
          <a:solidFill>
            <a:srgbClr val="13315C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234172" y="4937760"/>
            <a:ext cx="13441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50"/>
              </a:spcAft>
            </a:pPr>
            <a:r>
              <a:rPr sz="1100" b="1">
                <a:solidFill>
                  <a:srgbClr val="DCE9FA"/>
                </a:solidFill>
                <a:latin typeface="Aptos"/>
                <a:ea typeface="Aptos"/>
                <a:cs typeface="Aptos"/>
              </a:rPr>
              <a:t>AI Copilot</a:t>
            </a:r>
          </a:p>
        </p:txBody>
      </p:sp>
      <p:sp>
        <p:nvSpPr>
          <p:cNvPr id="20" name="Shape 20"/>
          <p:cNvSpPr/>
          <p:nvPr/>
        </p:nvSpPr>
        <p:spPr>
          <a:xfrm>
            <a:off x="9724644" y="4892040"/>
            <a:ext cx="2112264" cy="384048"/>
          </a:xfrm>
          <a:prstGeom prst="roundRect">
            <a:avLst/>
          </a:prstGeom>
          <a:solidFill>
            <a:srgbClr val="13315C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9724644" y="4937760"/>
            <a:ext cx="2112264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50"/>
              </a:spcAft>
            </a:pPr>
            <a:r>
              <a:rPr sz="1100" b="1">
                <a:solidFill>
                  <a:srgbClr val="DCE9FA"/>
                </a:solidFill>
                <a:latin typeface="Aptos"/>
                <a:ea typeface="Aptos"/>
                <a:cs typeface="Aptos"/>
              </a:rPr>
              <a:t>Audit + Validation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8368" y="589788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000">
                <a:solidFill>
                  <a:srgbClr val="9FC2EE"/>
                </a:solidFill>
                <a:latin typeface="Aptos"/>
                <a:ea typeface="Aptos"/>
                <a:cs typeface="Aptos"/>
              </a:rPr>
              <a:t>Prepared from the current D:\forgetdm - Copy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39319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COMPLETE 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658368"/>
            <a:ext cx="89611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Every capability in the tool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44200" y="69494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3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6" name="Shape 6"/>
          <p:cNvSpPr/>
          <p:nvPr/>
        </p:nvSpPr>
        <p:spPr>
          <a:xfrm>
            <a:off x="594360" y="1216152"/>
            <a:ext cx="11018520" cy="22860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40080" y="1554480"/>
            <a:ext cx="3493008" cy="1261872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22960" y="1719072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Home + guidance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2960" y="2084832"/>
            <a:ext cx="3127248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Dashboard: operational snapshot.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Challenge Center: maps top TDM issues to workflows.</a:t>
            </a:r>
          </a:p>
        </p:txBody>
      </p:sp>
      <p:sp>
        <p:nvSpPr>
          <p:cNvPr id="10" name="Shape 10"/>
          <p:cNvSpPr/>
          <p:nvPr/>
        </p:nvSpPr>
        <p:spPr>
          <a:xfrm>
            <a:off x="4343400" y="1554480"/>
            <a:ext cx="3493008" cy="1261872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526280" y="1719072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Connection catalog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26280" y="2084832"/>
            <a:ext cx="3127248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Data Sources: register, classify, test, schema inspect.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Data Explorer: read-only query preview.</a:t>
            </a:r>
          </a:p>
        </p:txBody>
      </p:sp>
      <p:sp>
        <p:nvSpPr>
          <p:cNvPr id="13" name="Shape 13"/>
          <p:cNvSpPr/>
          <p:nvPr/>
        </p:nvSpPr>
        <p:spPr>
          <a:xfrm>
            <a:off x="8046720" y="1554480"/>
            <a:ext cx="3493008" cy="1261872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229600" y="1719072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Discovery + policy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29600" y="2084832"/>
            <a:ext cx="3127248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PII Discovery: scan, review, approve.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Masking Policies and Studio: rules, preview, discovery binding.</a:t>
            </a:r>
          </a:p>
        </p:txBody>
      </p:sp>
      <p:sp>
        <p:nvSpPr>
          <p:cNvPr id="16" name="Shape 16"/>
          <p:cNvSpPr/>
          <p:nvPr/>
        </p:nvSpPr>
        <p:spPr>
          <a:xfrm>
            <a:off x="640080" y="3017520"/>
            <a:ext cx="3493008" cy="1261872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822960" y="3182112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DataScope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2960" y="3547872"/>
            <a:ext cx="3127248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Blueprint, custom data, RI, traversal map, masking overrides, provision.</a:t>
            </a:r>
          </a:p>
        </p:txBody>
      </p:sp>
      <p:sp>
        <p:nvSpPr>
          <p:cNvPr id="19" name="Shape 19"/>
          <p:cNvSpPr/>
          <p:nvPr/>
        </p:nvSpPr>
        <p:spPr>
          <a:xfrm>
            <a:off x="4343400" y="3017520"/>
            <a:ext cx="3493008" cy="1261872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4526280" y="3182112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Provisioning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26280" y="3547872"/>
            <a:ext cx="3127248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MASK_COPY, SUBSET_MASK, SYNTHETIC_LOAD.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Async monitor, cancel, sample, load actions.</a:t>
            </a:r>
          </a:p>
        </p:txBody>
      </p:sp>
      <p:sp>
        <p:nvSpPr>
          <p:cNvPr id="22" name="Shape 22"/>
          <p:cNvSpPr/>
          <p:nvPr/>
        </p:nvSpPr>
        <p:spPr>
          <a:xfrm>
            <a:off x="8046720" y="3017520"/>
            <a:ext cx="3493008" cy="1261872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8229600" y="3182112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Synthetic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29600" y="3547872"/>
            <a:ext cx="3127248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Blueprints, generator catalog, FK-aware data, DB/CSV/JSON/SQL output.</a:t>
            </a:r>
          </a:p>
        </p:txBody>
      </p:sp>
      <p:sp>
        <p:nvSpPr>
          <p:cNvPr id="25" name="Shape 25"/>
          <p:cNvSpPr/>
          <p:nvPr/>
        </p:nvSpPr>
        <p:spPr>
          <a:xfrm>
            <a:off x="640080" y="4480560"/>
            <a:ext cx="3493008" cy="1261872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22960" y="4645152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Mainframe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2960" y="5010912"/>
            <a:ext cx="3127248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Copybook Studio, LPAR connections, file jobs, MF file generator.</a:t>
            </a:r>
          </a:p>
        </p:txBody>
      </p:sp>
      <p:sp>
        <p:nvSpPr>
          <p:cNvPr id="28" name="Shape 28"/>
          <p:cNvSpPr/>
          <p:nvPr/>
        </p:nvSpPr>
        <p:spPr>
          <a:xfrm>
            <a:off x="4343400" y="4480560"/>
            <a:ext cx="3493008" cy="1261872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4526280" y="4645152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Virtualization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26280" y="5010912"/>
            <a:ext cx="3127248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dSource snapshots, VDBs, bookmarks, refresh, rewind, LogSync, environments.</a:t>
            </a:r>
          </a:p>
        </p:txBody>
      </p:sp>
      <p:sp>
        <p:nvSpPr>
          <p:cNvPr id="31" name="Shape 31"/>
          <p:cNvSpPr/>
          <p:nvPr/>
        </p:nvSpPr>
        <p:spPr>
          <a:xfrm>
            <a:off x="8046720" y="4480560"/>
            <a:ext cx="3493008" cy="1261872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229600" y="4645152"/>
            <a:ext cx="312724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29600" y="5010912"/>
            <a:ext cx="3127248" cy="7589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Find and Reserve, Validation reports, Audit Trail, AI Auto-Provision.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39319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SAFE DATA FOUNDATION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658368"/>
            <a:ext cx="89611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Discovery, masking, policy and studio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44200" y="69494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3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594360" y="1216152"/>
            <a:ext cx="11018520" cy="22860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58368" y="1600200"/>
            <a:ext cx="35661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41248" y="17647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2011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PII Discovery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1248" y="237744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Dual signal scan: column-name patterns plus sampled-value regex and Luhn checks.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Confidence-scored review queue with approve, reject, override, and generate policy.</a:t>
            </a:r>
          </a:p>
        </p:txBody>
      </p:sp>
      <p:sp>
        <p:nvSpPr>
          <p:cNvPr id="11" name="Shape 11"/>
          <p:cNvSpPr/>
          <p:nvPr/>
        </p:nvSpPr>
        <p:spPr>
          <a:xfrm>
            <a:off x="4370832" y="1600200"/>
            <a:ext cx="35661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53712" y="17647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GOVERN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53712" y="2011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Masking Policies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3712" y="237744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Executable table.column to masking-function bindings.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Optim-style discovery binding; table and column rules stay reusable across jobs.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600200"/>
            <a:ext cx="35661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266176" y="17647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PREVIEW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66176" y="2011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Masking Studio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66176" y="237744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Live preview for every masking function before committing a rule.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Deterministic seed behavior keeps referential values consistent across tables.</a:t>
            </a:r>
          </a:p>
        </p:txBody>
      </p:sp>
      <p:sp>
        <p:nvSpPr>
          <p:cNvPr id="19" name="Shape 19"/>
          <p:cNvSpPr/>
          <p:nvPr/>
        </p:nvSpPr>
        <p:spPr>
          <a:xfrm>
            <a:off x="658368" y="3749040"/>
            <a:ext cx="5349240" cy="155448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41248" y="391363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Masking function catalog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1248" y="4279392"/>
            <a:ext cx="498348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Names, full names, email, phone, SSN, credit card, date shift, DOB age band.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Address, city/state/zip, company, format preserve, redact last4, hash LOV, fixed, nullify, sequence, passthrough.</a:t>
            </a:r>
          </a:p>
        </p:txBody>
      </p:sp>
      <p:sp>
        <p:nvSpPr>
          <p:cNvPr id="22" name="Shape 22"/>
          <p:cNvSpPr/>
          <p:nvPr/>
        </p:nvSpPr>
        <p:spPr>
          <a:xfrm>
            <a:off x="6309360" y="3749040"/>
            <a:ext cx="5349240" cy="155448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6492240" y="391363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Rule intelligence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92240" y="4279392"/>
            <a:ext cx="498348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Conditional masking at column level; freeform and grouped conditions.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Deterministic HMAC secret; no shared cross-reference table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39319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RIGHT-SIZED DELIVERY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658368"/>
            <a:ext cx="89611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DataScope, subsetting and provisioning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44200" y="69494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3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6" name="Shape 6"/>
          <p:cNvSpPr/>
          <p:nvPr/>
        </p:nvSpPr>
        <p:spPr>
          <a:xfrm>
            <a:off x="594360" y="1216152"/>
            <a:ext cx="11018520" cy="22860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58368" y="1600200"/>
            <a:ext cx="356616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41248" y="17647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2011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DataScope Blueprint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1248" y="237744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Build access definitions from one or many source databases.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Track source/target DB, source/target schema, driver table, filters, and row limits.</a:t>
            </a:r>
          </a:p>
        </p:txBody>
      </p:sp>
      <p:sp>
        <p:nvSpPr>
          <p:cNvPr id="11" name="Shape 11"/>
          <p:cNvSpPr/>
          <p:nvPr/>
        </p:nvSpPr>
        <p:spPr>
          <a:xfrm>
            <a:off x="4370832" y="1600200"/>
            <a:ext cx="356616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53712" y="17647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53712" y="2011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Table + Column Map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3712" y="237744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Optim-style table map and per-table column map.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Auto source-to-target column matching, unused columns, literals, and no-masking choices.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600200"/>
            <a:ext cx="356616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266176" y="17647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RI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66176" y="2011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Referential Integrity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66176" y="237744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FK graph, custom relationships, custom primary keys, traversal rules.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Q1 parents, Q2 children, traversal map and RI-aware load order.</a:t>
            </a:r>
          </a:p>
        </p:txBody>
      </p:sp>
      <p:sp>
        <p:nvSpPr>
          <p:cNvPr id="19" name="Shape 19"/>
          <p:cNvSpPr/>
          <p:nvPr/>
        </p:nvSpPr>
        <p:spPr>
          <a:xfrm>
            <a:off x="658368" y="3886200"/>
            <a:ext cx="3566160" cy="160020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41248" y="40507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Subsetting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1248" y="4416552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Dry-run plan for right-sized data using driver, filter, row limit and FK closure.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Execute as SUBSET_MASK when the plan is ready.</a:t>
            </a:r>
          </a:p>
        </p:txBody>
      </p:sp>
      <p:sp>
        <p:nvSpPr>
          <p:cNvPr id="22" name="Shape 22"/>
          <p:cNvSpPr/>
          <p:nvPr/>
        </p:nvSpPr>
        <p:spPr>
          <a:xfrm>
            <a:off x="4370832" y="3886200"/>
            <a:ext cx="3566160" cy="160020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4553712" y="40507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Provisioning Jobs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3712" y="4416552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MASK_COPY, SUBSET_MASK, and SYNTHETIC_LOAD with async progress.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Cancel running jobs, inspect status, and sample completed masked data.</a:t>
            </a:r>
          </a:p>
        </p:txBody>
      </p:sp>
      <p:sp>
        <p:nvSpPr>
          <p:cNvPr id="25" name="Shape 25"/>
          <p:cNvSpPr/>
          <p:nvPr/>
        </p:nvSpPr>
        <p:spPr>
          <a:xfrm>
            <a:off x="8083296" y="3886200"/>
            <a:ext cx="3566160" cy="160020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266176" y="40507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Load behavior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66176" y="4416552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Load replace, insert only, update only, insert-update, in-place mask, truncate only.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Target prep, key columns, masking seed and batch size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39319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GENERATE AND TRANSFORM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658368"/>
            <a:ext cx="89611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Synthetic data and mapping designer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44200" y="69494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3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6" name="Shape 6"/>
          <p:cNvSpPr/>
          <p:nvPr/>
        </p:nvSpPr>
        <p:spPr>
          <a:xfrm>
            <a:off x="594360" y="1216152"/>
            <a:ext cx="11018520" cy="22860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58368" y="1600200"/>
            <a:ext cx="36576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41248" y="176479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201168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Synthetic Wizard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1248" y="2377440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Three-step flow: source and tables, fields, output and generate.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Import schema metadata, auto-detect FK links, lock child columns to parent pools.</a:t>
            </a:r>
          </a:p>
        </p:txBody>
      </p:sp>
      <p:sp>
        <p:nvSpPr>
          <p:cNvPr id="11" name="Shape 11"/>
          <p:cNvSpPr/>
          <p:nvPr/>
        </p:nvSpPr>
        <p:spPr>
          <a:xfrm>
            <a:off x="4526280" y="1600200"/>
            <a:ext cx="36576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709160" y="176479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50+ GEN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09160" y="201168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Generator Catalog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09160" y="2377440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Person, location, finance, date/time, technical, business, network, and control generators.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Seeded reproducibility; type-aware generator compatibility; API generator for microservice-backed fields.</a:t>
            </a:r>
          </a:p>
        </p:txBody>
      </p:sp>
      <p:sp>
        <p:nvSpPr>
          <p:cNvPr id="15" name="Shape 15"/>
          <p:cNvSpPr/>
          <p:nvPr/>
        </p:nvSpPr>
        <p:spPr>
          <a:xfrm>
            <a:off x="8394192" y="1600200"/>
            <a:ext cx="324612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577072" y="1764792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77072" y="2011680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Output Targets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77072" y="2377440"/>
            <a:ext cx="288036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Load directly to target DB or export CSV, JSON, and SQL scripts.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Create missing tables, drop/recreate, and schema-aware target load.</a:t>
            </a:r>
          </a:p>
        </p:txBody>
      </p:sp>
      <p:sp>
        <p:nvSpPr>
          <p:cNvPr id="19" name="Shape 19"/>
          <p:cNvSpPr/>
          <p:nvPr/>
        </p:nvSpPr>
        <p:spPr>
          <a:xfrm>
            <a:off x="658368" y="3886200"/>
            <a:ext cx="5349240" cy="160020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41248" y="405079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Mapping Designer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1248" y="4416552"/>
            <a:ext cx="498348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Visual transform canvas for source, staging, and target structures.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Use mapping functions and saved mapping definitions for transform-style workloads.</a:t>
            </a:r>
          </a:p>
        </p:txBody>
      </p:sp>
      <p:sp>
        <p:nvSpPr>
          <p:cNvPr id="22" name="Shape 22"/>
          <p:cNvSpPr/>
          <p:nvPr/>
        </p:nvSpPr>
        <p:spPr>
          <a:xfrm>
            <a:off x="6309360" y="3886200"/>
            <a:ext cx="5349240" cy="160020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6492240" y="405079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Designed for useful test data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92240" y="4416552"/>
            <a:ext cx="498348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Luhn-valid cards, ABA-style routing, coherent geo triplets, account numbers, status lifecycles, JSON, UUID, URLs, IPs, MACs.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No production PII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39319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LEGACY READY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658368"/>
            <a:ext cx="89611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Copybook, mainframe masking and file generation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44200" y="69494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3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6" name="Shape 6"/>
          <p:cNvSpPr/>
          <p:nvPr/>
        </p:nvSpPr>
        <p:spPr>
          <a:xfrm>
            <a:off x="594360" y="1216152"/>
            <a:ext cx="11018520" cy="22860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58368" y="1600200"/>
            <a:ext cx="35661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41248" y="17647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2011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Copybook Studio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1248" y="237744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Parse COBOL copybooks into byte-level layouts.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Decode pasted hex or uploaded binary records in EBCDIC, COMP, COMP-3, zoned and binary integer forms.</a:t>
            </a:r>
          </a:p>
        </p:txBody>
      </p:sp>
      <p:sp>
        <p:nvSpPr>
          <p:cNvPr id="11" name="Shape 11"/>
          <p:cNvSpPr/>
          <p:nvPr/>
        </p:nvSpPr>
        <p:spPr>
          <a:xfrm>
            <a:off x="4370832" y="1600200"/>
            <a:ext cx="35661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53712" y="17647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53712" y="2011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Field-level masking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3712" y="237744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Preview deterministic masking against selected copybook fields.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Validate rewritten values fit the original field type and width before save.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600200"/>
            <a:ext cx="35661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266176" y="176479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66176" y="2011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Mainframe Jobs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66176" y="2377440"/>
            <a:ext cx="320040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Register LPARs via real z/OSMF/Zowe or local landing folders.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Fetch many files, mask each with its own copybook, and write back to same or different LPAR.</a:t>
            </a:r>
          </a:p>
        </p:txBody>
      </p:sp>
      <p:sp>
        <p:nvSpPr>
          <p:cNvPr id="19" name="Shape 19"/>
          <p:cNvSpPr/>
          <p:nvPr/>
        </p:nvSpPr>
        <p:spPr>
          <a:xfrm>
            <a:off x="658368" y="3749040"/>
            <a:ext cx="5349240" cy="160020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41248" y="391363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Copybook registry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1248" y="4279392"/>
            <a:ext cx="498348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Save copybooks, inspect field maps, and persist NONE or masking function rules per field.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Reusable across every mainframe job using that copybook.</a:t>
            </a:r>
          </a:p>
        </p:txBody>
      </p:sp>
      <p:sp>
        <p:nvSpPr>
          <p:cNvPr id="22" name="Shape 22"/>
          <p:cNvSpPr/>
          <p:nvPr/>
        </p:nvSpPr>
        <p:spPr>
          <a:xfrm>
            <a:off x="6309360" y="3749040"/>
            <a:ext cx="5349240" cy="160020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6492240" y="3913632"/>
            <a:ext cx="4983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MF File Generator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92240" y="4279392"/>
            <a:ext cx="498348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Define or reuse a copybook, map generators to fields, generate records, convert to EBCDIC.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Deliver to LPAR or download copybook, text data, and binary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94360" y="39319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OPERATE AND GOVERN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658368"/>
            <a:ext cx="89611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800" b="1">
                <a:solidFill>
                  <a:srgbClr val="0B2545"/>
                </a:solidFill>
                <a:latin typeface="Cambria"/>
                <a:ea typeface="Cambria"/>
                <a:cs typeface="Cambria"/>
              </a:rPr>
              <a:t>Virtualization, AI, validation and platform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44200" y="69494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3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6" name="Shape 6"/>
          <p:cNvSpPr/>
          <p:nvPr/>
        </p:nvSpPr>
        <p:spPr>
          <a:xfrm>
            <a:off x="594360" y="1216152"/>
            <a:ext cx="11018520" cy="22860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58368" y="1554480"/>
            <a:ext cx="27432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41248" y="171907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FAST COPIES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196596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Data Virtualization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1248" y="233172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Delphix-style dSource snapshots, VDBs, bookmarks, refresh and rewind.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POOL, container CoW and ZFS engine concepts.</a:t>
            </a:r>
          </a:p>
        </p:txBody>
      </p:sp>
      <p:sp>
        <p:nvSpPr>
          <p:cNvPr id="11" name="Shape 11"/>
          <p:cNvSpPr/>
          <p:nvPr/>
        </p:nvSpPr>
        <p:spPr>
          <a:xfrm>
            <a:off x="3611880" y="1554480"/>
            <a:ext cx="27432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3794760" y="171907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RECOVER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4760" y="196596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LogSync + PITR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94760" y="233172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Postgres WAL streaming for point-in-time recovery between snapshots.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Target environments via ZFS NFS export.</a:t>
            </a:r>
          </a:p>
        </p:txBody>
      </p:sp>
      <p:sp>
        <p:nvSpPr>
          <p:cNvPr id="15" name="Shape 15"/>
          <p:cNvSpPr/>
          <p:nvPr/>
        </p:nvSpPr>
        <p:spPr>
          <a:xfrm>
            <a:off x="6565392" y="1554480"/>
            <a:ext cx="246888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6748272" y="171907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8272" y="196596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8272" y="233172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Leak, format, referential-integrity and email-domain checks.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Reports with PASS/WARN/FAIL evidence.</a:t>
            </a:r>
          </a:p>
        </p:txBody>
      </p:sp>
      <p:sp>
        <p:nvSpPr>
          <p:cNvPr id="19" name="Shape 19"/>
          <p:cNvSpPr/>
          <p:nvPr/>
        </p:nvSpPr>
        <p:spPr>
          <a:xfrm>
            <a:off x="9235440" y="1554480"/>
            <a:ext cx="237744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9418320" y="17190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TEST OPS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18320" y="196596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Find + Reserve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8320" y="233172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Reserve matching rows for testers with TTL.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Release rows and avoid team conflicts.</a:t>
            </a:r>
          </a:p>
        </p:txBody>
      </p:sp>
      <p:sp>
        <p:nvSpPr>
          <p:cNvPr id="23" name="Shape 23"/>
          <p:cNvSpPr/>
          <p:nvPr/>
        </p:nvSpPr>
        <p:spPr>
          <a:xfrm>
            <a:off x="658368" y="3456432"/>
            <a:ext cx="27432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841248" y="36210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AGENTIC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1248" y="386791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AI Auto-Provision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1248" y="4233672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Copilot can inspect metadata, discovery, policies, DataScope, jobs and synthetic plans.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Action tools require approval gates.</a:t>
            </a:r>
          </a:p>
        </p:txBody>
      </p:sp>
      <p:sp>
        <p:nvSpPr>
          <p:cNvPr id="27" name="Shape 27"/>
          <p:cNvSpPr/>
          <p:nvPr/>
        </p:nvSpPr>
        <p:spPr>
          <a:xfrm>
            <a:off x="3611880" y="3456432"/>
            <a:ext cx="27432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3794760" y="36210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794760" y="386791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794760" y="4233672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Immutable record of data-source, discovery, policy, job, validation and reservation actions.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Compliance evidence built in.</a:t>
            </a:r>
          </a:p>
        </p:txBody>
      </p:sp>
      <p:sp>
        <p:nvSpPr>
          <p:cNvPr id="31" name="Shape 31"/>
          <p:cNvSpPr/>
          <p:nvPr/>
        </p:nvSpPr>
        <p:spPr>
          <a:xfrm>
            <a:off x="6565392" y="3456432"/>
            <a:ext cx="24688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6748272" y="362102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48272" y="386791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48272" y="4233672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Java 17, Spring Boot 3, REST API, Flyway, browser UI.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Docker/on-prem/VPC deployment.</a:t>
            </a:r>
          </a:p>
        </p:txBody>
      </p:sp>
      <p:sp>
        <p:nvSpPr>
          <p:cNvPr id="35" name="Shape 35"/>
          <p:cNvSpPr/>
          <p:nvPr/>
        </p:nvSpPr>
        <p:spPr>
          <a:xfrm>
            <a:off x="9235440" y="3456432"/>
            <a:ext cx="237744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6" name="TextBox 36"/>
          <p:cNvSpPr txBox="1"/>
          <p:nvPr/>
        </p:nvSpPr>
        <p:spPr>
          <a:xfrm>
            <a:off x="9418320" y="362102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9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18320" y="386791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50"/>
              </a:spcAft>
            </a:pPr>
            <a:r>
              <a:rPr sz="1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DB support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418320" y="4233672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Postgres, H2, DB2/UDB/zOS, Oracle, SQL Server, MySQL/MariaDB, generic JDBC.</a:t>
            </a:r>
          </a:p>
          <a:p>
            <a:pPr algn="l">
              <a:spcAft>
                <a:spcPts val="120"/>
              </a:spcAft>
            </a:pPr>
            <a:r>
              <a:rPr sz="1000">
                <a:solidFill>
                  <a:srgbClr val="5C6B7B"/>
                </a:solidFill>
                <a:latin typeface="Aptos"/>
                <a:ea typeface="Aptos"/>
                <a:cs typeface="Aptos"/>
              </a:rPr>
              <a:t>Dialect-aware SQL.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5800" y="555955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50"/>
              </a:spcAft>
            </a:pPr>
            <a:r>
              <a:rPr sz="14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Outcome: one governed platform to discover sensitive data, produce realistic safe data, deliver it to the right environment, and prove it is valid.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ForgeTDM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ForgeTDM Capability Deck</vt:lpstr>
      <vt:lpstr>Every capability in the tool</vt:lpstr>
      <vt:lpstr>Discovery, masking, policy and studio</vt:lpstr>
      <vt:lpstr>DataScope, subsetting and provisioning</vt:lpstr>
      <vt:lpstr>Synthetic data and mapping designer</vt:lpstr>
      <vt:lpstr>Copybook, mainframe masking and file generation</vt:lpstr>
      <vt:lpstr>Virtualization, AI, validation and architecture</vt:lpstr>
    </vt:vector>
  </TitlesOfParts>
  <Company>ForgeTDM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ForgeTDM Capability Deck</dc:title>
  <dc:subject>ForgeTDM tool capabilities</dc:subject>
  <dc:creator>ForgeTDM</dc:creator>
  <cp:lastModifiedBy>ForgeTDM</cp:lastModifiedBy>
  <dcterms:created xsi:type="dcterms:W3CDTF">2026-06-19T00:00:00Z</dcterms:created>
  <dcterms:modified xsi:type="dcterms:W3CDTF">2026-06-19T00:00:00Z</dcterms:modified>
</cp:coreProperties>
</file>