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wide"/>
  <p:notesSz cx="6858000" cy="9144000"/>
  <p:defaultTextStyle>
    <a:defPPr>
      <a:defRPr lang="en-US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E3A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E3A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4" name="Shape 4"/>
          <p:cNvSpPr/>
          <p:nvPr/>
        </p:nvSpPr>
        <p:spPr>
          <a:xfrm>
            <a:off x="7863840" y="0"/>
            <a:ext cx="4325112" cy="6858000"/>
          </a:xfrm>
          <a:prstGeom prst="rect">
            <a:avLst/>
          </a:prstGeom>
          <a:solidFill>
            <a:srgbClr val="0D2D55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5" name="Shape 5"/>
          <p:cNvSpPr/>
          <p:nvPr/>
        </p:nvSpPr>
        <p:spPr>
          <a:xfrm>
            <a:off x="658368" y="749808"/>
            <a:ext cx="566928" cy="566928"/>
          </a:xfrm>
          <a:prstGeom prst="ellipse">
            <a:avLst/>
          </a:prstGeom>
          <a:solidFill>
            <a:srgbClr val="1D6FB8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6" name="TextBox 6"/>
          <p:cNvSpPr txBox="1"/>
          <p:nvPr/>
        </p:nvSpPr>
        <p:spPr>
          <a:xfrm>
            <a:off x="658368" y="777240"/>
            <a:ext cx="566928" cy="52120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"/>
              </a:spcAft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25880" y="786384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"/>
              </a:spcAft>
            </a:pPr>
            <a:r>
              <a:rPr sz="2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ForgeTDM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25880" y="1097280"/>
            <a:ext cx="484632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60"/>
              </a:spcAft>
            </a:pPr>
            <a:r>
              <a:rPr sz="1000" b="1">
                <a:solidFill>
                  <a:srgbClr val="CBDEF6"/>
                </a:solidFill>
                <a:latin typeface="Aptos"/>
                <a:ea typeface="Aptos"/>
                <a:cs typeface="Aptos"/>
              </a:rPr>
              <a:t>Internal team walkthrough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58368" y="1847088"/>
            <a:ext cx="6766560" cy="1143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"/>
              </a:spcAft>
            </a:pPr>
            <a:r>
              <a:rPr sz="43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How the tool works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85800" y="3054096"/>
            <a:ext cx="6583680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60"/>
              </a:spcAft>
            </a:pPr>
            <a:r>
              <a:rPr sz="1600">
                <a:solidFill>
                  <a:srgbClr val="CBDEF6"/>
                </a:solidFill>
                <a:latin typeface="Aptos"/>
                <a:ea typeface="Aptos"/>
                <a:cs typeface="Aptos"/>
              </a:rPr>
              <a:t>Architecture, data flows, screens, backend services, job lifecycle and extension points for the team building and demoing ForgeTDM.</a:t>
            </a:r>
          </a:p>
        </p:txBody>
      </p:sp>
      <p:sp>
        <p:nvSpPr>
          <p:cNvPr id="11" name="Shape 11"/>
          <p:cNvSpPr/>
          <p:nvPr/>
        </p:nvSpPr>
        <p:spPr>
          <a:xfrm>
            <a:off x="685800" y="4160520"/>
            <a:ext cx="1099109" cy="274320"/>
          </a:xfrm>
          <a:prstGeom prst="roundRect">
            <a:avLst/>
          </a:prstGeom>
          <a:solidFill>
            <a:srgbClr val="1D6FB8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12" name="TextBox 12"/>
          <p:cNvSpPr txBox="1"/>
          <p:nvPr/>
        </p:nvSpPr>
        <p:spPr>
          <a:xfrm>
            <a:off x="685800" y="4206240"/>
            <a:ext cx="1099109" cy="10972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"/>
              </a:spcAft>
            </a:pPr>
            <a:r>
              <a:rPr sz="700" b="1">
                <a:solidFill>
                  <a:srgbClr val="DFF7FF"/>
                </a:solidFill>
                <a:latin typeface="Aptos"/>
                <a:ea typeface="Aptos"/>
                <a:cs typeface="Aptos"/>
              </a:rPr>
              <a:t>Run locally</a:t>
            </a:r>
          </a:p>
        </p:txBody>
      </p:sp>
      <p:sp>
        <p:nvSpPr>
          <p:cNvPr id="13" name="Shape 13"/>
          <p:cNvSpPr/>
          <p:nvPr/>
        </p:nvSpPr>
        <p:spPr>
          <a:xfrm>
            <a:off x="1903781" y="4160520"/>
            <a:ext cx="874166" cy="274320"/>
          </a:xfrm>
          <a:prstGeom prst="roundRect">
            <a:avLst/>
          </a:prstGeom>
          <a:solidFill>
            <a:srgbClr val="1D6FB8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14" name="TextBox 14"/>
          <p:cNvSpPr txBox="1"/>
          <p:nvPr/>
        </p:nvSpPr>
        <p:spPr>
          <a:xfrm>
            <a:off x="1903781" y="4206240"/>
            <a:ext cx="874166" cy="10972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"/>
              </a:spcAft>
            </a:pPr>
            <a:r>
              <a:rPr sz="700" b="1">
                <a:solidFill>
                  <a:srgbClr val="DFF7FF"/>
                </a:solidFill>
                <a:latin typeface="Aptos"/>
                <a:ea typeface="Aptos"/>
                <a:cs typeface="Aptos"/>
              </a:rPr>
              <a:t>Code map</a:t>
            </a:r>
          </a:p>
        </p:txBody>
      </p:sp>
      <p:sp>
        <p:nvSpPr>
          <p:cNvPr id="15" name="Shape 15"/>
          <p:cNvSpPr/>
          <p:nvPr/>
        </p:nvSpPr>
        <p:spPr>
          <a:xfrm>
            <a:off x="2896819" y="4160520"/>
            <a:ext cx="1324051" cy="274320"/>
          </a:xfrm>
          <a:prstGeom prst="roundRect">
            <a:avLst/>
          </a:prstGeom>
          <a:solidFill>
            <a:srgbClr val="1D6FB8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16" name="TextBox 16"/>
          <p:cNvSpPr txBox="1"/>
          <p:nvPr/>
        </p:nvSpPr>
        <p:spPr>
          <a:xfrm>
            <a:off x="2896819" y="4206240"/>
            <a:ext cx="1324051" cy="10972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"/>
              </a:spcAft>
            </a:pPr>
            <a:r>
              <a:rPr sz="700" b="1">
                <a:solidFill>
                  <a:srgbClr val="DFF7FF"/>
                </a:solidFill>
                <a:latin typeface="Aptos"/>
                <a:ea typeface="Aptos"/>
                <a:cs typeface="Aptos"/>
              </a:rPr>
              <a:t>DataScope flow</a:t>
            </a:r>
          </a:p>
        </p:txBody>
      </p:sp>
      <p:sp>
        <p:nvSpPr>
          <p:cNvPr id="17" name="Shape 17"/>
          <p:cNvSpPr/>
          <p:nvPr/>
        </p:nvSpPr>
        <p:spPr>
          <a:xfrm>
            <a:off x="4339742" y="4160520"/>
            <a:ext cx="1923898" cy="274320"/>
          </a:xfrm>
          <a:prstGeom prst="roundRect">
            <a:avLst/>
          </a:prstGeom>
          <a:solidFill>
            <a:srgbClr val="1D6FB8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18" name="TextBox 18"/>
          <p:cNvSpPr txBox="1"/>
          <p:nvPr/>
        </p:nvSpPr>
        <p:spPr>
          <a:xfrm>
            <a:off x="4339742" y="4206240"/>
            <a:ext cx="1923898" cy="10972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"/>
              </a:spcAft>
            </a:pPr>
            <a:r>
              <a:rPr sz="700" b="1">
                <a:solidFill>
                  <a:srgbClr val="DFF7FF"/>
                </a:solidFill>
                <a:latin typeface="Aptos"/>
                <a:ea typeface="Aptos"/>
                <a:cs typeface="Aptos"/>
              </a:rPr>
              <a:t>Provisioning lifecycle</a:t>
            </a:r>
          </a:p>
        </p:txBody>
      </p:sp>
      <p:sp>
        <p:nvSpPr>
          <p:cNvPr id="19" name="Shape 19"/>
          <p:cNvSpPr/>
          <p:nvPr/>
        </p:nvSpPr>
        <p:spPr>
          <a:xfrm>
            <a:off x="6382512" y="4160520"/>
            <a:ext cx="1249070" cy="274320"/>
          </a:xfrm>
          <a:prstGeom prst="roundRect">
            <a:avLst/>
          </a:prstGeom>
          <a:solidFill>
            <a:srgbClr val="1D6FB8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20" name="TextBox 20"/>
          <p:cNvSpPr txBox="1"/>
          <p:nvPr/>
        </p:nvSpPr>
        <p:spPr>
          <a:xfrm>
            <a:off x="6382512" y="4206240"/>
            <a:ext cx="1249070" cy="10972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"/>
              </a:spcAft>
            </a:pPr>
            <a:r>
              <a:rPr sz="700" b="1">
                <a:solidFill>
                  <a:srgbClr val="DFF7FF"/>
                </a:solidFill>
                <a:latin typeface="Aptos"/>
                <a:ea typeface="Aptos"/>
                <a:cs typeface="Aptos"/>
              </a:rPr>
              <a:t>How to extend</a:t>
            </a:r>
          </a:p>
        </p:txBody>
      </p:sp>
      <p:sp>
        <p:nvSpPr>
          <p:cNvPr id="21" name="Shape 21"/>
          <p:cNvSpPr/>
          <p:nvPr/>
        </p:nvSpPr>
        <p:spPr>
          <a:xfrm>
            <a:off x="8339328" y="1371600"/>
            <a:ext cx="2788920" cy="4114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22" name="TextBox 22"/>
          <p:cNvSpPr txBox="1"/>
          <p:nvPr/>
        </p:nvSpPr>
        <p:spPr>
          <a:xfrm>
            <a:off x="8595360" y="1664208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"/>
              </a:spcAft>
            </a:pPr>
            <a:r>
              <a:rPr sz="1500" b="1">
                <a:solidFill>
                  <a:srgbClr val="071E3A"/>
                </a:solidFill>
                <a:latin typeface="Cambria"/>
                <a:ea typeface="Cambria"/>
                <a:cs typeface="Cambria"/>
              </a:rPr>
              <a:t>Team focus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613648" y="2148840"/>
            <a:ext cx="2194560" cy="26060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60"/>
              </a:spcAft>
            </a:pPr>
            <a:r>
              <a:rPr sz="1300">
                <a:solidFill>
                  <a:srgbClr val="5B6878"/>
                </a:solidFill>
                <a:latin typeface="Aptos"/>
                <a:ea typeface="Aptos"/>
                <a:cs typeface="Aptos"/>
              </a:rPr>
              <a:t>Not a sales deck. Use this to onboard engineers, explain the UI-to-service flow, and plan what we build next.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3" name="TextBox 3"/>
          <p:cNvSpPr txBox="1"/>
          <p:nvPr/>
        </p:nvSpPr>
        <p:spPr>
          <a:xfrm>
            <a:off x="502920" y="310896"/>
            <a:ext cx="402336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60"/>
              </a:spcAft>
            </a:pPr>
            <a:r>
              <a:rPr sz="1000" b="1">
                <a:solidFill>
                  <a:srgbClr val="1D6FB8"/>
                </a:solidFill>
                <a:latin typeface="Aptos"/>
                <a:ea typeface="Aptos"/>
                <a:cs typeface="Aptos"/>
              </a:rPr>
              <a:t>START HERE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02920" y="566928"/>
            <a:ext cx="94183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"/>
              </a:spcAft>
            </a:pPr>
            <a:r>
              <a:rPr sz="2600" b="1">
                <a:solidFill>
                  <a:srgbClr val="071E3A"/>
                </a:solidFill>
                <a:latin typeface="Cambria"/>
                <a:ea typeface="Cambria"/>
                <a:cs typeface="Cambria"/>
              </a:rPr>
              <a:t>How to run and orient yourself locally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972800" y="621792"/>
            <a:ext cx="5943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70"/>
              </a:spcAft>
            </a:pPr>
            <a:r>
              <a:rPr sz="1200" b="1">
                <a:solidFill>
                  <a:srgbClr val="1D6FB8"/>
                </a:solidFill>
                <a:latin typeface="Cambria"/>
                <a:ea typeface="Cambria"/>
                <a:cs typeface="Cambria"/>
              </a:rPr>
              <a:t>02</a:t>
            </a:r>
          </a:p>
        </p:txBody>
      </p:sp>
      <p:sp>
        <p:nvSpPr>
          <p:cNvPr id="6" name="Shape 6"/>
          <p:cNvSpPr/>
          <p:nvPr/>
        </p:nvSpPr>
        <p:spPr>
          <a:xfrm>
            <a:off x="502920" y="1124712"/>
            <a:ext cx="11155680" cy="20117"/>
          </a:xfrm>
          <a:prstGeom prst="rect">
            <a:avLst/>
          </a:prstGeom>
          <a:solidFill>
            <a:srgbClr val="DCE4ED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7" name="Shape 7"/>
          <p:cNvSpPr/>
          <p:nvPr/>
        </p:nvSpPr>
        <p:spPr>
          <a:xfrm>
            <a:off x="685800" y="1536192"/>
            <a:ext cx="3429000" cy="1508760"/>
          </a:xfrm>
          <a:prstGeom prst="roundRect">
            <a:avLst/>
          </a:prstGeom>
          <a:solidFill>
            <a:srgbClr val="F4F8FF"/>
          </a:solidFill>
          <a:ln w="9525">
            <a:solidFill>
              <a:srgbClr val="DCE4ED"/>
            </a:solidFill>
          </a:ln>
          <a:effectLst/>
        </p:spPr>
        <p:txBody>
          <a:bodyPr/>
          <a:lstStyle/>
          <a:p/>
        </p:txBody>
      </p:sp>
      <p:sp>
        <p:nvSpPr>
          <p:cNvPr id="8" name="Shape 8"/>
          <p:cNvSpPr/>
          <p:nvPr/>
        </p:nvSpPr>
        <p:spPr>
          <a:xfrm>
            <a:off x="850392" y="1682496"/>
            <a:ext cx="475488" cy="256032"/>
          </a:xfrm>
          <a:prstGeom prst="roundRect">
            <a:avLst/>
          </a:prstGeom>
          <a:solidFill>
            <a:srgbClr val="1D6FB8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9" name="TextBox 9"/>
          <p:cNvSpPr txBox="1"/>
          <p:nvPr/>
        </p:nvSpPr>
        <p:spPr>
          <a:xfrm>
            <a:off x="850392" y="1700784"/>
            <a:ext cx="475488" cy="146304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30"/>
              </a:spcAft>
            </a:pPr>
            <a:r>
              <a:rPr sz="7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CLI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35608" y="1673352"/>
            <a:ext cx="3044952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60"/>
              </a:spcAft>
            </a:pPr>
            <a:r>
              <a:rPr sz="1200" b="1">
                <a:solidFill>
                  <a:srgbClr val="071E3A"/>
                </a:solidFill>
                <a:latin typeface="Aptos"/>
                <a:ea typeface="Aptos"/>
                <a:cs typeface="Aptos"/>
              </a:rPr>
              <a:t>Run command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68680" y="2039112"/>
            <a:ext cx="3063240" cy="97840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"/>
              </a:spcAft>
            </a:pPr>
            <a:r>
              <a:rPr sz="800">
                <a:solidFill>
                  <a:srgbClr val="5B6878"/>
                </a:solidFill>
                <a:latin typeface="Aptos"/>
                <a:ea typeface="Aptos"/>
                <a:cs typeface="Aptos"/>
              </a:rPr>
              <a:t>mvn spring-boot:run "-Dspring-boot.run.profiles=demo"</a:t>
            </a:r>
          </a:p>
          <a:p>
            <a:pPr algn="l">
              <a:spcAft>
                <a:spcPts val="90"/>
              </a:spcAft>
            </a:pPr>
            <a:r>
              <a:rPr sz="800">
                <a:solidFill>
                  <a:srgbClr val="5B6878"/>
                </a:solidFill>
                <a:latin typeface="Aptos"/>
                <a:ea typeface="Aptos"/>
                <a:cs typeface="Aptos"/>
              </a:rPr>
              <a:t>Open http://localhost:8088</a:t>
            </a:r>
          </a:p>
        </p:txBody>
      </p:sp>
      <p:sp>
        <p:nvSpPr>
          <p:cNvPr id="12" name="Shape 12"/>
          <p:cNvSpPr/>
          <p:nvPr/>
        </p:nvSpPr>
        <p:spPr>
          <a:xfrm>
            <a:off x="4434840" y="1536192"/>
            <a:ext cx="3429000" cy="1508760"/>
          </a:xfrm>
          <a:prstGeom prst="roundRect">
            <a:avLst/>
          </a:prstGeom>
          <a:solidFill>
            <a:srgbClr val="EAF7EF"/>
          </a:solidFill>
          <a:ln w="9525">
            <a:solidFill>
              <a:srgbClr val="DCE4ED"/>
            </a:solidFill>
          </a:ln>
          <a:effectLst/>
        </p:spPr>
        <p:txBody>
          <a:bodyPr/>
          <a:lstStyle/>
          <a:p/>
        </p:txBody>
      </p:sp>
      <p:sp>
        <p:nvSpPr>
          <p:cNvPr id="13" name="Shape 13"/>
          <p:cNvSpPr/>
          <p:nvPr/>
        </p:nvSpPr>
        <p:spPr>
          <a:xfrm>
            <a:off x="4599432" y="1682496"/>
            <a:ext cx="475488" cy="256032"/>
          </a:xfrm>
          <a:prstGeom prst="roundRect">
            <a:avLst/>
          </a:prstGeom>
          <a:solidFill>
            <a:srgbClr val="2F7D59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14" name="TextBox 14"/>
          <p:cNvSpPr txBox="1"/>
          <p:nvPr/>
        </p:nvSpPr>
        <p:spPr>
          <a:xfrm>
            <a:off x="4599432" y="1700784"/>
            <a:ext cx="475488" cy="146304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30"/>
              </a:spcAft>
            </a:pPr>
            <a:r>
              <a:rPr sz="7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UI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184648" y="1673352"/>
            <a:ext cx="3044952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60"/>
              </a:spcAft>
            </a:pPr>
            <a:r>
              <a:rPr sz="1200" b="1">
                <a:solidFill>
                  <a:srgbClr val="071E3A"/>
                </a:solidFill>
                <a:latin typeface="Aptos"/>
                <a:ea typeface="Aptos"/>
                <a:cs typeface="Aptos"/>
              </a:rPr>
              <a:t>Main app shell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617720" y="2039112"/>
            <a:ext cx="3063240" cy="97840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"/>
              </a:spcAft>
            </a:pPr>
            <a:r>
              <a:rPr sz="800">
                <a:solidFill>
                  <a:srgbClr val="5B6878"/>
                </a:solidFill>
                <a:latin typeface="Aptos"/>
                <a:ea typeface="Aptos"/>
                <a:cs typeface="Aptos"/>
              </a:rPr>
              <a:t>src/main/resources/static/index.html</a:t>
            </a:r>
          </a:p>
          <a:p>
            <a:pPr algn="l">
              <a:spcAft>
                <a:spcPts val="90"/>
              </a:spcAft>
            </a:pPr>
            <a:r>
              <a:rPr sz="800">
                <a:solidFill>
                  <a:srgbClr val="5B6878"/>
                </a:solidFill>
                <a:latin typeface="Aptos"/>
                <a:ea typeface="Aptos"/>
                <a:cs typeface="Aptos"/>
              </a:rPr>
              <a:t>styles.css, app.js, synth-wizard.js, mapping*.js</a:t>
            </a:r>
          </a:p>
        </p:txBody>
      </p:sp>
      <p:sp>
        <p:nvSpPr>
          <p:cNvPr id="17" name="Shape 17"/>
          <p:cNvSpPr/>
          <p:nvPr/>
        </p:nvSpPr>
        <p:spPr>
          <a:xfrm>
            <a:off x="8183880" y="1536192"/>
            <a:ext cx="3063240" cy="1508760"/>
          </a:xfrm>
          <a:prstGeom prst="roundRect">
            <a:avLst/>
          </a:prstGeom>
          <a:solidFill>
            <a:srgbClr val="F1EFFF"/>
          </a:solidFill>
          <a:ln w="9525">
            <a:solidFill>
              <a:srgbClr val="DCE4ED"/>
            </a:solidFill>
          </a:ln>
          <a:effectLst/>
        </p:spPr>
        <p:txBody>
          <a:bodyPr/>
          <a:lstStyle/>
          <a:p/>
        </p:txBody>
      </p:sp>
      <p:sp>
        <p:nvSpPr>
          <p:cNvPr id="18" name="Shape 18"/>
          <p:cNvSpPr/>
          <p:nvPr/>
        </p:nvSpPr>
        <p:spPr>
          <a:xfrm>
            <a:off x="8348472" y="1682496"/>
            <a:ext cx="475488" cy="256032"/>
          </a:xfrm>
          <a:prstGeom prst="roundRect">
            <a:avLst/>
          </a:prstGeom>
          <a:solidFill>
            <a:srgbClr val="5146A6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19" name="TextBox 19"/>
          <p:cNvSpPr txBox="1"/>
          <p:nvPr/>
        </p:nvSpPr>
        <p:spPr>
          <a:xfrm>
            <a:off x="8348472" y="1700784"/>
            <a:ext cx="475488" cy="146304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30"/>
              </a:spcAft>
            </a:pPr>
            <a:r>
              <a:rPr sz="7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API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933688" y="1673352"/>
            <a:ext cx="2679192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60"/>
              </a:spcAft>
            </a:pPr>
            <a:r>
              <a:rPr sz="1200" b="1">
                <a:solidFill>
                  <a:srgbClr val="071E3A"/>
                </a:solidFill>
                <a:latin typeface="Aptos"/>
                <a:ea typeface="Aptos"/>
                <a:cs typeface="Aptos"/>
              </a:rPr>
              <a:t>Backend entry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366760" y="2039112"/>
            <a:ext cx="2697480" cy="97840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"/>
              </a:spcAft>
            </a:pPr>
            <a:r>
              <a:rPr sz="800">
                <a:solidFill>
                  <a:srgbClr val="5B6878"/>
                </a:solidFill>
                <a:latin typeface="Aptos"/>
                <a:ea typeface="Aptos"/>
                <a:cs typeface="Aptos"/>
              </a:rPr>
              <a:t>ForgeTdmApplication.java</a:t>
            </a:r>
          </a:p>
          <a:p>
            <a:pPr algn="l">
              <a:spcAft>
                <a:spcPts val="90"/>
              </a:spcAft>
            </a:pPr>
            <a:r>
              <a:rPr sz="800">
                <a:solidFill>
                  <a:srgbClr val="5B6878"/>
                </a:solidFill>
                <a:latin typeface="Aptos"/>
                <a:ea typeface="Aptos"/>
                <a:cs typeface="Aptos"/>
              </a:rPr>
              <a:t>Controllers expose /api/*, services hold business logic.</a:t>
            </a:r>
          </a:p>
        </p:txBody>
      </p:sp>
      <p:sp>
        <p:nvSpPr>
          <p:cNvPr id="22" name="Shape 22"/>
          <p:cNvSpPr/>
          <p:nvPr/>
        </p:nvSpPr>
        <p:spPr>
          <a:xfrm>
            <a:off x="685800" y="3566160"/>
            <a:ext cx="10561320" cy="17373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4ED"/>
            </a:solidFill>
          </a:ln>
          <a:effectLst/>
        </p:spPr>
        <p:txBody>
          <a:bodyPr/>
          <a:lstStyle/>
          <a:p/>
        </p:txBody>
      </p:sp>
      <p:sp>
        <p:nvSpPr>
          <p:cNvPr id="23" name="TextBox 23"/>
          <p:cNvSpPr txBox="1"/>
          <p:nvPr/>
        </p:nvSpPr>
        <p:spPr>
          <a:xfrm>
            <a:off x="914400" y="3794760"/>
            <a:ext cx="996696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60"/>
              </a:spcAft>
            </a:pPr>
            <a:r>
              <a:rPr sz="1400" b="1">
                <a:solidFill>
                  <a:srgbClr val="071E3A"/>
                </a:solidFill>
                <a:latin typeface="Aptos"/>
                <a:ea typeface="Aptos"/>
                <a:cs typeface="Aptos"/>
              </a:rPr>
              <a:t>Demo profile mental model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14400" y="4187952"/>
            <a:ext cx="996696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60"/>
              </a:spcAft>
            </a:pPr>
            <a:r>
              <a:rPr sz="1200">
                <a:solidFill>
                  <a:srgbClr val="5B6878"/>
                </a:solidFill>
                <a:latin typeface="Aptos"/>
                <a:ea typeface="Aptos"/>
                <a:cs typeface="Aptos"/>
              </a:rPr>
              <a:t>The demo profile is for local exploration: register or use reachable data sources, run discovery, create policy, build DataScope, launch jobs, then validate. Keep the team walkthrough focused on the screens and the request/response flow rather than business claims.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13232" y="5760720"/>
            <a:ext cx="1042416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160"/>
              </a:spcAft>
            </a:pPr>
            <a:r>
              <a:rPr sz="1100" b="1">
                <a:solidFill>
                  <a:srgbClr val="1D6FB8"/>
                </a:solidFill>
                <a:latin typeface="Aptos"/>
                <a:ea typeface="Aptos"/>
                <a:cs typeface="Aptos"/>
              </a:rPr>
              <a:t>Tip: when showing the team, keep DevTools or logs nearby so people see API calls and job status changes.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02920" y="6446520"/>
            <a:ext cx="521208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60"/>
              </a:spcAft>
            </a:pPr>
            <a:r>
              <a:rPr sz="800">
                <a:solidFill>
                  <a:srgbClr val="5B6878"/>
                </a:solidFill>
                <a:latin typeface="Aptos"/>
                <a:ea typeface="Aptos"/>
                <a:cs typeface="Aptos"/>
              </a:rPr>
              <a:t>ForgeTDM team walkthrough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109960" y="6446520"/>
            <a:ext cx="4572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160"/>
              </a:spcAft>
            </a:pPr>
            <a:r>
              <a:rPr sz="800">
                <a:solidFill>
                  <a:srgbClr val="5B687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3" name="TextBox 3"/>
          <p:cNvSpPr txBox="1"/>
          <p:nvPr/>
        </p:nvSpPr>
        <p:spPr>
          <a:xfrm>
            <a:off x="502920" y="310896"/>
            <a:ext cx="402336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60"/>
              </a:spcAft>
            </a:pPr>
            <a:r>
              <a:rPr sz="1000" b="1">
                <a:solidFill>
                  <a:srgbClr val="1D6FB8"/>
                </a:solidFill>
                <a:latin typeface="Aptos"/>
                <a:ea typeface="Aptos"/>
                <a:cs typeface="Aptos"/>
              </a:rPr>
              <a:t>ARCHITECTURE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02920" y="566928"/>
            <a:ext cx="94183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"/>
              </a:spcAft>
            </a:pPr>
            <a:r>
              <a:rPr sz="2600" b="1">
                <a:solidFill>
                  <a:srgbClr val="071E3A"/>
                </a:solidFill>
                <a:latin typeface="Cambria"/>
                <a:ea typeface="Cambria"/>
                <a:cs typeface="Cambria"/>
              </a:rPr>
              <a:t>UI to controller to service to storage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972800" y="621792"/>
            <a:ext cx="5943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70"/>
              </a:spcAft>
            </a:pPr>
            <a:r>
              <a:rPr sz="1200" b="1">
                <a:solidFill>
                  <a:srgbClr val="1D6FB8"/>
                </a:solidFill>
                <a:latin typeface="Cambria"/>
                <a:ea typeface="Cambria"/>
                <a:cs typeface="Cambria"/>
              </a:rPr>
              <a:t>03</a:t>
            </a:r>
          </a:p>
        </p:txBody>
      </p:sp>
      <p:sp>
        <p:nvSpPr>
          <p:cNvPr id="6" name="Shape 6"/>
          <p:cNvSpPr/>
          <p:nvPr/>
        </p:nvSpPr>
        <p:spPr>
          <a:xfrm>
            <a:off x="502920" y="1124712"/>
            <a:ext cx="11155680" cy="20117"/>
          </a:xfrm>
          <a:prstGeom prst="rect">
            <a:avLst/>
          </a:prstGeom>
          <a:solidFill>
            <a:srgbClr val="DCE4ED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7" name="Shape 7"/>
          <p:cNvSpPr/>
          <p:nvPr/>
        </p:nvSpPr>
        <p:spPr>
          <a:xfrm>
            <a:off x="502920" y="1920240"/>
            <a:ext cx="2011680" cy="2514600"/>
          </a:xfrm>
          <a:prstGeom prst="roundRect">
            <a:avLst/>
          </a:prstGeom>
          <a:solidFill>
            <a:srgbClr val="F4F8FF"/>
          </a:solidFill>
          <a:ln w="9525">
            <a:solidFill>
              <a:srgbClr val="DCE4ED"/>
            </a:solidFill>
          </a:ln>
          <a:effectLst/>
        </p:spPr>
        <p:txBody>
          <a:bodyPr/>
          <a:lstStyle/>
          <a:p/>
        </p:txBody>
      </p:sp>
      <p:sp>
        <p:nvSpPr>
          <p:cNvPr id="8" name="TextBox 8"/>
          <p:cNvSpPr txBox="1"/>
          <p:nvPr/>
        </p:nvSpPr>
        <p:spPr>
          <a:xfrm>
            <a:off x="667512" y="2148840"/>
            <a:ext cx="16459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160"/>
              </a:spcAft>
            </a:pPr>
            <a:r>
              <a:rPr sz="1100" b="1">
                <a:solidFill>
                  <a:srgbClr val="071E3A"/>
                </a:solidFill>
                <a:latin typeface="Aptos"/>
                <a:ea typeface="Aptos"/>
                <a:cs typeface="Aptos"/>
              </a:rPr>
              <a:t>Browser UI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67512" y="2606040"/>
            <a:ext cx="1664208" cy="10515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160"/>
              </a:spcAft>
            </a:pPr>
            <a:r>
              <a:rPr sz="800">
                <a:solidFill>
                  <a:srgbClr val="5B6878"/>
                </a:solidFill>
                <a:latin typeface="Aptos"/>
                <a:ea typeface="Aptos"/>
                <a:cs typeface="Aptos"/>
              </a:rPr>
              <a:t>index.html + app.js + page-specific JS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560320" y="2880360"/>
            <a:ext cx="219456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160"/>
              </a:spcAft>
            </a:pPr>
            <a:r>
              <a:rPr sz="1600" b="1">
                <a:solidFill>
                  <a:srgbClr val="1D6FB8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1" name="Shape 11"/>
          <p:cNvSpPr/>
          <p:nvPr/>
        </p:nvSpPr>
        <p:spPr>
          <a:xfrm>
            <a:off x="2807208" y="1920240"/>
            <a:ext cx="2011680" cy="2514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4ED"/>
            </a:solidFill>
          </a:ln>
          <a:effectLst/>
        </p:spPr>
        <p:txBody>
          <a:bodyPr/>
          <a:lstStyle/>
          <a:p/>
        </p:txBody>
      </p:sp>
      <p:sp>
        <p:nvSpPr>
          <p:cNvPr id="12" name="TextBox 12"/>
          <p:cNvSpPr txBox="1"/>
          <p:nvPr/>
        </p:nvSpPr>
        <p:spPr>
          <a:xfrm>
            <a:off x="2971800" y="2148840"/>
            <a:ext cx="16459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160"/>
              </a:spcAft>
            </a:pPr>
            <a:r>
              <a:rPr sz="1100" b="1">
                <a:solidFill>
                  <a:srgbClr val="071E3A"/>
                </a:solidFill>
                <a:latin typeface="Aptos"/>
                <a:ea typeface="Aptos"/>
                <a:cs typeface="Aptos"/>
              </a:rPr>
              <a:t>REST Controllers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971800" y="2606040"/>
            <a:ext cx="1664208" cy="10515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160"/>
              </a:spcAft>
            </a:pPr>
            <a:r>
              <a:rPr sz="800">
                <a:solidFill>
                  <a:srgbClr val="5B6878"/>
                </a:solidFill>
                <a:latin typeface="Aptos"/>
                <a:ea typeface="Aptos"/>
                <a:cs typeface="Aptos"/>
              </a:rPr>
              <a:t>/api/datasources, /api/discovery, /api/jobs, /api/datasets, /api/mainframe, /api/virtualization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864608" y="2880360"/>
            <a:ext cx="219456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160"/>
              </a:spcAft>
            </a:pPr>
            <a:r>
              <a:rPr sz="1600" b="1">
                <a:solidFill>
                  <a:srgbClr val="1D6FB8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5" name="Shape 15"/>
          <p:cNvSpPr/>
          <p:nvPr/>
        </p:nvSpPr>
        <p:spPr>
          <a:xfrm>
            <a:off x="5111496" y="1920240"/>
            <a:ext cx="2011680" cy="2514600"/>
          </a:xfrm>
          <a:prstGeom prst="roundRect">
            <a:avLst/>
          </a:prstGeom>
          <a:solidFill>
            <a:srgbClr val="F4F8FF"/>
          </a:solidFill>
          <a:ln w="9525">
            <a:solidFill>
              <a:srgbClr val="DCE4ED"/>
            </a:solidFill>
          </a:ln>
          <a:effectLst/>
        </p:spPr>
        <p:txBody>
          <a:bodyPr/>
          <a:lstStyle/>
          <a:p/>
        </p:txBody>
      </p:sp>
      <p:sp>
        <p:nvSpPr>
          <p:cNvPr id="16" name="TextBox 16"/>
          <p:cNvSpPr txBox="1"/>
          <p:nvPr/>
        </p:nvSpPr>
        <p:spPr>
          <a:xfrm>
            <a:off x="5276088" y="2148840"/>
            <a:ext cx="16459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160"/>
              </a:spcAft>
            </a:pPr>
            <a:r>
              <a:rPr sz="1100" b="1">
                <a:solidFill>
                  <a:srgbClr val="071E3A"/>
                </a:solidFill>
                <a:latin typeface="Aptos"/>
                <a:ea typeface="Aptos"/>
                <a:cs typeface="Aptos"/>
              </a:rPr>
              <a:t>Services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276088" y="2606040"/>
            <a:ext cx="1664208" cy="10515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160"/>
              </a:spcAft>
            </a:pPr>
            <a:r>
              <a:rPr sz="800">
                <a:solidFill>
                  <a:srgbClr val="5B6878"/>
                </a:solidFill>
                <a:latin typeface="Aptos"/>
                <a:ea typeface="Aptos"/>
                <a:cs typeface="Aptos"/>
              </a:rPr>
              <a:t>DiscoveryService, DataSetService, ProvisioningService, SyntheticGenService, ValidationService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168896" y="2880360"/>
            <a:ext cx="219456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160"/>
              </a:spcAft>
            </a:pPr>
            <a:r>
              <a:rPr sz="1600" b="1">
                <a:solidFill>
                  <a:srgbClr val="1D6FB8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9" name="Shape 19"/>
          <p:cNvSpPr/>
          <p:nvPr/>
        </p:nvSpPr>
        <p:spPr>
          <a:xfrm>
            <a:off x="7415784" y="1920240"/>
            <a:ext cx="2011680" cy="2514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4ED"/>
            </a:solidFill>
          </a:ln>
          <a:effectLst/>
        </p:spPr>
        <p:txBody>
          <a:bodyPr/>
          <a:lstStyle/>
          <a:p/>
        </p:txBody>
      </p:sp>
      <p:sp>
        <p:nvSpPr>
          <p:cNvPr id="20" name="TextBox 20"/>
          <p:cNvSpPr txBox="1"/>
          <p:nvPr/>
        </p:nvSpPr>
        <p:spPr>
          <a:xfrm>
            <a:off x="7580376" y="2148840"/>
            <a:ext cx="16459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160"/>
              </a:spcAft>
            </a:pPr>
            <a:r>
              <a:rPr sz="1100" b="1">
                <a:solidFill>
                  <a:srgbClr val="071E3A"/>
                </a:solidFill>
                <a:latin typeface="Aptos"/>
                <a:ea typeface="Aptos"/>
                <a:cs typeface="Aptos"/>
              </a:rPr>
              <a:t>Persistence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580376" y="2606040"/>
            <a:ext cx="1664208" cy="10515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160"/>
              </a:spcAft>
            </a:pPr>
            <a:r>
              <a:rPr sz="800">
                <a:solidFill>
                  <a:srgbClr val="5B6878"/>
                </a:solidFill>
                <a:latin typeface="Aptos"/>
                <a:ea typeface="Aptos"/>
                <a:cs typeface="Aptos"/>
              </a:rPr>
              <a:t>JPA repositories, Flyway migrations, config database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473184" y="2880360"/>
            <a:ext cx="219456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160"/>
              </a:spcAft>
            </a:pPr>
            <a:r>
              <a:rPr sz="1600" b="1">
                <a:solidFill>
                  <a:srgbClr val="1D6FB8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3" name="Shape 23"/>
          <p:cNvSpPr/>
          <p:nvPr/>
        </p:nvSpPr>
        <p:spPr>
          <a:xfrm>
            <a:off x="9720072" y="1920240"/>
            <a:ext cx="2011680" cy="2514600"/>
          </a:xfrm>
          <a:prstGeom prst="roundRect">
            <a:avLst/>
          </a:prstGeom>
          <a:solidFill>
            <a:srgbClr val="F4F8FF"/>
          </a:solidFill>
          <a:ln w="9525">
            <a:solidFill>
              <a:srgbClr val="DCE4ED"/>
            </a:solidFill>
          </a:ln>
          <a:effectLst/>
        </p:spPr>
        <p:txBody>
          <a:bodyPr/>
          <a:lstStyle/>
          <a:p/>
        </p:txBody>
      </p:sp>
      <p:sp>
        <p:nvSpPr>
          <p:cNvPr id="24" name="TextBox 24"/>
          <p:cNvSpPr txBox="1"/>
          <p:nvPr/>
        </p:nvSpPr>
        <p:spPr>
          <a:xfrm>
            <a:off x="9884664" y="2148840"/>
            <a:ext cx="16459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160"/>
              </a:spcAft>
            </a:pPr>
            <a:r>
              <a:rPr sz="1100" b="1">
                <a:solidFill>
                  <a:srgbClr val="071E3A"/>
                </a:solidFill>
                <a:latin typeface="Aptos"/>
                <a:ea typeface="Aptos"/>
                <a:cs typeface="Aptos"/>
              </a:rPr>
              <a:t>External systems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884664" y="2606040"/>
            <a:ext cx="1664208" cy="10515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160"/>
              </a:spcAft>
            </a:pPr>
            <a:r>
              <a:rPr sz="800">
                <a:solidFill>
                  <a:srgbClr val="5B6878"/>
                </a:solidFill>
                <a:latin typeface="Aptos"/>
                <a:ea typeface="Aptos"/>
                <a:cs typeface="Aptos"/>
              </a:rPr>
              <a:t>JDBC DBs, LPAR/Zowe/local files, Docker/ZFS, optional LLM</a:t>
            </a:r>
          </a:p>
        </p:txBody>
      </p:sp>
      <p:sp>
        <p:nvSpPr>
          <p:cNvPr id="26" name="Shape 26"/>
          <p:cNvSpPr/>
          <p:nvPr/>
        </p:nvSpPr>
        <p:spPr>
          <a:xfrm>
            <a:off x="960120" y="5074920"/>
            <a:ext cx="10241280" cy="685800"/>
          </a:xfrm>
          <a:prstGeom prst="roundRect">
            <a:avLst/>
          </a:prstGeom>
          <a:solidFill>
            <a:srgbClr val="071E3A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27" name="TextBox 27"/>
          <p:cNvSpPr txBox="1"/>
          <p:nvPr/>
        </p:nvSpPr>
        <p:spPr>
          <a:xfrm>
            <a:off x="1143000" y="5276088"/>
            <a:ext cx="978408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160"/>
              </a:spcAft>
            </a:pPr>
            <a:r>
              <a:rPr sz="1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Pattern to remember: UI collects intent -&gt; controller validates shape -&gt; service executes workflow -&gt; repository records metadata -&gt; job/status/audit feeds UI.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02920" y="6446520"/>
            <a:ext cx="521208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60"/>
              </a:spcAft>
            </a:pPr>
            <a:r>
              <a:rPr sz="800">
                <a:solidFill>
                  <a:srgbClr val="5B6878"/>
                </a:solidFill>
                <a:latin typeface="Aptos"/>
                <a:ea typeface="Aptos"/>
                <a:cs typeface="Aptos"/>
              </a:rPr>
              <a:t>ForgeTDM team walkthrough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109960" y="6446520"/>
            <a:ext cx="4572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160"/>
              </a:spcAft>
            </a:pPr>
            <a:r>
              <a:rPr sz="800">
                <a:solidFill>
                  <a:srgbClr val="5B6878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3" name="TextBox 3"/>
          <p:cNvSpPr txBox="1"/>
          <p:nvPr/>
        </p:nvSpPr>
        <p:spPr>
          <a:xfrm>
            <a:off x="502920" y="310896"/>
            <a:ext cx="402336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60"/>
              </a:spcAft>
            </a:pPr>
            <a:r>
              <a:rPr sz="1000" b="1">
                <a:solidFill>
                  <a:srgbClr val="1D6FB8"/>
                </a:solidFill>
                <a:latin typeface="Aptos"/>
                <a:ea typeface="Aptos"/>
                <a:cs typeface="Aptos"/>
              </a:rPr>
              <a:t>CODE MAP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02920" y="566928"/>
            <a:ext cx="94183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"/>
              </a:spcAft>
            </a:pPr>
            <a:r>
              <a:rPr sz="2600" b="1">
                <a:solidFill>
                  <a:srgbClr val="071E3A"/>
                </a:solidFill>
                <a:latin typeface="Cambria"/>
                <a:ea typeface="Cambria"/>
                <a:cs typeface="Cambria"/>
              </a:rPr>
              <a:t>Where the main pieces live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972800" y="621792"/>
            <a:ext cx="5943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70"/>
              </a:spcAft>
            </a:pPr>
            <a:r>
              <a:rPr sz="1200" b="1">
                <a:solidFill>
                  <a:srgbClr val="1D6FB8"/>
                </a:solidFill>
                <a:latin typeface="Cambria"/>
                <a:ea typeface="Cambria"/>
                <a:cs typeface="Cambria"/>
              </a:rPr>
              <a:t>04</a:t>
            </a:r>
          </a:p>
        </p:txBody>
      </p:sp>
      <p:sp>
        <p:nvSpPr>
          <p:cNvPr id="6" name="Shape 6"/>
          <p:cNvSpPr/>
          <p:nvPr/>
        </p:nvSpPr>
        <p:spPr>
          <a:xfrm>
            <a:off x="502920" y="1124712"/>
            <a:ext cx="11155680" cy="20117"/>
          </a:xfrm>
          <a:prstGeom prst="rect">
            <a:avLst/>
          </a:prstGeom>
          <a:solidFill>
            <a:srgbClr val="DCE4ED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7" name="Shape 7"/>
          <p:cNvSpPr/>
          <p:nvPr/>
        </p:nvSpPr>
        <p:spPr>
          <a:xfrm>
            <a:off x="685800" y="1536192"/>
            <a:ext cx="3337560" cy="4160520"/>
          </a:xfrm>
          <a:prstGeom prst="roundRect">
            <a:avLst/>
          </a:prstGeom>
          <a:solidFill>
            <a:srgbClr val="F4F8FF"/>
          </a:solidFill>
          <a:ln w="9525">
            <a:solidFill>
              <a:srgbClr val="DCE4ED"/>
            </a:solidFill>
          </a:ln>
          <a:effectLst/>
        </p:spPr>
        <p:txBody>
          <a:bodyPr/>
          <a:lstStyle/>
          <a:p/>
        </p:txBody>
      </p:sp>
      <p:sp>
        <p:nvSpPr>
          <p:cNvPr id="8" name="Shape 8"/>
          <p:cNvSpPr/>
          <p:nvPr/>
        </p:nvSpPr>
        <p:spPr>
          <a:xfrm>
            <a:off x="850392" y="1682496"/>
            <a:ext cx="475488" cy="256032"/>
          </a:xfrm>
          <a:prstGeom prst="roundRect">
            <a:avLst/>
          </a:prstGeom>
          <a:solidFill>
            <a:srgbClr val="1D6FB8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9" name="TextBox 9"/>
          <p:cNvSpPr txBox="1"/>
          <p:nvPr/>
        </p:nvSpPr>
        <p:spPr>
          <a:xfrm>
            <a:off x="850392" y="1700784"/>
            <a:ext cx="475488" cy="146304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30"/>
              </a:spcAft>
            </a:pPr>
            <a:r>
              <a:rPr sz="7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UI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35608" y="1673352"/>
            <a:ext cx="2953512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60"/>
              </a:spcAft>
            </a:pPr>
            <a:r>
              <a:rPr sz="1200" b="1">
                <a:solidFill>
                  <a:srgbClr val="071E3A"/>
                </a:solidFill>
                <a:latin typeface="Aptos"/>
                <a:ea typeface="Aptos"/>
                <a:cs typeface="Aptos"/>
              </a:rPr>
              <a:t>Frontend files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68680" y="2039112"/>
            <a:ext cx="2971800" cy="36301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"/>
              </a:spcAft>
            </a:pPr>
            <a:r>
              <a:rPr sz="800">
                <a:solidFill>
                  <a:srgbClr val="5B6878"/>
                </a:solidFill>
                <a:latin typeface="Aptos"/>
                <a:ea typeface="Aptos"/>
                <a:cs typeface="Aptos"/>
              </a:rPr>
              <a:t>static/index.html: page layout and tabs</a:t>
            </a:r>
          </a:p>
          <a:p>
            <a:pPr algn="l">
              <a:spcAft>
                <a:spcPts val="90"/>
              </a:spcAft>
            </a:pPr>
            <a:r>
              <a:rPr sz="800">
                <a:solidFill>
                  <a:srgbClr val="5B6878"/>
                </a:solidFill>
                <a:latin typeface="Aptos"/>
                <a:ea typeface="Aptos"/>
                <a:cs typeface="Aptos"/>
              </a:rPr>
              <a:t>static/app.js: shared UI actions and most pages</a:t>
            </a:r>
          </a:p>
          <a:p>
            <a:pPr algn="l">
              <a:spcAft>
                <a:spcPts val="90"/>
              </a:spcAft>
            </a:pPr>
            <a:r>
              <a:rPr sz="800">
                <a:solidFill>
                  <a:srgbClr val="5B6878"/>
                </a:solidFill>
                <a:latin typeface="Aptos"/>
                <a:ea typeface="Aptos"/>
                <a:cs typeface="Aptos"/>
              </a:rPr>
              <a:t>static/synth-wizard.js: synthetic wizard override</a:t>
            </a:r>
          </a:p>
          <a:p>
            <a:pPr algn="l">
              <a:spcAft>
                <a:spcPts val="90"/>
              </a:spcAft>
            </a:pPr>
            <a:r>
              <a:rPr sz="800">
                <a:solidFill>
                  <a:srgbClr val="5B6878"/>
                </a:solidFill>
                <a:latin typeface="Aptos"/>
                <a:ea typeface="Aptos"/>
                <a:cs typeface="Aptos"/>
              </a:rPr>
              <a:t>static/mapping-*.js: mapping designer</a:t>
            </a:r>
          </a:p>
          <a:p>
            <a:pPr algn="l">
              <a:spcAft>
                <a:spcPts val="90"/>
              </a:spcAft>
            </a:pPr>
            <a:r>
              <a:rPr sz="800">
                <a:solidFill>
                  <a:srgbClr val="5B6878"/>
                </a:solidFill>
                <a:latin typeface="Aptos"/>
                <a:ea typeface="Aptos"/>
                <a:cs typeface="Aptos"/>
              </a:rPr>
              <a:t>styles.css: common visual system</a:t>
            </a:r>
          </a:p>
        </p:txBody>
      </p:sp>
      <p:sp>
        <p:nvSpPr>
          <p:cNvPr id="12" name="Shape 12"/>
          <p:cNvSpPr/>
          <p:nvPr/>
        </p:nvSpPr>
        <p:spPr>
          <a:xfrm>
            <a:off x="4434840" y="1536192"/>
            <a:ext cx="3337560" cy="4160520"/>
          </a:xfrm>
          <a:prstGeom prst="roundRect">
            <a:avLst/>
          </a:prstGeom>
          <a:solidFill>
            <a:srgbClr val="EAF7EF"/>
          </a:solidFill>
          <a:ln w="9525">
            <a:solidFill>
              <a:srgbClr val="DCE4ED"/>
            </a:solidFill>
          </a:ln>
          <a:effectLst/>
        </p:spPr>
        <p:txBody>
          <a:bodyPr/>
          <a:lstStyle/>
          <a:p/>
        </p:txBody>
      </p:sp>
      <p:sp>
        <p:nvSpPr>
          <p:cNvPr id="13" name="Shape 13"/>
          <p:cNvSpPr/>
          <p:nvPr/>
        </p:nvSpPr>
        <p:spPr>
          <a:xfrm>
            <a:off x="4599432" y="1682496"/>
            <a:ext cx="475488" cy="256032"/>
          </a:xfrm>
          <a:prstGeom prst="roundRect">
            <a:avLst/>
          </a:prstGeom>
          <a:solidFill>
            <a:srgbClr val="2F7D59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14" name="TextBox 14"/>
          <p:cNvSpPr txBox="1"/>
          <p:nvPr/>
        </p:nvSpPr>
        <p:spPr>
          <a:xfrm>
            <a:off x="4599432" y="1700784"/>
            <a:ext cx="475488" cy="146304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30"/>
              </a:spcAft>
            </a:pPr>
            <a:r>
              <a:rPr sz="7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JAVA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184648" y="1673352"/>
            <a:ext cx="2953512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60"/>
              </a:spcAft>
            </a:pPr>
            <a:r>
              <a:rPr sz="1200" b="1">
                <a:solidFill>
                  <a:srgbClr val="071E3A"/>
                </a:solidFill>
                <a:latin typeface="Aptos"/>
                <a:ea typeface="Aptos"/>
                <a:cs typeface="Aptos"/>
              </a:rPr>
              <a:t>Core backend packages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617720" y="2039112"/>
            <a:ext cx="2971800" cy="36301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"/>
              </a:spcAft>
            </a:pPr>
            <a:r>
              <a:rPr sz="800">
                <a:solidFill>
                  <a:srgbClr val="5B6878"/>
                </a:solidFill>
                <a:latin typeface="Aptos"/>
                <a:ea typeface="Aptos"/>
                <a:cs typeface="Aptos"/>
              </a:rPr>
              <a:t>datasource: connection catalog and metadata</a:t>
            </a:r>
          </a:p>
          <a:p>
            <a:pPr algn="l">
              <a:spcAft>
                <a:spcPts val="90"/>
              </a:spcAft>
            </a:pPr>
            <a:r>
              <a:rPr sz="800">
                <a:solidFill>
                  <a:srgbClr val="5B6878"/>
                </a:solidFill>
                <a:latin typeface="Aptos"/>
                <a:ea typeface="Aptos"/>
                <a:cs typeface="Aptos"/>
              </a:rPr>
              <a:t>discovery: scans and classification review</a:t>
            </a:r>
          </a:p>
          <a:p>
            <a:pPr algn="l">
              <a:spcAft>
                <a:spcPts val="90"/>
              </a:spcAft>
            </a:pPr>
            <a:r>
              <a:rPr sz="800">
                <a:solidFill>
                  <a:srgbClr val="5B6878"/>
                </a:solidFill>
                <a:latin typeface="Aptos"/>
                <a:ea typeface="Aptos"/>
                <a:cs typeface="Aptos"/>
              </a:rPr>
              <a:t>policy/core.mask: masking functions and rules</a:t>
            </a:r>
          </a:p>
          <a:p>
            <a:pPr algn="l">
              <a:spcAft>
                <a:spcPts val="90"/>
              </a:spcAft>
            </a:pPr>
            <a:r>
              <a:rPr sz="800">
                <a:solidFill>
                  <a:srgbClr val="5B6878"/>
                </a:solidFill>
                <a:latin typeface="Aptos"/>
                <a:ea typeface="Aptos"/>
                <a:cs typeface="Aptos"/>
              </a:rPr>
              <a:t>dataset: DataScope definitions, profiles, mappings</a:t>
            </a:r>
          </a:p>
          <a:p>
            <a:pPr algn="l">
              <a:spcAft>
                <a:spcPts val="90"/>
              </a:spcAft>
            </a:pPr>
            <a:r>
              <a:rPr sz="800">
                <a:solidFill>
                  <a:srgbClr val="5B6878"/>
                </a:solidFill>
                <a:latin typeface="Aptos"/>
                <a:ea typeface="Aptos"/>
                <a:cs typeface="Aptos"/>
              </a:rPr>
              <a:t>provision: async jobs and load engine</a:t>
            </a:r>
          </a:p>
        </p:txBody>
      </p:sp>
      <p:sp>
        <p:nvSpPr>
          <p:cNvPr id="17" name="Shape 17"/>
          <p:cNvSpPr/>
          <p:nvPr/>
        </p:nvSpPr>
        <p:spPr>
          <a:xfrm>
            <a:off x="8183880" y="1536192"/>
            <a:ext cx="3063240" cy="4160520"/>
          </a:xfrm>
          <a:prstGeom prst="roundRect">
            <a:avLst/>
          </a:prstGeom>
          <a:solidFill>
            <a:srgbClr val="F1EFFF"/>
          </a:solidFill>
          <a:ln w="9525">
            <a:solidFill>
              <a:srgbClr val="DCE4ED"/>
            </a:solidFill>
          </a:ln>
          <a:effectLst/>
        </p:spPr>
        <p:txBody>
          <a:bodyPr/>
          <a:lstStyle/>
          <a:p/>
        </p:txBody>
      </p:sp>
      <p:sp>
        <p:nvSpPr>
          <p:cNvPr id="18" name="Shape 18"/>
          <p:cNvSpPr/>
          <p:nvPr/>
        </p:nvSpPr>
        <p:spPr>
          <a:xfrm>
            <a:off x="8348472" y="1682496"/>
            <a:ext cx="475488" cy="256032"/>
          </a:xfrm>
          <a:prstGeom prst="roundRect">
            <a:avLst/>
          </a:prstGeom>
          <a:solidFill>
            <a:srgbClr val="5146A6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19" name="TextBox 19"/>
          <p:cNvSpPr txBox="1"/>
          <p:nvPr/>
        </p:nvSpPr>
        <p:spPr>
          <a:xfrm>
            <a:off x="8348472" y="1700784"/>
            <a:ext cx="475488" cy="146304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30"/>
              </a:spcAft>
            </a:pPr>
            <a:r>
              <a:rPr sz="7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ENG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933688" y="1673352"/>
            <a:ext cx="2679192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60"/>
              </a:spcAft>
            </a:pPr>
            <a:r>
              <a:rPr sz="1200" b="1">
                <a:solidFill>
                  <a:srgbClr val="071E3A"/>
                </a:solidFill>
                <a:latin typeface="Aptos"/>
                <a:ea typeface="Aptos"/>
                <a:cs typeface="Aptos"/>
              </a:rPr>
              <a:t>Specialized engines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366760" y="2039112"/>
            <a:ext cx="2697480" cy="36301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"/>
              </a:spcAft>
            </a:pPr>
            <a:r>
              <a:rPr sz="800">
                <a:solidFill>
                  <a:srgbClr val="5B6878"/>
                </a:solidFill>
                <a:latin typeface="Aptos"/>
                <a:ea typeface="Aptos"/>
                <a:cs typeface="Aptos"/>
              </a:rPr>
              <a:t>core.synth/provision.SyntheticGenService</a:t>
            </a:r>
          </a:p>
          <a:p>
            <a:pPr algn="l">
              <a:spcAft>
                <a:spcPts val="90"/>
              </a:spcAft>
            </a:pPr>
            <a:r>
              <a:rPr sz="800">
                <a:solidFill>
                  <a:srgbClr val="5B6878"/>
                </a:solidFill>
                <a:latin typeface="Aptos"/>
                <a:ea typeface="Aptos"/>
                <a:cs typeface="Aptos"/>
              </a:rPr>
              <a:t>copybook/core.copybook/mainframe</a:t>
            </a:r>
          </a:p>
          <a:p>
            <a:pPr algn="l">
              <a:spcAft>
                <a:spcPts val="90"/>
              </a:spcAft>
            </a:pPr>
            <a:r>
              <a:rPr sz="800">
                <a:solidFill>
                  <a:srgbClr val="5B6878"/>
                </a:solidFill>
                <a:latin typeface="Aptos"/>
                <a:ea typeface="Aptos"/>
                <a:cs typeface="Aptos"/>
              </a:rPr>
              <a:t>virtualization: snapshots, VDBs, providers</a:t>
            </a:r>
          </a:p>
          <a:p>
            <a:pPr algn="l">
              <a:spcAft>
                <a:spcPts val="90"/>
              </a:spcAft>
            </a:pPr>
            <a:r>
              <a:rPr sz="800">
                <a:solidFill>
                  <a:srgbClr val="5B6878"/>
                </a:solidFill>
                <a:latin typeface="Aptos"/>
                <a:ea typeface="Aptos"/>
                <a:cs typeface="Aptos"/>
              </a:rPr>
              <a:t>validation: evidence reports</a:t>
            </a:r>
          </a:p>
          <a:p>
            <a:pPr algn="l">
              <a:spcAft>
                <a:spcPts val="90"/>
              </a:spcAft>
            </a:pPr>
            <a:r>
              <a:rPr sz="800">
                <a:solidFill>
                  <a:srgbClr val="5B6878"/>
                </a:solidFill>
                <a:latin typeface="Aptos"/>
                <a:ea typeface="Aptos"/>
                <a:cs typeface="Aptos"/>
              </a:rPr>
              <a:t>ai: copilot tools and agent service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02920" y="6446520"/>
            <a:ext cx="521208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60"/>
              </a:spcAft>
            </a:pPr>
            <a:r>
              <a:rPr sz="800">
                <a:solidFill>
                  <a:srgbClr val="5B6878"/>
                </a:solidFill>
                <a:latin typeface="Aptos"/>
                <a:ea typeface="Aptos"/>
                <a:cs typeface="Aptos"/>
              </a:rPr>
              <a:t>ForgeTDM team walkthrough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109960" y="6446520"/>
            <a:ext cx="4572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160"/>
              </a:spcAft>
            </a:pPr>
            <a:r>
              <a:rPr sz="800">
                <a:solidFill>
                  <a:srgbClr val="5B6878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3" name="TextBox 3"/>
          <p:cNvSpPr txBox="1"/>
          <p:nvPr/>
        </p:nvSpPr>
        <p:spPr>
          <a:xfrm>
            <a:off x="502920" y="310896"/>
            <a:ext cx="402336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60"/>
              </a:spcAft>
            </a:pPr>
            <a:r>
              <a:rPr sz="1000" b="1">
                <a:solidFill>
                  <a:srgbClr val="1D6FB8"/>
                </a:solidFill>
                <a:latin typeface="Aptos"/>
                <a:ea typeface="Aptos"/>
                <a:cs typeface="Aptos"/>
              </a:rPr>
              <a:t>FLOW 1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02920" y="566928"/>
            <a:ext cx="94183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"/>
              </a:spcAft>
            </a:pPr>
            <a:r>
              <a:rPr sz="2600" b="1">
                <a:solidFill>
                  <a:srgbClr val="071E3A"/>
                </a:solidFill>
                <a:latin typeface="Cambria"/>
                <a:ea typeface="Cambria"/>
                <a:cs typeface="Cambria"/>
              </a:rPr>
              <a:t>PII discovery to masking policy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972800" y="621792"/>
            <a:ext cx="5943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70"/>
              </a:spcAft>
            </a:pPr>
            <a:r>
              <a:rPr sz="1200" b="1">
                <a:solidFill>
                  <a:srgbClr val="1D6FB8"/>
                </a:solidFill>
                <a:latin typeface="Cambria"/>
                <a:ea typeface="Cambria"/>
                <a:cs typeface="Cambria"/>
              </a:rPr>
              <a:t>05</a:t>
            </a:r>
          </a:p>
        </p:txBody>
      </p:sp>
      <p:sp>
        <p:nvSpPr>
          <p:cNvPr id="6" name="Shape 6"/>
          <p:cNvSpPr/>
          <p:nvPr/>
        </p:nvSpPr>
        <p:spPr>
          <a:xfrm>
            <a:off x="502920" y="1124712"/>
            <a:ext cx="11155680" cy="20117"/>
          </a:xfrm>
          <a:prstGeom prst="rect">
            <a:avLst/>
          </a:prstGeom>
          <a:solidFill>
            <a:srgbClr val="DCE4ED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7" name="Shape 7"/>
          <p:cNvSpPr/>
          <p:nvPr/>
        </p:nvSpPr>
        <p:spPr>
          <a:xfrm>
            <a:off x="731520" y="1965960"/>
            <a:ext cx="457200" cy="457200"/>
          </a:xfrm>
          <a:prstGeom prst="ellipse">
            <a:avLst/>
          </a:prstGeom>
          <a:solidFill>
            <a:srgbClr val="1D6FB8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8" name="TextBox 8"/>
          <p:cNvSpPr txBox="1"/>
          <p:nvPr/>
        </p:nvSpPr>
        <p:spPr>
          <a:xfrm>
            <a:off x="731520" y="1993392"/>
            <a:ext cx="457200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"/>
              </a:spcAft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74320" y="2578608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160"/>
              </a:spcAft>
            </a:pPr>
            <a:r>
              <a:rPr sz="900" b="1">
                <a:solidFill>
                  <a:srgbClr val="071E3A"/>
                </a:solidFill>
                <a:latin typeface="Aptos"/>
                <a:ea typeface="Aptos"/>
                <a:cs typeface="Aptos"/>
              </a:rPr>
              <a:t>Choose data source and schema</a:t>
            </a:r>
          </a:p>
        </p:txBody>
      </p:sp>
      <p:sp>
        <p:nvSpPr>
          <p:cNvPr id="10" name="Shape 10"/>
          <p:cNvSpPr/>
          <p:nvPr/>
        </p:nvSpPr>
        <p:spPr>
          <a:xfrm>
            <a:off x="1207008" y="2176272"/>
            <a:ext cx="1097280" cy="27432"/>
          </a:xfrm>
          <a:prstGeom prst="rect">
            <a:avLst/>
          </a:prstGeom>
          <a:solidFill>
            <a:srgbClr val="DCE4ED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2606040" y="1965960"/>
            <a:ext cx="457200" cy="457200"/>
          </a:xfrm>
          <a:prstGeom prst="ellipse">
            <a:avLst/>
          </a:prstGeom>
          <a:solidFill>
            <a:srgbClr val="1D6FB8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12" name="TextBox 12"/>
          <p:cNvSpPr txBox="1"/>
          <p:nvPr/>
        </p:nvSpPr>
        <p:spPr>
          <a:xfrm>
            <a:off x="2606040" y="1993392"/>
            <a:ext cx="457200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"/>
              </a:spcAft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148840" y="2578608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160"/>
              </a:spcAft>
            </a:pPr>
            <a:r>
              <a:rPr sz="900" b="1">
                <a:solidFill>
                  <a:srgbClr val="071E3A"/>
                </a:solidFill>
                <a:latin typeface="Aptos"/>
                <a:ea typeface="Aptos"/>
                <a:cs typeface="Aptos"/>
              </a:rPr>
              <a:t>Scan tables and sampled values</a:t>
            </a:r>
          </a:p>
        </p:txBody>
      </p:sp>
      <p:sp>
        <p:nvSpPr>
          <p:cNvPr id="14" name="Shape 14"/>
          <p:cNvSpPr/>
          <p:nvPr/>
        </p:nvSpPr>
        <p:spPr>
          <a:xfrm>
            <a:off x="3081528" y="2176272"/>
            <a:ext cx="1097280" cy="27432"/>
          </a:xfrm>
          <a:prstGeom prst="rect">
            <a:avLst/>
          </a:prstGeom>
          <a:solidFill>
            <a:srgbClr val="DCE4ED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15" name="Shape 15"/>
          <p:cNvSpPr/>
          <p:nvPr/>
        </p:nvSpPr>
        <p:spPr>
          <a:xfrm>
            <a:off x="4480560" y="1965960"/>
            <a:ext cx="457200" cy="457200"/>
          </a:xfrm>
          <a:prstGeom prst="ellipse">
            <a:avLst/>
          </a:prstGeom>
          <a:solidFill>
            <a:srgbClr val="1D6FB8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16" name="TextBox 16"/>
          <p:cNvSpPr txBox="1"/>
          <p:nvPr/>
        </p:nvSpPr>
        <p:spPr>
          <a:xfrm>
            <a:off x="4480560" y="1993392"/>
            <a:ext cx="457200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"/>
              </a:spcAft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023360" y="2578608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160"/>
              </a:spcAft>
            </a:pPr>
            <a:r>
              <a:rPr sz="900" b="1">
                <a:solidFill>
                  <a:srgbClr val="071E3A"/>
                </a:solidFill>
                <a:latin typeface="Aptos"/>
                <a:ea typeface="Aptos"/>
                <a:cs typeface="Aptos"/>
              </a:rPr>
              <a:t>Create classification findings</a:t>
            </a:r>
          </a:p>
        </p:txBody>
      </p:sp>
      <p:sp>
        <p:nvSpPr>
          <p:cNvPr id="18" name="Shape 18"/>
          <p:cNvSpPr/>
          <p:nvPr/>
        </p:nvSpPr>
        <p:spPr>
          <a:xfrm>
            <a:off x="4956048" y="2176272"/>
            <a:ext cx="1097280" cy="27432"/>
          </a:xfrm>
          <a:prstGeom prst="rect">
            <a:avLst/>
          </a:prstGeom>
          <a:solidFill>
            <a:srgbClr val="DCE4ED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19" name="Shape 19"/>
          <p:cNvSpPr/>
          <p:nvPr/>
        </p:nvSpPr>
        <p:spPr>
          <a:xfrm>
            <a:off x="6355080" y="1965960"/>
            <a:ext cx="457200" cy="457200"/>
          </a:xfrm>
          <a:prstGeom prst="ellipse">
            <a:avLst/>
          </a:prstGeom>
          <a:solidFill>
            <a:srgbClr val="1D6FB8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20" name="TextBox 20"/>
          <p:cNvSpPr txBox="1"/>
          <p:nvPr/>
        </p:nvSpPr>
        <p:spPr>
          <a:xfrm>
            <a:off x="6355080" y="1993392"/>
            <a:ext cx="457200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"/>
              </a:spcAft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897880" y="2578608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160"/>
              </a:spcAft>
            </a:pPr>
            <a:r>
              <a:rPr sz="900" b="1">
                <a:solidFill>
                  <a:srgbClr val="071E3A"/>
                </a:solidFill>
                <a:latin typeface="Aptos"/>
                <a:ea typeface="Aptos"/>
                <a:cs typeface="Aptos"/>
              </a:rPr>
              <a:t>Review, override, approve or reject</a:t>
            </a:r>
          </a:p>
        </p:txBody>
      </p:sp>
      <p:sp>
        <p:nvSpPr>
          <p:cNvPr id="22" name="Shape 22"/>
          <p:cNvSpPr/>
          <p:nvPr/>
        </p:nvSpPr>
        <p:spPr>
          <a:xfrm>
            <a:off x="6830568" y="2176272"/>
            <a:ext cx="1097280" cy="27432"/>
          </a:xfrm>
          <a:prstGeom prst="rect">
            <a:avLst/>
          </a:prstGeom>
          <a:solidFill>
            <a:srgbClr val="DCE4ED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23" name="Shape 23"/>
          <p:cNvSpPr/>
          <p:nvPr/>
        </p:nvSpPr>
        <p:spPr>
          <a:xfrm>
            <a:off x="8229600" y="1965960"/>
            <a:ext cx="457200" cy="457200"/>
          </a:xfrm>
          <a:prstGeom prst="ellipse">
            <a:avLst/>
          </a:prstGeom>
          <a:solidFill>
            <a:srgbClr val="1D6FB8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24" name="TextBox 24"/>
          <p:cNvSpPr txBox="1"/>
          <p:nvPr/>
        </p:nvSpPr>
        <p:spPr>
          <a:xfrm>
            <a:off x="8229600" y="1993392"/>
            <a:ext cx="457200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"/>
              </a:spcAft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772400" y="2578608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160"/>
              </a:spcAft>
            </a:pPr>
            <a:r>
              <a:rPr sz="900" b="1">
                <a:solidFill>
                  <a:srgbClr val="071E3A"/>
                </a:solidFill>
                <a:latin typeface="Aptos"/>
                <a:ea typeface="Aptos"/>
                <a:cs typeface="Aptos"/>
              </a:rPr>
              <a:t>Generate executable masking policy</a:t>
            </a:r>
          </a:p>
        </p:txBody>
      </p:sp>
      <p:sp>
        <p:nvSpPr>
          <p:cNvPr id="26" name="Shape 26"/>
          <p:cNvSpPr/>
          <p:nvPr/>
        </p:nvSpPr>
        <p:spPr>
          <a:xfrm>
            <a:off x="8705088" y="2176272"/>
            <a:ext cx="1097280" cy="27432"/>
          </a:xfrm>
          <a:prstGeom prst="rect">
            <a:avLst/>
          </a:prstGeom>
          <a:solidFill>
            <a:srgbClr val="DCE4ED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27" name="Shape 27"/>
          <p:cNvSpPr/>
          <p:nvPr/>
        </p:nvSpPr>
        <p:spPr>
          <a:xfrm>
            <a:off x="10104120" y="1965960"/>
            <a:ext cx="457200" cy="457200"/>
          </a:xfrm>
          <a:prstGeom prst="ellipse">
            <a:avLst/>
          </a:prstGeom>
          <a:solidFill>
            <a:srgbClr val="1D6FB8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28" name="TextBox 28"/>
          <p:cNvSpPr txBox="1"/>
          <p:nvPr/>
        </p:nvSpPr>
        <p:spPr>
          <a:xfrm>
            <a:off x="10104120" y="1993392"/>
            <a:ext cx="457200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"/>
              </a:spcAft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646920" y="2578608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160"/>
              </a:spcAft>
            </a:pPr>
            <a:r>
              <a:rPr sz="900" b="1">
                <a:solidFill>
                  <a:srgbClr val="071E3A"/>
                </a:solidFill>
                <a:latin typeface="Aptos"/>
                <a:ea typeface="Aptos"/>
                <a:cs typeface="Aptos"/>
              </a:rPr>
              <a:t>Use policy in jobs, DataScope or preview</a:t>
            </a:r>
          </a:p>
        </p:txBody>
      </p:sp>
      <p:sp>
        <p:nvSpPr>
          <p:cNvPr id="30" name="Shape 30"/>
          <p:cNvSpPr/>
          <p:nvPr/>
        </p:nvSpPr>
        <p:spPr>
          <a:xfrm>
            <a:off x="868680" y="3886200"/>
            <a:ext cx="3246120" cy="1325880"/>
          </a:xfrm>
          <a:prstGeom prst="roundRect">
            <a:avLst/>
          </a:prstGeom>
          <a:solidFill>
            <a:srgbClr val="F4F8FF"/>
          </a:solidFill>
          <a:ln w="9525">
            <a:solidFill>
              <a:srgbClr val="DCE4ED"/>
            </a:solidFill>
          </a:ln>
          <a:effectLst/>
        </p:spPr>
        <p:txBody>
          <a:bodyPr/>
          <a:lstStyle/>
          <a:p/>
        </p:txBody>
      </p:sp>
      <p:sp>
        <p:nvSpPr>
          <p:cNvPr id="31" name="TextBox 31"/>
          <p:cNvSpPr txBox="1"/>
          <p:nvPr/>
        </p:nvSpPr>
        <p:spPr>
          <a:xfrm>
            <a:off x="1051560" y="4023360"/>
            <a:ext cx="2862072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60"/>
              </a:spcAft>
            </a:pPr>
            <a:r>
              <a:rPr sz="1200" b="1">
                <a:solidFill>
                  <a:srgbClr val="071E3A"/>
                </a:solidFill>
                <a:latin typeface="Aptos"/>
                <a:ea typeface="Aptos"/>
                <a:cs typeface="Aptos"/>
              </a:rPr>
              <a:t>Backend path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51560" y="4389120"/>
            <a:ext cx="2880360" cy="79552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"/>
              </a:spcAft>
            </a:pPr>
            <a:r>
              <a:rPr sz="800">
                <a:solidFill>
                  <a:srgbClr val="5B6878"/>
                </a:solidFill>
                <a:latin typeface="Aptos"/>
                <a:ea typeface="Aptos"/>
                <a:cs typeface="Aptos"/>
              </a:rPr>
              <a:t>DiscoveryController -&gt; DiscoveryService -&gt; ClassificationRepository -&gt; Policy repositories</a:t>
            </a:r>
          </a:p>
        </p:txBody>
      </p:sp>
      <p:sp>
        <p:nvSpPr>
          <p:cNvPr id="33" name="Shape 33"/>
          <p:cNvSpPr/>
          <p:nvPr/>
        </p:nvSpPr>
        <p:spPr>
          <a:xfrm>
            <a:off x="4480560" y="3886200"/>
            <a:ext cx="3246120" cy="1325880"/>
          </a:xfrm>
          <a:prstGeom prst="roundRect">
            <a:avLst/>
          </a:prstGeom>
          <a:solidFill>
            <a:srgbClr val="EAF7EF"/>
          </a:solidFill>
          <a:ln w="9525">
            <a:solidFill>
              <a:srgbClr val="DCE4ED"/>
            </a:solidFill>
          </a:ln>
          <a:effectLst/>
        </p:spPr>
        <p:txBody>
          <a:bodyPr/>
          <a:lstStyle/>
          <a:p/>
        </p:txBody>
      </p:sp>
      <p:sp>
        <p:nvSpPr>
          <p:cNvPr id="34" name="TextBox 34"/>
          <p:cNvSpPr txBox="1"/>
          <p:nvPr/>
        </p:nvSpPr>
        <p:spPr>
          <a:xfrm>
            <a:off x="4663440" y="4023360"/>
            <a:ext cx="2862072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60"/>
              </a:spcAft>
            </a:pPr>
            <a:r>
              <a:rPr sz="1200" b="1">
                <a:solidFill>
                  <a:srgbClr val="071E3A"/>
                </a:solidFill>
                <a:latin typeface="Aptos"/>
                <a:ea typeface="Aptos"/>
                <a:cs typeface="Aptos"/>
              </a:rPr>
              <a:t>Important behavior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4663440" y="4389120"/>
            <a:ext cx="2880360" cy="79552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"/>
              </a:spcAft>
            </a:pPr>
            <a:r>
              <a:rPr sz="800">
                <a:solidFill>
                  <a:srgbClr val="5B6878"/>
                </a:solidFill>
                <a:latin typeface="Aptos"/>
                <a:ea typeface="Aptos"/>
                <a:cs typeface="Aptos"/>
              </a:rPr>
              <a:t>Column names and sampled values both contribute to confidence. Approved findings compile into rules.</a:t>
            </a:r>
          </a:p>
        </p:txBody>
      </p:sp>
      <p:sp>
        <p:nvSpPr>
          <p:cNvPr id="36" name="Shape 36"/>
          <p:cNvSpPr/>
          <p:nvPr/>
        </p:nvSpPr>
        <p:spPr>
          <a:xfrm>
            <a:off x="8092440" y="3886200"/>
            <a:ext cx="2834640" cy="1325880"/>
          </a:xfrm>
          <a:prstGeom prst="roundRect">
            <a:avLst/>
          </a:prstGeom>
          <a:solidFill>
            <a:srgbClr val="FFF4E6"/>
          </a:solidFill>
          <a:ln w="9525">
            <a:solidFill>
              <a:srgbClr val="DCE4ED"/>
            </a:solidFill>
          </a:ln>
          <a:effectLst/>
        </p:spPr>
        <p:txBody>
          <a:bodyPr/>
          <a:lstStyle/>
          <a:p/>
        </p:txBody>
      </p:sp>
      <p:sp>
        <p:nvSpPr>
          <p:cNvPr id="37" name="TextBox 37"/>
          <p:cNvSpPr txBox="1"/>
          <p:nvPr/>
        </p:nvSpPr>
        <p:spPr>
          <a:xfrm>
            <a:off x="8275320" y="4023360"/>
            <a:ext cx="2450592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60"/>
              </a:spcAft>
            </a:pPr>
            <a:r>
              <a:rPr sz="1200" b="1">
                <a:solidFill>
                  <a:srgbClr val="071E3A"/>
                </a:solidFill>
                <a:latin typeface="Aptos"/>
                <a:ea typeface="Aptos"/>
                <a:cs typeface="Aptos"/>
              </a:rPr>
              <a:t>Team demo point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8275320" y="4389120"/>
            <a:ext cx="2468880" cy="79552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"/>
              </a:spcAft>
            </a:pPr>
            <a:r>
              <a:rPr sz="800">
                <a:solidFill>
                  <a:srgbClr val="5B6878"/>
                </a:solidFill>
                <a:latin typeface="Aptos"/>
                <a:ea typeface="Aptos"/>
                <a:cs typeface="Aptos"/>
              </a:rPr>
              <a:t>Show one override before generate-policy so the team understands review is part of the flow.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502920" y="6446520"/>
            <a:ext cx="521208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60"/>
              </a:spcAft>
            </a:pPr>
            <a:r>
              <a:rPr sz="800">
                <a:solidFill>
                  <a:srgbClr val="5B6878"/>
                </a:solidFill>
                <a:latin typeface="Aptos"/>
                <a:ea typeface="Aptos"/>
                <a:cs typeface="Aptos"/>
              </a:rPr>
              <a:t>ForgeTDM team walkthrough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1109960" y="6446520"/>
            <a:ext cx="4572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160"/>
              </a:spcAft>
            </a:pPr>
            <a:r>
              <a:rPr sz="800">
                <a:solidFill>
                  <a:srgbClr val="5B6878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3" name="TextBox 3"/>
          <p:cNvSpPr txBox="1"/>
          <p:nvPr/>
        </p:nvSpPr>
        <p:spPr>
          <a:xfrm>
            <a:off x="502920" y="310896"/>
            <a:ext cx="402336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60"/>
              </a:spcAft>
            </a:pPr>
            <a:r>
              <a:rPr sz="1000" b="1">
                <a:solidFill>
                  <a:srgbClr val="1D6FB8"/>
                </a:solidFill>
                <a:latin typeface="Aptos"/>
                <a:ea typeface="Aptos"/>
                <a:cs typeface="Aptos"/>
              </a:rPr>
              <a:t>FLOW 2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02920" y="566928"/>
            <a:ext cx="94183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"/>
              </a:spcAft>
            </a:pPr>
            <a:r>
              <a:rPr sz="2600" b="1">
                <a:solidFill>
                  <a:srgbClr val="071E3A"/>
                </a:solidFill>
                <a:latin typeface="Cambria"/>
                <a:ea typeface="Cambria"/>
                <a:cs typeface="Cambria"/>
              </a:rPr>
              <a:t>How DataScope is structured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972800" y="621792"/>
            <a:ext cx="5943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70"/>
              </a:spcAft>
            </a:pPr>
            <a:r>
              <a:rPr sz="1200" b="1">
                <a:solidFill>
                  <a:srgbClr val="1D6FB8"/>
                </a:solidFill>
                <a:latin typeface="Cambria"/>
                <a:ea typeface="Cambria"/>
                <a:cs typeface="Cambria"/>
              </a:rPr>
              <a:t>06</a:t>
            </a:r>
          </a:p>
        </p:txBody>
      </p:sp>
      <p:sp>
        <p:nvSpPr>
          <p:cNvPr id="6" name="Shape 6"/>
          <p:cNvSpPr/>
          <p:nvPr/>
        </p:nvSpPr>
        <p:spPr>
          <a:xfrm>
            <a:off x="502920" y="1124712"/>
            <a:ext cx="11155680" cy="20117"/>
          </a:xfrm>
          <a:prstGeom prst="rect">
            <a:avLst/>
          </a:prstGeom>
          <a:solidFill>
            <a:srgbClr val="DCE4ED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7" name="Shape 7"/>
          <p:cNvSpPr/>
          <p:nvPr/>
        </p:nvSpPr>
        <p:spPr>
          <a:xfrm>
            <a:off x="640080" y="1463040"/>
            <a:ext cx="2606040" cy="1325880"/>
          </a:xfrm>
          <a:prstGeom prst="roundRect">
            <a:avLst/>
          </a:prstGeom>
          <a:solidFill>
            <a:srgbClr val="F4F8FF"/>
          </a:solidFill>
          <a:ln w="9525">
            <a:solidFill>
              <a:srgbClr val="DCE4ED"/>
            </a:solidFill>
          </a:ln>
          <a:effectLst/>
        </p:spPr>
        <p:txBody>
          <a:bodyPr/>
          <a:lstStyle/>
          <a:p/>
        </p:txBody>
      </p:sp>
      <p:sp>
        <p:nvSpPr>
          <p:cNvPr id="8" name="Shape 8"/>
          <p:cNvSpPr/>
          <p:nvPr/>
        </p:nvSpPr>
        <p:spPr>
          <a:xfrm>
            <a:off x="804672" y="1609344"/>
            <a:ext cx="475488" cy="256032"/>
          </a:xfrm>
          <a:prstGeom prst="roundRect">
            <a:avLst/>
          </a:prstGeom>
          <a:solidFill>
            <a:srgbClr val="1D6FB8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9" name="TextBox 9"/>
          <p:cNvSpPr txBox="1"/>
          <p:nvPr/>
        </p:nvSpPr>
        <p:spPr>
          <a:xfrm>
            <a:off x="804672" y="1627632"/>
            <a:ext cx="475488" cy="146304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30"/>
              </a:spcAft>
            </a:pPr>
            <a:r>
              <a:rPr sz="7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DEF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89888" y="1600200"/>
            <a:ext cx="2221992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60"/>
              </a:spcAft>
            </a:pPr>
            <a:r>
              <a:rPr sz="1200" b="1">
                <a:solidFill>
                  <a:srgbClr val="071E3A"/>
                </a:solidFill>
                <a:latin typeface="Aptos"/>
                <a:ea typeface="Aptos"/>
                <a:cs typeface="Aptos"/>
              </a:rPr>
              <a:t>Definition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22960" y="1965960"/>
            <a:ext cx="2240280" cy="79552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"/>
              </a:spcAft>
            </a:pPr>
            <a:r>
              <a:rPr sz="800">
                <a:solidFill>
                  <a:srgbClr val="5B6878"/>
                </a:solidFill>
                <a:latin typeface="Aptos"/>
                <a:ea typeface="Aptos"/>
                <a:cs typeface="Aptos"/>
              </a:rPr>
              <a:t>DataSetDefinitionEntity stores blueprint-level source, target, schema, driver, filter and global traversal choices.</a:t>
            </a:r>
          </a:p>
        </p:txBody>
      </p:sp>
      <p:sp>
        <p:nvSpPr>
          <p:cNvPr id="12" name="Shape 12"/>
          <p:cNvSpPr/>
          <p:nvPr/>
        </p:nvSpPr>
        <p:spPr>
          <a:xfrm>
            <a:off x="3520440" y="1463040"/>
            <a:ext cx="2606040" cy="1325880"/>
          </a:xfrm>
          <a:prstGeom prst="roundRect">
            <a:avLst/>
          </a:prstGeom>
          <a:solidFill>
            <a:srgbClr val="EAF7EF"/>
          </a:solidFill>
          <a:ln w="9525">
            <a:solidFill>
              <a:srgbClr val="DCE4ED"/>
            </a:solidFill>
          </a:ln>
          <a:effectLst/>
        </p:spPr>
        <p:txBody>
          <a:bodyPr/>
          <a:lstStyle/>
          <a:p/>
        </p:txBody>
      </p:sp>
      <p:sp>
        <p:nvSpPr>
          <p:cNvPr id="13" name="Shape 13"/>
          <p:cNvSpPr/>
          <p:nvPr/>
        </p:nvSpPr>
        <p:spPr>
          <a:xfrm>
            <a:off x="3685032" y="1609344"/>
            <a:ext cx="475488" cy="256032"/>
          </a:xfrm>
          <a:prstGeom prst="roundRect">
            <a:avLst/>
          </a:prstGeom>
          <a:solidFill>
            <a:srgbClr val="2F7D59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14" name="TextBox 14"/>
          <p:cNvSpPr txBox="1"/>
          <p:nvPr/>
        </p:nvSpPr>
        <p:spPr>
          <a:xfrm>
            <a:off x="3685032" y="1627632"/>
            <a:ext cx="475488" cy="146304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30"/>
              </a:spcAft>
            </a:pPr>
            <a:r>
              <a:rPr sz="7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TAB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270248" y="1600200"/>
            <a:ext cx="2221992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60"/>
              </a:spcAft>
            </a:pPr>
            <a:r>
              <a:rPr sz="1200" b="1">
                <a:solidFill>
                  <a:srgbClr val="071E3A"/>
                </a:solidFill>
                <a:latin typeface="Aptos"/>
                <a:ea typeface="Aptos"/>
                <a:cs typeface="Aptos"/>
              </a:rPr>
              <a:t>Profiles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703320" y="1965960"/>
            <a:ext cx="2240280" cy="79552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"/>
              </a:spcAft>
            </a:pPr>
            <a:r>
              <a:rPr sz="800">
                <a:solidFill>
                  <a:srgbClr val="5B6878"/>
                </a:solidFill>
                <a:latin typeface="Aptos"/>
                <a:ea typeface="Aptos"/>
                <a:cs typeface="Aptos"/>
              </a:rPr>
              <a:t>TableProfileEntity stores included tables, source overrides, target table, policy link and row limit.</a:t>
            </a:r>
          </a:p>
        </p:txBody>
      </p:sp>
      <p:sp>
        <p:nvSpPr>
          <p:cNvPr id="17" name="Shape 17"/>
          <p:cNvSpPr/>
          <p:nvPr/>
        </p:nvSpPr>
        <p:spPr>
          <a:xfrm>
            <a:off x="6400800" y="1463040"/>
            <a:ext cx="2606040" cy="1325880"/>
          </a:xfrm>
          <a:prstGeom prst="roundRect">
            <a:avLst/>
          </a:prstGeom>
          <a:solidFill>
            <a:srgbClr val="F1EFFF"/>
          </a:solidFill>
          <a:ln w="9525">
            <a:solidFill>
              <a:srgbClr val="DCE4ED"/>
            </a:solidFill>
          </a:ln>
          <a:effectLst/>
        </p:spPr>
        <p:txBody>
          <a:bodyPr/>
          <a:lstStyle/>
          <a:p/>
        </p:txBody>
      </p:sp>
      <p:sp>
        <p:nvSpPr>
          <p:cNvPr id="18" name="Shape 18"/>
          <p:cNvSpPr/>
          <p:nvPr/>
        </p:nvSpPr>
        <p:spPr>
          <a:xfrm>
            <a:off x="6565392" y="1609344"/>
            <a:ext cx="475488" cy="256032"/>
          </a:xfrm>
          <a:prstGeom prst="roundRect">
            <a:avLst/>
          </a:prstGeom>
          <a:solidFill>
            <a:srgbClr val="5146A6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19" name="TextBox 19"/>
          <p:cNvSpPr txBox="1"/>
          <p:nvPr/>
        </p:nvSpPr>
        <p:spPr>
          <a:xfrm>
            <a:off x="6565392" y="1627632"/>
            <a:ext cx="475488" cy="146304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30"/>
              </a:spcAft>
            </a:pPr>
            <a:r>
              <a:rPr sz="7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COL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150608" y="1600200"/>
            <a:ext cx="2221992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60"/>
              </a:spcAft>
            </a:pPr>
            <a:r>
              <a:rPr sz="1200" b="1">
                <a:solidFill>
                  <a:srgbClr val="071E3A"/>
                </a:solidFill>
                <a:latin typeface="Aptos"/>
                <a:ea typeface="Aptos"/>
                <a:cs typeface="Aptos"/>
              </a:rPr>
              <a:t>Column map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583680" y="1965960"/>
            <a:ext cx="2240280" cy="79552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"/>
              </a:spcAft>
            </a:pPr>
            <a:r>
              <a:rPr sz="800">
                <a:solidFill>
                  <a:srgbClr val="5B6878"/>
                </a:solidFill>
                <a:latin typeface="Aptos"/>
                <a:ea typeface="Aptos"/>
                <a:cs typeface="Aptos"/>
              </a:rPr>
              <a:t>ColumnOverrideEntity stores target column action: source, literal, unused or no masking.</a:t>
            </a:r>
          </a:p>
        </p:txBody>
      </p:sp>
      <p:sp>
        <p:nvSpPr>
          <p:cNvPr id="22" name="Shape 22"/>
          <p:cNvSpPr/>
          <p:nvPr/>
        </p:nvSpPr>
        <p:spPr>
          <a:xfrm>
            <a:off x="9281160" y="1463040"/>
            <a:ext cx="2240280" cy="1325880"/>
          </a:xfrm>
          <a:prstGeom prst="roundRect">
            <a:avLst/>
          </a:prstGeom>
          <a:solidFill>
            <a:srgbClr val="FFF4E6"/>
          </a:solidFill>
          <a:ln w="9525">
            <a:solidFill>
              <a:srgbClr val="DCE4ED"/>
            </a:solidFill>
          </a:ln>
          <a:effectLst/>
        </p:spPr>
        <p:txBody>
          <a:bodyPr/>
          <a:lstStyle/>
          <a:p/>
        </p:txBody>
      </p:sp>
      <p:sp>
        <p:nvSpPr>
          <p:cNvPr id="23" name="Shape 23"/>
          <p:cNvSpPr/>
          <p:nvPr/>
        </p:nvSpPr>
        <p:spPr>
          <a:xfrm>
            <a:off x="9445752" y="1609344"/>
            <a:ext cx="475488" cy="256032"/>
          </a:xfrm>
          <a:prstGeom prst="roundRect">
            <a:avLst/>
          </a:prstGeom>
          <a:solidFill>
            <a:srgbClr val="B45309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24" name="TextBox 24"/>
          <p:cNvSpPr txBox="1"/>
          <p:nvPr/>
        </p:nvSpPr>
        <p:spPr>
          <a:xfrm>
            <a:off x="9445752" y="1627632"/>
            <a:ext cx="475488" cy="146304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30"/>
              </a:spcAft>
            </a:pPr>
            <a:r>
              <a:rPr sz="7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RI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030968" y="1600200"/>
            <a:ext cx="1856232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60"/>
              </a:spcAft>
            </a:pPr>
            <a:r>
              <a:rPr sz="1200" b="1">
                <a:solidFill>
                  <a:srgbClr val="071E3A"/>
                </a:solidFill>
                <a:latin typeface="Aptos"/>
                <a:ea typeface="Aptos"/>
                <a:cs typeface="Aptos"/>
              </a:rPr>
              <a:t>RI rules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464040" y="1965960"/>
            <a:ext cx="1874520" cy="79552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"/>
              </a:spcAft>
            </a:pPr>
            <a:r>
              <a:rPr sz="800">
                <a:solidFill>
                  <a:srgbClr val="5B6878"/>
                </a:solidFill>
                <a:latin typeface="Aptos"/>
                <a:ea typeface="Aptos"/>
                <a:cs typeface="Aptos"/>
              </a:rPr>
              <a:t>Custom PKs, user relationships and traversal rules shape subset expansion.</a:t>
            </a:r>
          </a:p>
        </p:txBody>
      </p:sp>
      <p:sp>
        <p:nvSpPr>
          <p:cNvPr id="27" name="Shape 27"/>
          <p:cNvSpPr/>
          <p:nvPr/>
        </p:nvSpPr>
        <p:spPr>
          <a:xfrm>
            <a:off x="914400" y="3611880"/>
            <a:ext cx="10058400" cy="1325880"/>
          </a:xfrm>
          <a:prstGeom prst="roundRect">
            <a:avLst/>
          </a:prstGeom>
          <a:solidFill>
            <a:srgbClr val="071E3A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28" name="TextBox 28"/>
          <p:cNvSpPr txBox="1"/>
          <p:nvPr/>
        </p:nvSpPr>
        <p:spPr>
          <a:xfrm>
            <a:off x="1143000" y="3858768"/>
            <a:ext cx="96012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60"/>
              </a:spcAft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Provisioning handoff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43000" y="4251960"/>
            <a:ext cx="950976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60"/>
              </a:spcAft>
            </a:pPr>
            <a:r>
              <a:rPr sz="1100">
                <a:solidFill>
                  <a:srgbClr val="CBDEF6"/>
                </a:solidFill>
                <a:latin typeface="Aptos"/>
                <a:ea typeface="Aptos"/>
                <a:cs typeface="Aptos"/>
              </a:rPr>
              <a:t>DataScope does not copy rows itself. It saves the blueprint, maps and overrides. ProvisioningService reads those records when a SUBSET_MASK job references datasetId.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13232" y="5577840"/>
            <a:ext cx="1042416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160"/>
              </a:spcAft>
            </a:pPr>
            <a:r>
              <a:rPr sz="1000" b="1">
                <a:solidFill>
                  <a:srgbClr val="1D6FB8"/>
                </a:solidFill>
                <a:latin typeface="Aptos"/>
                <a:ea typeface="Aptos"/>
                <a:cs typeface="Aptos"/>
              </a:rPr>
              <a:t>Internal rule: when changing DataScope UI, check both saved metadata and generated job spec.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502920" y="6446520"/>
            <a:ext cx="521208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60"/>
              </a:spcAft>
            </a:pPr>
            <a:r>
              <a:rPr sz="800">
                <a:solidFill>
                  <a:srgbClr val="5B6878"/>
                </a:solidFill>
                <a:latin typeface="Aptos"/>
                <a:ea typeface="Aptos"/>
                <a:cs typeface="Aptos"/>
              </a:rPr>
              <a:t>ForgeTDM team walkthrough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1109960" y="6446520"/>
            <a:ext cx="4572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160"/>
              </a:spcAft>
            </a:pPr>
            <a:r>
              <a:rPr sz="800">
                <a:solidFill>
                  <a:srgbClr val="5B6878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3" name="TextBox 3"/>
          <p:cNvSpPr txBox="1"/>
          <p:nvPr/>
        </p:nvSpPr>
        <p:spPr>
          <a:xfrm>
            <a:off x="502920" y="310896"/>
            <a:ext cx="402336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60"/>
              </a:spcAft>
            </a:pPr>
            <a:r>
              <a:rPr sz="1000" b="1">
                <a:solidFill>
                  <a:srgbClr val="1D6FB8"/>
                </a:solidFill>
                <a:latin typeface="Aptos"/>
                <a:ea typeface="Aptos"/>
                <a:cs typeface="Aptos"/>
              </a:rPr>
              <a:t>FLOW 3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02920" y="566928"/>
            <a:ext cx="94183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"/>
              </a:spcAft>
            </a:pPr>
            <a:r>
              <a:rPr sz="2600" b="1">
                <a:solidFill>
                  <a:srgbClr val="071E3A"/>
                </a:solidFill>
                <a:latin typeface="Cambria"/>
                <a:ea typeface="Cambria"/>
                <a:cs typeface="Cambria"/>
              </a:rPr>
              <a:t>Provisioning job lifecycle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972800" y="621792"/>
            <a:ext cx="5943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70"/>
              </a:spcAft>
            </a:pPr>
            <a:r>
              <a:rPr sz="1200" b="1">
                <a:solidFill>
                  <a:srgbClr val="1D6FB8"/>
                </a:solidFill>
                <a:latin typeface="Cambria"/>
                <a:ea typeface="Cambria"/>
                <a:cs typeface="Cambria"/>
              </a:rPr>
              <a:t>07</a:t>
            </a:r>
          </a:p>
        </p:txBody>
      </p:sp>
      <p:sp>
        <p:nvSpPr>
          <p:cNvPr id="6" name="Shape 6"/>
          <p:cNvSpPr/>
          <p:nvPr/>
        </p:nvSpPr>
        <p:spPr>
          <a:xfrm>
            <a:off x="502920" y="1124712"/>
            <a:ext cx="11155680" cy="20117"/>
          </a:xfrm>
          <a:prstGeom prst="rect">
            <a:avLst/>
          </a:prstGeom>
          <a:solidFill>
            <a:srgbClr val="DCE4ED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7" name="Shape 7"/>
          <p:cNvSpPr/>
          <p:nvPr/>
        </p:nvSpPr>
        <p:spPr>
          <a:xfrm>
            <a:off x="594360" y="1463040"/>
            <a:ext cx="2514600" cy="1417320"/>
          </a:xfrm>
          <a:prstGeom prst="roundRect">
            <a:avLst/>
          </a:prstGeom>
          <a:solidFill>
            <a:srgbClr val="F4F8FF"/>
          </a:solidFill>
          <a:ln w="9525">
            <a:solidFill>
              <a:srgbClr val="DCE4ED"/>
            </a:solidFill>
          </a:ln>
          <a:effectLst/>
        </p:spPr>
        <p:txBody>
          <a:bodyPr/>
          <a:lstStyle/>
          <a:p/>
        </p:txBody>
      </p:sp>
      <p:sp>
        <p:nvSpPr>
          <p:cNvPr id="8" name="TextBox 8"/>
          <p:cNvSpPr txBox="1"/>
          <p:nvPr/>
        </p:nvSpPr>
        <p:spPr>
          <a:xfrm>
            <a:off x="777240" y="1600200"/>
            <a:ext cx="2130552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60"/>
              </a:spcAft>
            </a:pPr>
            <a:r>
              <a:rPr sz="1200" b="1">
                <a:solidFill>
                  <a:srgbClr val="071E3A"/>
                </a:solidFill>
                <a:latin typeface="Aptos"/>
                <a:ea typeface="Aptos"/>
                <a:cs typeface="Aptos"/>
              </a:rPr>
              <a:t>1. Create ProvisionJobEntity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77240" y="1965960"/>
            <a:ext cx="2148840" cy="8869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"/>
              </a:spcAft>
            </a:pPr>
            <a:r>
              <a:rPr sz="800">
                <a:solidFill>
                  <a:srgbClr val="5B6878"/>
                </a:solidFill>
                <a:latin typeface="Aptos"/>
                <a:ea typeface="Aptos"/>
                <a:cs typeface="Aptos"/>
              </a:rPr>
              <a:t>ProvisioningService owns the step and persists status for the monitor.</a:t>
            </a:r>
          </a:p>
        </p:txBody>
      </p:sp>
      <p:sp>
        <p:nvSpPr>
          <p:cNvPr id="10" name="Shape 10"/>
          <p:cNvSpPr/>
          <p:nvPr/>
        </p:nvSpPr>
        <p:spPr>
          <a:xfrm>
            <a:off x="3383280" y="1463040"/>
            <a:ext cx="2514600" cy="1417320"/>
          </a:xfrm>
          <a:prstGeom prst="roundRect">
            <a:avLst/>
          </a:prstGeom>
          <a:solidFill>
            <a:srgbClr val="F4F8FF"/>
          </a:solidFill>
          <a:ln w="9525">
            <a:solidFill>
              <a:srgbClr val="DCE4ED"/>
            </a:solidFill>
          </a:ln>
          <a:effectLst/>
        </p:spPr>
        <p:txBody>
          <a:bodyPr/>
          <a:lstStyle/>
          <a:p/>
        </p:txBody>
      </p:sp>
      <p:sp>
        <p:nvSpPr>
          <p:cNvPr id="11" name="TextBox 11"/>
          <p:cNvSpPr txBox="1"/>
          <p:nvPr/>
        </p:nvSpPr>
        <p:spPr>
          <a:xfrm>
            <a:off x="3566160" y="1600200"/>
            <a:ext cx="2130552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60"/>
              </a:spcAft>
            </a:pPr>
            <a:r>
              <a:rPr sz="1200" b="1">
                <a:solidFill>
                  <a:srgbClr val="071E3A"/>
                </a:solidFill>
                <a:latin typeface="Aptos"/>
                <a:ea typeface="Aptos"/>
                <a:cs typeface="Aptos"/>
              </a:rPr>
              <a:t>2. Validate source, target, policy and specJson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566160" y="1965960"/>
            <a:ext cx="2148840" cy="8869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"/>
              </a:spcAft>
            </a:pPr>
            <a:r>
              <a:rPr sz="800">
                <a:solidFill>
                  <a:srgbClr val="5B6878"/>
                </a:solidFill>
                <a:latin typeface="Aptos"/>
                <a:ea typeface="Aptos"/>
                <a:cs typeface="Aptos"/>
              </a:rPr>
              <a:t>ProvisioningService owns the step and persists status for the monitor.</a:t>
            </a:r>
          </a:p>
        </p:txBody>
      </p:sp>
      <p:sp>
        <p:nvSpPr>
          <p:cNvPr id="13" name="Shape 13"/>
          <p:cNvSpPr/>
          <p:nvPr/>
        </p:nvSpPr>
        <p:spPr>
          <a:xfrm>
            <a:off x="6172200" y="1463040"/>
            <a:ext cx="2514600" cy="1417320"/>
          </a:xfrm>
          <a:prstGeom prst="roundRect">
            <a:avLst/>
          </a:prstGeom>
          <a:solidFill>
            <a:srgbClr val="F4F8FF"/>
          </a:solidFill>
          <a:ln w="9525">
            <a:solidFill>
              <a:srgbClr val="DCE4ED"/>
            </a:solidFill>
          </a:ln>
          <a:effectLst/>
        </p:spPr>
        <p:txBody>
          <a:bodyPr/>
          <a:lstStyle/>
          <a:p/>
        </p:txBody>
      </p:sp>
      <p:sp>
        <p:nvSpPr>
          <p:cNvPr id="14" name="TextBox 14"/>
          <p:cNvSpPr txBox="1"/>
          <p:nvPr/>
        </p:nvSpPr>
        <p:spPr>
          <a:xfrm>
            <a:off x="6355080" y="1600200"/>
            <a:ext cx="2130552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60"/>
              </a:spcAft>
            </a:pPr>
            <a:r>
              <a:rPr sz="1200" b="1">
                <a:solidFill>
                  <a:srgbClr val="071E3A"/>
                </a:solidFill>
                <a:latin typeface="Aptos"/>
                <a:ea typeface="Aptos"/>
                <a:cs typeface="Aptos"/>
              </a:rPr>
              <a:t>3. Queue async worker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355080" y="1965960"/>
            <a:ext cx="2148840" cy="8869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"/>
              </a:spcAft>
            </a:pPr>
            <a:r>
              <a:rPr sz="800">
                <a:solidFill>
                  <a:srgbClr val="5B6878"/>
                </a:solidFill>
                <a:latin typeface="Aptos"/>
                <a:ea typeface="Aptos"/>
                <a:cs typeface="Aptos"/>
              </a:rPr>
              <a:t>ProvisioningService owns the step and persists status for the monitor.</a:t>
            </a:r>
          </a:p>
        </p:txBody>
      </p:sp>
      <p:sp>
        <p:nvSpPr>
          <p:cNvPr id="16" name="Shape 16"/>
          <p:cNvSpPr/>
          <p:nvPr/>
        </p:nvSpPr>
        <p:spPr>
          <a:xfrm>
            <a:off x="8961120" y="1463040"/>
            <a:ext cx="2514600" cy="1417320"/>
          </a:xfrm>
          <a:prstGeom prst="roundRect">
            <a:avLst/>
          </a:prstGeom>
          <a:solidFill>
            <a:srgbClr val="F4F8FF"/>
          </a:solidFill>
          <a:ln w="9525">
            <a:solidFill>
              <a:srgbClr val="DCE4ED"/>
            </a:solidFill>
          </a:ln>
          <a:effectLst/>
        </p:spPr>
        <p:txBody>
          <a:bodyPr/>
          <a:lstStyle/>
          <a:p/>
        </p:txBody>
      </p:sp>
      <p:sp>
        <p:nvSpPr>
          <p:cNvPr id="17" name="TextBox 17"/>
          <p:cNvSpPr txBox="1"/>
          <p:nvPr/>
        </p:nvSpPr>
        <p:spPr>
          <a:xfrm>
            <a:off x="9144000" y="1600200"/>
            <a:ext cx="2130552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60"/>
              </a:spcAft>
            </a:pPr>
            <a:r>
              <a:rPr sz="1200" b="1">
                <a:solidFill>
                  <a:srgbClr val="071E3A"/>
                </a:solidFill>
                <a:latin typeface="Aptos"/>
                <a:ea typeface="Aptos"/>
                <a:cs typeface="Aptos"/>
              </a:rPr>
              <a:t>4. Resolve tables and relationships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144000" y="1965960"/>
            <a:ext cx="2148840" cy="8869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"/>
              </a:spcAft>
            </a:pPr>
            <a:r>
              <a:rPr sz="800">
                <a:solidFill>
                  <a:srgbClr val="5B6878"/>
                </a:solidFill>
                <a:latin typeface="Aptos"/>
                <a:ea typeface="Aptos"/>
                <a:cs typeface="Aptos"/>
              </a:rPr>
              <a:t>ProvisioningService owns the step and persists status for the monitor.</a:t>
            </a:r>
          </a:p>
        </p:txBody>
      </p:sp>
      <p:sp>
        <p:nvSpPr>
          <p:cNvPr id="19" name="Shape 19"/>
          <p:cNvSpPr/>
          <p:nvPr/>
        </p:nvSpPr>
        <p:spPr>
          <a:xfrm>
            <a:off x="594360" y="3337560"/>
            <a:ext cx="251460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4ED"/>
            </a:solidFill>
          </a:ln>
          <a:effectLst/>
        </p:spPr>
        <p:txBody>
          <a:bodyPr/>
          <a:lstStyle/>
          <a:p/>
        </p:txBody>
      </p:sp>
      <p:sp>
        <p:nvSpPr>
          <p:cNvPr id="20" name="TextBox 20"/>
          <p:cNvSpPr txBox="1"/>
          <p:nvPr/>
        </p:nvSpPr>
        <p:spPr>
          <a:xfrm>
            <a:off x="777240" y="3474720"/>
            <a:ext cx="2130552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60"/>
              </a:spcAft>
            </a:pPr>
            <a:r>
              <a:rPr sz="1200" b="1">
                <a:solidFill>
                  <a:srgbClr val="071E3A"/>
                </a:solidFill>
                <a:latin typeface="Aptos"/>
                <a:ea typeface="Aptos"/>
                <a:cs typeface="Aptos"/>
              </a:rPr>
              <a:t>5. Prepare target based on loadAction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77240" y="3840480"/>
            <a:ext cx="2148840" cy="8869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"/>
              </a:spcAft>
            </a:pPr>
            <a:r>
              <a:rPr sz="800">
                <a:solidFill>
                  <a:srgbClr val="5B6878"/>
                </a:solidFill>
                <a:latin typeface="Aptos"/>
                <a:ea typeface="Aptos"/>
                <a:cs typeface="Aptos"/>
              </a:rPr>
              <a:t>ProvisioningService owns the step and persists status for the monitor.</a:t>
            </a:r>
          </a:p>
        </p:txBody>
      </p:sp>
      <p:sp>
        <p:nvSpPr>
          <p:cNvPr id="22" name="Shape 22"/>
          <p:cNvSpPr/>
          <p:nvPr/>
        </p:nvSpPr>
        <p:spPr>
          <a:xfrm>
            <a:off x="3383280" y="3337560"/>
            <a:ext cx="251460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4ED"/>
            </a:solidFill>
          </a:ln>
          <a:effectLst/>
        </p:spPr>
        <p:txBody>
          <a:bodyPr/>
          <a:lstStyle/>
          <a:p/>
        </p:txBody>
      </p:sp>
      <p:sp>
        <p:nvSpPr>
          <p:cNvPr id="23" name="TextBox 23"/>
          <p:cNvSpPr txBox="1"/>
          <p:nvPr/>
        </p:nvSpPr>
        <p:spPr>
          <a:xfrm>
            <a:off x="3566160" y="3474720"/>
            <a:ext cx="2130552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60"/>
              </a:spcAft>
            </a:pPr>
            <a:r>
              <a:rPr sz="1200" b="1">
                <a:solidFill>
                  <a:srgbClr val="071E3A"/>
                </a:solidFill>
                <a:latin typeface="Aptos"/>
                <a:ea typeface="Aptos"/>
                <a:cs typeface="Aptos"/>
              </a:rPr>
              <a:t>6. Stream rows, mask in flight, write batches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3566160" y="3840480"/>
            <a:ext cx="2148840" cy="8869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"/>
              </a:spcAft>
            </a:pPr>
            <a:r>
              <a:rPr sz="800">
                <a:solidFill>
                  <a:srgbClr val="5B6878"/>
                </a:solidFill>
                <a:latin typeface="Aptos"/>
                <a:ea typeface="Aptos"/>
                <a:cs typeface="Aptos"/>
              </a:rPr>
              <a:t>ProvisioningService owns the step and persists status for the monitor.</a:t>
            </a:r>
          </a:p>
        </p:txBody>
      </p:sp>
      <p:sp>
        <p:nvSpPr>
          <p:cNvPr id="25" name="Shape 25"/>
          <p:cNvSpPr/>
          <p:nvPr/>
        </p:nvSpPr>
        <p:spPr>
          <a:xfrm>
            <a:off x="6172200" y="3337560"/>
            <a:ext cx="251460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4ED"/>
            </a:solidFill>
          </a:ln>
          <a:effectLst/>
        </p:spPr>
        <p:txBody>
          <a:bodyPr/>
          <a:lstStyle/>
          <a:p/>
        </p:txBody>
      </p:sp>
      <p:sp>
        <p:nvSpPr>
          <p:cNvPr id="26" name="TextBox 26"/>
          <p:cNvSpPr txBox="1"/>
          <p:nvPr/>
        </p:nvSpPr>
        <p:spPr>
          <a:xfrm>
            <a:off x="6355080" y="3474720"/>
            <a:ext cx="2130552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60"/>
              </a:spcAft>
            </a:pPr>
            <a:r>
              <a:rPr sz="1200" b="1">
                <a:solidFill>
                  <a:srgbClr val="071E3A"/>
                </a:solidFill>
                <a:latin typeface="Aptos"/>
                <a:ea typeface="Aptos"/>
                <a:cs typeface="Aptos"/>
              </a:rPr>
              <a:t>7. Update rowsProcessed, status and message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355080" y="3840480"/>
            <a:ext cx="2148840" cy="8869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"/>
              </a:spcAft>
            </a:pPr>
            <a:r>
              <a:rPr sz="800">
                <a:solidFill>
                  <a:srgbClr val="5B6878"/>
                </a:solidFill>
                <a:latin typeface="Aptos"/>
                <a:ea typeface="Aptos"/>
                <a:cs typeface="Aptos"/>
              </a:rPr>
              <a:t>ProvisioningService owns the step and persists status for the monitor.</a:t>
            </a:r>
          </a:p>
        </p:txBody>
      </p:sp>
      <p:sp>
        <p:nvSpPr>
          <p:cNvPr id="28" name="Shape 28"/>
          <p:cNvSpPr/>
          <p:nvPr/>
        </p:nvSpPr>
        <p:spPr>
          <a:xfrm>
            <a:off x="8961120" y="3337560"/>
            <a:ext cx="251460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4ED"/>
            </a:solidFill>
          </a:ln>
          <a:effectLst/>
        </p:spPr>
        <p:txBody>
          <a:bodyPr/>
          <a:lstStyle/>
          <a:p/>
        </p:txBody>
      </p:sp>
      <p:sp>
        <p:nvSpPr>
          <p:cNvPr id="29" name="TextBox 29"/>
          <p:cNvSpPr txBox="1"/>
          <p:nvPr/>
        </p:nvSpPr>
        <p:spPr>
          <a:xfrm>
            <a:off x="9144000" y="3474720"/>
            <a:ext cx="2130552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60"/>
              </a:spcAft>
            </a:pPr>
            <a:r>
              <a:rPr sz="1200" b="1">
                <a:solidFill>
                  <a:srgbClr val="071E3A"/>
                </a:solidFill>
                <a:latin typeface="Aptos"/>
                <a:ea typeface="Aptos"/>
                <a:cs typeface="Aptos"/>
              </a:rPr>
              <a:t>8. Validation and sample can run afterward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144000" y="3840480"/>
            <a:ext cx="2148840" cy="8869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"/>
              </a:spcAft>
            </a:pPr>
            <a:r>
              <a:rPr sz="800">
                <a:solidFill>
                  <a:srgbClr val="5B6878"/>
                </a:solidFill>
                <a:latin typeface="Aptos"/>
                <a:ea typeface="Aptos"/>
                <a:cs typeface="Aptos"/>
              </a:rPr>
              <a:t>ProvisioningService owns the step and persists status for the monitor.</a:t>
            </a:r>
          </a:p>
        </p:txBody>
      </p:sp>
      <p:sp>
        <p:nvSpPr>
          <p:cNvPr id="31" name="Shape 31"/>
          <p:cNvSpPr/>
          <p:nvPr/>
        </p:nvSpPr>
        <p:spPr>
          <a:xfrm>
            <a:off x="868680" y="5532120"/>
            <a:ext cx="10149840" cy="411480"/>
          </a:xfrm>
          <a:prstGeom prst="roundRect">
            <a:avLst/>
          </a:prstGeom>
          <a:solidFill>
            <a:srgbClr val="EAF7EF"/>
          </a:solidFill>
          <a:ln w="9525">
            <a:solidFill>
              <a:srgbClr val="DCE4ED"/>
            </a:solidFill>
          </a:ln>
          <a:effectLst/>
        </p:spPr>
        <p:txBody>
          <a:bodyPr/>
          <a:lstStyle/>
          <a:p/>
        </p:txBody>
      </p:sp>
      <p:sp>
        <p:nvSpPr>
          <p:cNvPr id="32" name="TextBox 32"/>
          <p:cNvSpPr txBox="1"/>
          <p:nvPr/>
        </p:nvSpPr>
        <p:spPr>
          <a:xfrm>
            <a:off x="1051560" y="5650992"/>
            <a:ext cx="9784080" cy="10972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160"/>
              </a:spcAft>
            </a:pPr>
            <a:r>
              <a:rPr sz="900" b="1">
                <a:solidFill>
                  <a:srgbClr val="2F7D59"/>
                </a:solidFill>
                <a:latin typeface="Aptos"/>
                <a:ea typeface="Aptos"/>
                <a:cs typeface="Aptos"/>
              </a:rPr>
              <a:t>Load actions: REPLACE, INSERT, UPDATE, INSERT_UPDATE, IN_PLACE, TRUNCATE_ONLY. Target prep: NONE, DELETE, TRUNCATE.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502920" y="6446520"/>
            <a:ext cx="521208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60"/>
              </a:spcAft>
            </a:pPr>
            <a:r>
              <a:rPr sz="800">
                <a:solidFill>
                  <a:srgbClr val="5B6878"/>
                </a:solidFill>
                <a:latin typeface="Aptos"/>
                <a:ea typeface="Aptos"/>
                <a:cs typeface="Aptos"/>
              </a:rPr>
              <a:t>ForgeTDM team walkthrough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1109960" y="6446520"/>
            <a:ext cx="4572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160"/>
              </a:spcAft>
            </a:pPr>
            <a:r>
              <a:rPr sz="800">
                <a:solidFill>
                  <a:srgbClr val="5B6878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3" name="TextBox 3"/>
          <p:cNvSpPr txBox="1"/>
          <p:nvPr/>
        </p:nvSpPr>
        <p:spPr>
          <a:xfrm>
            <a:off x="502920" y="310896"/>
            <a:ext cx="402336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60"/>
              </a:spcAft>
            </a:pPr>
            <a:r>
              <a:rPr sz="1000" b="1">
                <a:solidFill>
                  <a:srgbClr val="1D6FB8"/>
                </a:solidFill>
                <a:latin typeface="Aptos"/>
                <a:ea typeface="Aptos"/>
                <a:cs typeface="Aptos"/>
              </a:rPr>
              <a:t>ENGINE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02920" y="566928"/>
            <a:ext cx="94183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"/>
              </a:spcAft>
            </a:pPr>
            <a:r>
              <a:rPr sz="2600" b="1">
                <a:solidFill>
                  <a:srgbClr val="071E3A"/>
                </a:solidFill>
                <a:latin typeface="Cambria"/>
                <a:ea typeface="Cambria"/>
                <a:cs typeface="Cambria"/>
              </a:rPr>
              <a:t>How masking stays consistent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972800" y="621792"/>
            <a:ext cx="5943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70"/>
              </a:spcAft>
            </a:pPr>
            <a:r>
              <a:rPr sz="1200" b="1">
                <a:solidFill>
                  <a:srgbClr val="1D6FB8"/>
                </a:solidFill>
                <a:latin typeface="Cambria"/>
                <a:ea typeface="Cambria"/>
                <a:cs typeface="Cambria"/>
              </a:rPr>
              <a:t>08</a:t>
            </a:r>
          </a:p>
        </p:txBody>
      </p:sp>
      <p:sp>
        <p:nvSpPr>
          <p:cNvPr id="6" name="Shape 6"/>
          <p:cNvSpPr/>
          <p:nvPr/>
        </p:nvSpPr>
        <p:spPr>
          <a:xfrm>
            <a:off x="502920" y="1124712"/>
            <a:ext cx="11155680" cy="20117"/>
          </a:xfrm>
          <a:prstGeom prst="rect">
            <a:avLst/>
          </a:prstGeom>
          <a:solidFill>
            <a:srgbClr val="DCE4ED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7" name="Shape 7"/>
          <p:cNvSpPr/>
          <p:nvPr/>
        </p:nvSpPr>
        <p:spPr>
          <a:xfrm>
            <a:off x="731520" y="1554480"/>
            <a:ext cx="3017520" cy="3337560"/>
          </a:xfrm>
          <a:prstGeom prst="roundRect">
            <a:avLst/>
          </a:prstGeom>
          <a:solidFill>
            <a:srgbClr val="071E3A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8" name="TextBox 8"/>
          <p:cNvSpPr txBox="1"/>
          <p:nvPr/>
        </p:nvSpPr>
        <p:spPr>
          <a:xfrm>
            <a:off x="987552" y="1828800"/>
            <a:ext cx="251460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"/>
              </a:spcAft>
            </a:pPr>
            <a:r>
              <a:rPr sz="17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Deterministic core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87552" y="2377440"/>
            <a:ext cx="2423160" cy="9601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60"/>
              </a:spcAft>
            </a:pPr>
            <a:r>
              <a:rPr sz="1200">
                <a:solidFill>
                  <a:srgbClr val="CBDEF6"/>
                </a:solidFill>
                <a:latin typeface="Aptos"/>
                <a:ea typeface="Aptos"/>
                <a:cs typeface="Aptos"/>
              </a:rPr>
              <a:t>MaskingEngine uses deterministic context and a project secret so the same source value maps to the same masked value across tables and runs.</a:t>
            </a:r>
          </a:p>
        </p:txBody>
      </p:sp>
      <p:sp>
        <p:nvSpPr>
          <p:cNvPr id="10" name="Shape 10"/>
          <p:cNvSpPr/>
          <p:nvPr/>
        </p:nvSpPr>
        <p:spPr>
          <a:xfrm>
            <a:off x="4160520" y="1554480"/>
            <a:ext cx="3063240" cy="1234440"/>
          </a:xfrm>
          <a:prstGeom prst="roundRect">
            <a:avLst/>
          </a:prstGeom>
          <a:solidFill>
            <a:srgbClr val="F4F8FF"/>
          </a:solidFill>
          <a:ln w="9525">
            <a:solidFill>
              <a:srgbClr val="DCE4ED"/>
            </a:solidFill>
          </a:ln>
          <a:effectLst/>
        </p:spPr>
        <p:txBody>
          <a:bodyPr/>
          <a:lstStyle/>
          <a:p/>
        </p:txBody>
      </p:sp>
      <p:sp>
        <p:nvSpPr>
          <p:cNvPr id="11" name="TextBox 11"/>
          <p:cNvSpPr txBox="1"/>
          <p:nvPr/>
        </p:nvSpPr>
        <p:spPr>
          <a:xfrm>
            <a:off x="4343400" y="1691640"/>
            <a:ext cx="2679192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60"/>
              </a:spcAft>
            </a:pPr>
            <a:r>
              <a:rPr sz="1200" b="1">
                <a:solidFill>
                  <a:srgbClr val="071E3A"/>
                </a:solidFill>
                <a:latin typeface="Aptos"/>
                <a:ea typeface="Aptos"/>
                <a:cs typeface="Aptos"/>
              </a:rPr>
              <a:t>Function catalog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343400" y="2057400"/>
            <a:ext cx="2697480" cy="70408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"/>
              </a:spcAft>
            </a:pPr>
            <a:r>
              <a:rPr sz="800">
                <a:solidFill>
                  <a:srgbClr val="5B6878"/>
                </a:solidFill>
                <a:latin typeface="Aptos"/>
                <a:ea typeface="Aptos"/>
                <a:cs typeface="Aptos"/>
              </a:rPr>
              <a:t>MaskFunction enum defines names, email, phone, SSN, credit card, DOB, address, format-preserve, fixed and passthrough behavior.</a:t>
            </a:r>
          </a:p>
        </p:txBody>
      </p:sp>
      <p:sp>
        <p:nvSpPr>
          <p:cNvPr id="13" name="Shape 13"/>
          <p:cNvSpPr/>
          <p:nvPr/>
        </p:nvSpPr>
        <p:spPr>
          <a:xfrm>
            <a:off x="7635240" y="1554480"/>
            <a:ext cx="3063240" cy="1234440"/>
          </a:xfrm>
          <a:prstGeom prst="roundRect">
            <a:avLst/>
          </a:prstGeom>
          <a:solidFill>
            <a:srgbClr val="EAF7EF"/>
          </a:solidFill>
          <a:ln w="9525">
            <a:solidFill>
              <a:srgbClr val="DCE4ED"/>
            </a:solidFill>
          </a:ln>
          <a:effectLst/>
        </p:spPr>
        <p:txBody>
          <a:bodyPr/>
          <a:lstStyle/>
          <a:p/>
        </p:txBody>
      </p:sp>
      <p:sp>
        <p:nvSpPr>
          <p:cNvPr id="14" name="TextBox 14"/>
          <p:cNvSpPr txBox="1"/>
          <p:nvPr/>
        </p:nvSpPr>
        <p:spPr>
          <a:xfrm>
            <a:off x="7818120" y="1691640"/>
            <a:ext cx="2679192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60"/>
              </a:spcAft>
            </a:pPr>
            <a:r>
              <a:rPr sz="1200" b="1">
                <a:solidFill>
                  <a:srgbClr val="071E3A"/>
                </a:solidFill>
                <a:latin typeface="Aptos"/>
                <a:ea typeface="Aptos"/>
                <a:cs typeface="Aptos"/>
              </a:rPr>
              <a:t>Context matters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818120" y="2057400"/>
            <a:ext cx="2697480" cy="70408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"/>
              </a:spcAft>
            </a:pPr>
            <a:r>
              <a:rPr sz="800">
                <a:solidFill>
                  <a:srgbClr val="5B6878"/>
                </a:solidFill>
                <a:latin typeface="Aptos"/>
                <a:ea typeface="Aptos"/>
                <a:cs typeface="Aptos"/>
              </a:rPr>
              <a:t>Rules use table, column, row index, seed and source value. That is what makes repeatable masking possible.</a:t>
            </a:r>
          </a:p>
        </p:txBody>
      </p:sp>
      <p:sp>
        <p:nvSpPr>
          <p:cNvPr id="16" name="Shape 16"/>
          <p:cNvSpPr/>
          <p:nvPr/>
        </p:nvSpPr>
        <p:spPr>
          <a:xfrm>
            <a:off x="4160520" y="3246120"/>
            <a:ext cx="3063240" cy="1234440"/>
          </a:xfrm>
          <a:prstGeom prst="roundRect">
            <a:avLst/>
          </a:prstGeom>
          <a:solidFill>
            <a:srgbClr val="F1EFFF"/>
          </a:solidFill>
          <a:ln w="9525">
            <a:solidFill>
              <a:srgbClr val="DCE4ED"/>
            </a:solidFill>
          </a:ln>
          <a:effectLst/>
        </p:spPr>
        <p:txBody>
          <a:bodyPr/>
          <a:lstStyle/>
          <a:p/>
        </p:txBody>
      </p:sp>
      <p:sp>
        <p:nvSpPr>
          <p:cNvPr id="17" name="TextBox 17"/>
          <p:cNvSpPr txBox="1"/>
          <p:nvPr/>
        </p:nvSpPr>
        <p:spPr>
          <a:xfrm>
            <a:off x="4343400" y="3383280"/>
            <a:ext cx="2679192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60"/>
              </a:spcAft>
            </a:pPr>
            <a:r>
              <a:rPr sz="1200" b="1">
                <a:solidFill>
                  <a:srgbClr val="071E3A"/>
                </a:solidFill>
                <a:latin typeface="Aptos"/>
                <a:ea typeface="Aptos"/>
                <a:cs typeface="Aptos"/>
              </a:rPr>
              <a:t>Conditions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343400" y="3749040"/>
            <a:ext cx="2697480" cy="70408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"/>
              </a:spcAft>
            </a:pPr>
            <a:r>
              <a:rPr sz="800">
                <a:solidFill>
                  <a:srgbClr val="5B6878"/>
                </a:solidFill>
                <a:latin typeface="Aptos"/>
                <a:ea typeface="Aptos"/>
                <a:cs typeface="Aptos"/>
              </a:rPr>
              <a:t>Column conditions can choose different rules for different rows. This is handled before value transformation.</a:t>
            </a:r>
          </a:p>
        </p:txBody>
      </p:sp>
      <p:sp>
        <p:nvSpPr>
          <p:cNvPr id="19" name="Shape 19"/>
          <p:cNvSpPr/>
          <p:nvPr/>
        </p:nvSpPr>
        <p:spPr>
          <a:xfrm>
            <a:off x="7635240" y="3246120"/>
            <a:ext cx="3063240" cy="1234440"/>
          </a:xfrm>
          <a:prstGeom prst="roundRect">
            <a:avLst/>
          </a:prstGeom>
          <a:solidFill>
            <a:srgbClr val="FFF4E6"/>
          </a:solidFill>
          <a:ln w="9525">
            <a:solidFill>
              <a:srgbClr val="DCE4ED"/>
            </a:solidFill>
          </a:ln>
          <a:effectLst/>
        </p:spPr>
        <p:txBody>
          <a:bodyPr/>
          <a:lstStyle/>
          <a:p/>
        </p:txBody>
      </p:sp>
      <p:sp>
        <p:nvSpPr>
          <p:cNvPr id="20" name="TextBox 20"/>
          <p:cNvSpPr txBox="1"/>
          <p:nvPr/>
        </p:nvSpPr>
        <p:spPr>
          <a:xfrm>
            <a:off x="7818120" y="3383280"/>
            <a:ext cx="2679192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60"/>
              </a:spcAft>
            </a:pPr>
            <a:r>
              <a:rPr sz="1200" b="1">
                <a:solidFill>
                  <a:srgbClr val="071E3A"/>
                </a:solidFill>
                <a:latin typeface="Aptos"/>
                <a:ea typeface="Aptos"/>
                <a:cs typeface="Aptos"/>
              </a:rPr>
              <a:t>Team caution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818120" y="3749040"/>
            <a:ext cx="2697480" cy="70408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"/>
              </a:spcAft>
            </a:pPr>
            <a:r>
              <a:rPr sz="800">
                <a:solidFill>
                  <a:srgbClr val="5B6878"/>
                </a:solidFill>
                <a:latin typeface="Aptos"/>
                <a:ea typeface="Aptos"/>
                <a:cs typeface="Aptos"/>
              </a:rPr>
              <a:t>If you add a mask function, add it to MaskFunction, MaskingEngine, UI options, docs and tests.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02920" y="6446520"/>
            <a:ext cx="521208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60"/>
              </a:spcAft>
            </a:pPr>
            <a:r>
              <a:rPr sz="800">
                <a:solidFill>
                  <a:srgbClr val="5B6878"/>
                </a:solidFill>
                <a:latin typeface="Aptos"/>
                <a:ea typeface="Aptos"/>
                <a:cs typeface="Aptos"/>
              </a:rPr>
              <a:t>ForgeTDM team walkthrough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109960" y="6446520"/>
            <a:ext cx="4572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160"/>
              </a:spcAft>
            </a:pPr>
            <a:r>
              <a:rPr sz="800">
                <a:solidFill>
                  <a:srgbClr val="5B6878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3" name="TextBox 3"/>
          <p:cNvSpPr txBox="1"/>
          <p:nvPr/>
        </p:nvSpPr>
        <p:spPr>
          <a:xfrm>
            <a:off x="502920" y="310896"/>
            <a:ext cx="402336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60"/>
              </a:spcAft>
            </a:pPr>
            <a:r>
              <a:rPr sz="1000" b="1">
                <a:solidFill>
                  <a:srgbClr val="1D6FB8"/>
                </a:solidFill>
                <a:latin typeface="Aptos"/>
                <a:ea typeface="Aptos"/>
                <a:cs typeface="Aptos"/>
              </a:rPr>
              <a:t>FLOW 4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02920" y="566928"/>
            <a:ext cx="94183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"/>
              </a:spcAft>
            </a:pPr>
            <a:r>
              <a:rPr sz="2600" b="1">
                <a:solidFill>
                  <a:srgbClr val="071E3A"/>
                </a:solidFill>
                <a:latin typeface="Cambria"/>
                <a:ea typeface="Cambria"/>
                <a:cs typeface="Cambria"/>
              </a:rPr>
              <a:t>Synthetic data generation path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972800" y="621792"/>
            <a:ext cx="5943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70"/>
              </a:spcAft>
            </a:pPr>
            <a:r>
              <a:rPr sz="1200" b="1">
                <a:solidFill>
                  <a:srgbClr val="1D6FB8"/>
                </a:solidFill>
                <a:latin typeface="Cambria"/>
                <a:ea typeface="Cambria"/>
                <a:cs typeface="Cambria"/>
              </a:rPr>
              <a:t>09</a:t>
            </a:r>
          </a:p>
        </p:txBody>
      </p:sp>
      <p:sp>
        <p:nvSpPr>
          <p:cNvPr id="6" name="Shape 6"/>
          <p:cNvSpPr/>
          <p:nvPr/>
        </p:nvSpPr>
        <p:spPr>
          <a:xfrm>
            <a:off x="502920" y="1124712"/>
            <a:ext cx="11155680" cy="20117"/>
          </a:xfrm>
          <a:prstGeom prst="rect">
            <a:avLst/>
          </a:prstGeom>
          <a:solidFill>
            <a:srgbClr val="DCE4ED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7" name="Shape 7"/>
          <p:cNvSpPr/>
          <p:nvPr/>
        </p:nvSpPr>
        <p:spPr>
          <a:xfrm>
            <a:off x="685800" y="1737360"/>
            <a:ext cx="1938528" cy="2103120"/>
          </a:xfrm>
          <a:prstGeom prst="roundRect">
            <a:avLst/>
          </a:prstGeom>
          <a:solidFill>
            <a:srgbClr val="F4F8FF"/>
          </a:solidFill>
          <a:ln w="9525">
            <a:solidFill>
              <a:srgbClr val="DCE4ED"/>
            </a:solidFill>
          </a:ln>
          <a:effectLst/>
        </p:spPr>
        <p:txBody>
          <a:bodyPr/>
          <a:lstStyle/>
          <a:p/>
        </p:txBody>
      </p:sp>
      <p:sp>
        <p:nvSpPr>
          <p:cNvPr id="8" name="TextBox 8"/>
          <p:cNvSpPr txBox="1"/>
          <p:nvPr/>
        </p:nvSpPr>
        <p:spPr>
          <a:xfrm>
            <a:off x="822960" y="1965960"/>
            <a:ext cx="164592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160"/>
              </a:spcAft>
            </a:pPr>
            <a:r>
              <a:rPr sz="1200" b="1">
                <a:solidFill>
                  <a:srgbClr val="071E3A"/>
                </a:solidFill>
                <a:latin typeface="Aptos"/>
                <a:ea typeface="Aptos"/>
                <a:cs typeface="Aptos"/>
              </a:rPr>
              <a:t>Wizard state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41248" y="2514600"/>
            <a:ext cx="1627632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160"/>
              </a:spcAft>
            </a:pPr>
            <a:r>
              <a:rPr sz="800">
                <a:solidFill>
                  <a:srgbClr val="5B6878"/>
                </a:solidFill>
                <a:latin typeface="Aptos"/>
                <a:ea typeface="Aptos"/>
                <a:cs typeface="Aptos"/>
              </a:rPr>
              <a:t>dataset, tables, columns, FK links, seed, receiver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670048" y="2606040"/>
            <a:ext cx="219456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160"/>
              </a:spcAft>
            </a:pPr>
            <a:r>
              <a:rPr sz="1500" b="1">
                <a:solidFill>
                  <a:srgbClr val="1D6FB8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1" name="Shape 11"/>
          <p:cNvSpPr/>
          <p:nvPr/>
        </p:nvSpPr>
        <p:spPr>
          <a:xfrm>
            <a:off x="2926080" y="1737360"/>
            <a:ext cx="1938528" cy="2103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4ED"/>
            </a:solidFill>
          </a:ln>
          <a:effectLst/>
        </p:spPr>
        <p:txBody>
          <a:bodyPr/>
          <a:lstStyle/>
          <a:p/>
        </p:txBody>
      </p:sp>
      <p:sp>
        <p:nvSpPr>
          <p:cNvPr id="12" name="TextBox 12"/>
          <p:cNvSpPr txBox="1"/>
          <p:nvPr/>
        </p:nvSpPr>
        <p:spPr>
          <a:xfrm>
            <a:off x="3063240" y="1965960"/>
            <a:ext cx="164592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160"/>
              </a:spcAft>
            </a:pPr>
            <a:r>
              <a:rPr sz="1200" b="1">
                <a:solidFill>
                  <a:srgbClr val="071E3A"/>
                </a:solidFill>
                <a:latin typeface="Aptos"/>
                <a:ea typeface="Aptos"/>
                <a:cs typeface="Aptos"/>
              </a:rPr>
              <a:t>Plan payload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081528" y="2514600"/>
            <a:ext cx="1627632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160"/>
              </a:spcAft>
            </a:pPr>
            <a:r>
              <a:rPr sz="800">
                <a:solidFill>
                  <a:srgbClr val="5B6878"/>
                </a:solidFill>
                <a:latin typeface="Aptos"/>
                <a:ea typeface="Aptos"/>
                <a:cs typeface="Aptos"/>
              </a:rPr>
              <a:t>collectSynPlan posts to /api/synthetic/generate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910328" y="2606040"/>
            <a:ext cx="219456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160"/>
              </a:spcAft>
            </a:pPr>
            <a:r>
              <a:rPr sz="1500" b="1">
                <a:solidFill>
                  <a:srgbClr val="1D6FB8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5" name="Shape 15"/>
          <p:cNvSpPr/>
          <p:nvPr/>
        </p:nvSpPr>
        <p:spPr>
          <a:xfrm>
            <a:off x="5166360" y="1737360"/>
            <a:ext cx="1938528" cy="2103120"/>
          </a:xfrm>
          <a:prstGeom prst="roundRect">
            <a:avLst/>
          </a:prstGeom>
          <a:solidFill>
            <a:srgbClr val="F4F8FF"/>
          </a:solidFill>
          <a:ln w="9525">
            <a:solidFill>
              <a:srgbClr val="DCE4ED"/>
            </a:solidFill>
          </a:ln>
          <a:effectLst/>
        </p:spPr>
        <p:txBody>
          <a:bodyPr/>
          <a:lstStyle/>
          <a:p/>
        </p:txBody>
      </p:sp>
      <p:sp>
        <p:nvSpPr>
          <p:cNvPr id="16" name="TextBox 16"/>
          <p:cNvSpPr txBox="1"/>
          <p:nvPr/>
        </p:nvSpPr>
        <p:spPr>
          <a:xfrm>
            <a:off x="5303520" y="1965960"/>
            <a:ext cx="164592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160"/>
              </a:spcAft>
            </a:pPr>
            <a:r>
              <a:rPr sz="1200" b="1">
                <a:solidFill>
                  <a:srgbClr val="071E3A"/>
                </a:solidFill>
                <a:latin typeface="Aptos"/>
                <a:ea typeface="Aptos"/>
                <a:cs typeface="Aptos"/>
              </a:rPr>
              <a:t>Generator engine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321808" y="2514600"/>
            <a:ext cx="1627632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160"/>
              </a:spcAft>
            </a:pPr>
            <a:r>
              <a:rPr sz="800">
                <a:solidFill>
                  <a:srgbClr val="5B6878"/>
                </a:solidFill>
                <a:latin typeface="Aptos"/>
                <a:ea typeface="Aptos"/>
                <a:cs typeface="Aptos"/>
              </a:rPr>
              <a:t>Generators.of creates value functions per column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150608" y="2606040"/>
            <a:ext cx="219456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160"/>
              </a:spcAft>
            </a:pPr>
            <a:r>
              <a:rPr sz="1500" b="1">
                <a:solidFill>
                  <a:srgbClr val="1D6FB8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9" name="Shape 19"/>
          <p:cNvSpPr/>
          <p:nvPr/>
        </p:nvSpPr>
        <p:spPr>
          <a:xfrm>
            <a:off x="7406640" y="1737360"/>
            <a:ext cx="1938528" cy="2103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4ED"/>
            </a:solidFill>
          </a:ln>
          <a:effectLst/>
        </p:spPr>
        <p:txBody>
          <a:bodyPr/>
          <a:lstStyle/>
          <a:p/>
        </p:txBody>
      </p:sp>
      <p:sp>
        <p:nvSpPr>
          <p:cNvPr id="20" name="TextBox 20"/>
          <p:cNvSpPr txBox="1"/>
          <p:nvPr/>
        </p:nvSpPr>
        <p:spPr>
          <a:xfrm>
            <a:off x="7543800" y="1965960"/>
            <a:ext cx="164592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160"/>
              </a:spcAft>
            </a:pPr>
            <a:r>
              <a:rPr sz="1200" b="1">
                <a:solidFill>
                  <a:srgbClr val="071E3A"/>
                </a:solidFill>
                <a:latin typeface="Aptos"/>
                <a:ea typeface="Aptos"/>
                <a:cs typeface="Aptos"/>
              </a:rPr>
              <a:t>FK pools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562088" y="2514600"/>
            <a:ext cx="1627632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160"/>
              </a:spcAft>
            </a:pPr>
            <a:r>
              <a:rPr sz="800">
                <a:solidFill>
                  <a:srgbClr val="5B6878"/>
                </a:solidFill>
                <a:latin typeface="Aptos"/>
                <a:ea typeface="Aptos"/>
                <a:cs typeface="Aptos"/>
              </a:rPr>
              <a:t>Parent key values are captured, child FKs draw from pools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390888" y="2606040"/>
            <a:ext cx="219456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160"/>
              </a:spcAft>
            </a:pPr>
            <a:r>
              <a:rPr sz="1500" b="1">
                <a:solidFill>
                  <a:srgbClr val="1D6FB8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3" name="Shape 23"/>
          <p:cNvSpPr/>
          <p:nvPr/>
        </p:nvSpPr>
        <p:spPr>
          <a:xfrm>
            <a:off x="9646920" y="1737360"/>
            <a:ext cx="1938528" cy="2103120"/>
          </a:xfrm>
          <a:prstGeom prst="roundRect">
            <a:avLst/>
          </a:prstGeom>
          <a:solidFill>
            <a:srgbClr val="F4F8FF"/>
          </a:solidFill>
          <a:ln w="9525">
            <a:solidFill>
              <a:srgbClr val="DCE4ED"/>
            </a:solidFill>
          </a:ln>
          <a:effectLst/>
        </p:spPr>
        <p:txBody>
          <a:bodyPr/>
          <a:lstStyle/>
          <a:p/>
        </p:txBody>
      </p:sp>
      <p:sp>
        <p:nvSpPr>
          <p:cNvPr id="24" name="TextBox 24"/>
          <p:cNvSpPr txBox="1"/>
          <p:nvPr/>
        </p:nvSpPr>
        <p:spPr>
          <a:xfrm>
            <a:off x="9784080" y="1965960"/>
            <a:ext cx="164592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160"/>
              </a:spcAft>
            </a:pPr>
            <a:r>
              <a:rPr sz="1200" b="1">
                <a:solidFill>
                  <a:srgbClr val="071E3A"/>
                </a:solidFill>
                <a:latin typeface="Aptos"/>
                <a:ea typeface="Aptos"/>
                <a:cs typeface="Aptos"/>
              </a:rPr>
              <a:t>Receiver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802368" y="2514600"/>
            <a:ext cx="1627632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160"/>
              </a:spcAft>
            </a:pPr>
            <a:r>
              <a:rPr sz="800">
                <a:solidFill>
                  <a:srgbClr val="5B6878"/>
                </a:solidFill>
                <a:latin typeface="Aptos"/>
                <a:ea typeface="Aptos"/>
                <a:cs typeface="Aptos"/>
              </a:rPr>
              <a:t>DB load or CSV/JSON/SQL files</a:t>
            </a:r>
          </a:p>
        </p:txBody>
      </p:sp>
      <p:sp>
        <p:nvSpPr>
          <p:cNvPr id="26" name="Shape 26"/>
          <p:cNvSpPr/>
          <p:nvPr/>
        </p:nvSpPr>
        <p:spPr>
          <a:xfrm>
            <a:off x="868680" y="4617720"/>
            <a:ext cx="4846320" cy="1005840"/>
          </a:xfrm>
          <a:prstGeom prst="roundRect">
            <a:avLst/>
          </a:prstGeom>
          <a:solidFill>
            <a:srgbClr val="EAF7EF"/>
          </a:solidFill>
          <a:ln w="9525">
            <a:solidFill>
              <a:srgbClr val="DCE4ED"/>
            </a:solidFill>
          </a:ln>
          <a:effectLst/>
        </p:spPr>
        <p:txBody>
          <a:bodyPr/>
          <a:lstStyle/>
          <a:p/>
        </p:txBody>
      </p:sp>
      <p:sp>
        <p:nvSpPr>
          <p:cNvPr id="27" name="TextBox 27"/>
          <p:cNvSpPr txBox="1"/>
          <p:nvPr/>
        </p:nvSpPr>
        <p:spPr>
          <a:xfrm>
            <a:off x="1051560" y="4754880"/>
            <a:ext cx="4462272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60"/>
              </a:spcAft>
            </a:pPr>
            <a:r>
              <a:rPr sz="1200" b="1">
                <a:solidFill>
                  <a:srgbClr val="071E3A"/>
                </a:solidFill>
                <a:latin typeface="Aptos"/>
                <a:ea typeface="Aptos"/>
                <a:cs typeface="Aptos"/>
              </a:rPr>
              <a:t>What to show the team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51560" y="5120640"/>
            <a:ext cx="4480560" cy="47548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"/>
              </a:spcAft>
            </a:pPr>
            <a:r>
              <a:rPr sz="800">
                <a:solidFill>
                  <a:srgbClr val="5B6878"/>
                </a:solidFill>
                <a:latin typeface="Aptos"/>
                <a:ea typeface="Aptos"/>
                <a:cs typeface="Aptos"/>
              </a:rPr>
              <a:t>Import two related tables from a schema, open the ER graph, then generate to JSON or a test DB with the same seed.</a:t>
            </a:r>
          </a:p>
        </p:txBody>
      </p:sp>
      <p:sp>
        <p:nvSpPr>
          <p:cNvPr id="29" name="Shape 29"/>
          <p:cNvSpPr/>
          <p:nvPr/>
        </p:nvSpPr>
        <p:spPr>
          <a:xfrm>
            <a:off x="6126480" y="4617720"/>
            <a:ext cx="4846320" cy="1005840"/>
          </a:xfrm>
          <a:prstGeom prst="roundRect">
            <a:avLst/>
          </a:prstGeom>
          <a:solidFill>
            <a:srgbClr val="F1EFFF"/>
          </a:solidFill>
          <a:ln w="9525">
            <a:solidFill>
              <a:srgbClr val="DCE4ED"/>
            </a:solidFill>
          </a:ln>
          <a:effectLst/>
        </p:spPr>
        <p:txBody>
          <a:bodyPr/>
          <a:lstStyle/>
          <a:p/>
        </p:txBody>
      </p:sp>
      <p:sp>
        <p:nvSpPr>
          <p:cNvPr id="30" name="TextBox 30"/>
          <p:cNvSpPr txBox="1"/>
          <p:nvPr/>
        </p:nvSpPr>
        <p:spPr>
          <a:xfrm>
            <a:off x="6309360" y="4754880"/>
            <a:ext cx="4462272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60"/>
              </a:spcAft>
            </a:pPr>
            <a:r>
              <a:rPr sz="1200" b="1">
                <a:solidFill>
                  <a:srgbClr val="071E3A"/>
                </a:solidFill>
                <a:latin typeface="Aptos"/>
                <a:ea typeface="Aptos"/>
                <a:cs typeface="Aptos"/>
              </a:rPr>
              <a:t>Where to extend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309360" y="5120640"/>
            <a:ext cx="4480560" cy="47548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"/>
              </a:spcAft>
            </a:pPr>
            <a:r>
              <a:rPr sz="800">
                <a:solidFill>
                  <a:srgbClr val="5B6878"/>
                </a:solidFill>
                <a:latin typeface="Aptos"/>
                <a:ea typeface="Aptos"/>
                <a:cs typeface="Aptos"/>
              </a:rPr>
              <a:t>Add generator specs in core.synth.Generators, then confirm type compatibility in synth-wizard.js.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02920" y="6446520"/>
            <a:ext cx="521208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60"/>
              </a:spcAft>
            </a:pPr>
            <a:r>
              <a:rPr sz="800">
                <a:solidFill>
                  <a:srgbClr val="5B6878"/>
                </a:solidFill>
                <a:latin typeface="Aptos"/>
                <a:ea typeface="Aptos"/>
                <a:cs typeface="Aptos"/>
              </a:rPr>
              <a:t>ForgeTDM team walkthrough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109960" y="6446520"/>
            <a:ext cx="4572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160"/>
              </a:spcAft>
            </a:pPr>
            <a:r>
              <a:rPr sz="800">
                <a:solidFill>
                  <a:srgbClr val="5B6878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3" name="TextBox 3"/>
          <p:cNvSpPr txBox="1"/>
          <p:nvPr/>
        </p:nvSpPr>
        <p:spPr>
          <a:xfrm>
            <a:off x="502920" y="310896"/>
            <a:ext cx="402336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60"/>
              </a:spcAft>
            </a:pPr>
            <a:r>
              <a:rPr sz="1000" b="1">
                <a:solidFill>
                  <a:srgbClr val="1D6FB8"/>
                </a:solidFill>
                <a:latin typeface="Aptos"/>
                <a:ea typeface="Aptos"/>
                <a:cs typeface="Aptos"/>
              </a:rPr>
              <a:t>FLOW 5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02920" y="566928"/>
            <a:ext cx="94183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"/>
              </a:spcAft>
            </a:pPr>
            <a:r>
              <a:rPr sz="2600" b="1">
                <a:solidFill>
                  <a:srgbClr val="071E3A"/>
                </a:solidFill>
                <a:latin typeface="Cambria"/>
                <a:ea typeface="Cambria"/>
                <a:cs typeface="Cambria"/>
              </a:rPr>
              <a:t>Copybook and mainframe file handling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972800" y="621792"/>
            <a:ext cx="5943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70"/>
              </a:spcAft>
            </a:pPr>
            <a:r>
              <a:rPr sz="1200" b="1">
                <a:solidFill>
                  <a:srgbClr val="1D6FB8"/>
                </a:solidFill>
                <a:latin typeface="Cambria"/>
                <a:ea typeface="Cambria"/>
                <a:cs typeface="Cambria"/>
              </a:rPr>
              <a:t>10</a:t>
            </a:r>
          </a:p>
        </p:txBody>
      </p:sp>
      <p:sp>
        <p:nvSpPr>
          <p:cNvPr id="6" name="Shape 6"/>
          <p:cNvSpPr/>
          <p:nvPr/>
        </p:nvSpPr>
        <p:spPr>
          <a:xfrm>
            <a:off x="502920" y="1124712"/>
            <a:ext cx="11155680" cy="20117"/>
          </a:xfrm>
          <a:prstGeom prst="rect">
            <a:avLst/>
          </a:prstGeom>
          <a:solidFill>
            <a:srgbClr val="DCE4ED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7" name="Shape 7"/>
          <p:cNvSpPr/>
          <p:nvPr/>
        </p:nvSpPr>
        <p:spPr>
          <a:xfrm>
            <a:off x="685800" y="1508760"/>
            <a:ext cx="2514600" cy="1325880"/>
          </a:xfrm>
          <a:prstGeom prst="roundRect">
            <a:avLst/>
          </a:prstGeom>
          <a:solidFill>
            <a:srgbClr val="F4F8FF"/>
          </a:solidFill>
          <a:ln w="9525">
            <a:solidFill>
              <a:srgbClr val="DCE4ED"/>
            </a:solidFill>
          </a:ln>
          <a:effectLst/>
        </p:spPr>
        <p:txBody>
          <a:bodyPr/>
          <a:lstStyle/>
          <a:p/>
        </p:txBody>
      </p:sp>
      <p:sp>
        <p:nvSpPr>
          <p:cNvPr id="8" name="Shape 8"/>
          <p:cNvSpPr/>
          <p:nvPr/>
        </p:nvSpPr>
        <p:spPr>
          <a:xfrm>
            <a:off x="850392" y="1655064"/>
            <a:ext cx="475488" cy="256032"/>
          </a:xfrm>
          <a:prstGeom prst="roundRect">
            <a:avLst/>
          </a:prstGeom>
          <a:solidFill>
            <a:srgbClr val="1D6FB8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9" name="TextBox 9"/>
          <p:cNvSpPr txBox="1"/>
          <p:nvPr/>
        </p:nvSpPr>
        <p:spPr>
          <a:xfrm>
            <a:off x="850392" y="1673352"/>
            <a:ext cx="475488" cy="146304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30"/>
              </a:spcAft>
            </a:pPr>
            <a:r>
              <a:rPr sz="7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35608" y="1645920"/>
            <a:ext cx="2130552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60"/>
              </a:spcAft>
            </a:pPr>
            <a:r>
              <a:rPr sz="1200" b="1">
                <a:solidFill>
                  <a:srgbClr val="071E3A"/>
                </a:solidFill>
                <a:latin typeface="Aptos"/>
                <a:ea typeface="Aptos"/>
                <a:cs typeface="Aptos"/>
              </a:rPr>
              <a:t>Copybook parse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68680" y="2011680"/>
            <a:ext cx="2148840" cy="79552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"/>
              </a:spcAft>
            </a:pPr>
            <a:r>
              <a:rPr sz="800">
                <a:solidFill>
                  <a:srgbClr val="5B6878"/>
                </a:solidFill>
                <a:latin typeface="Aptos"/>
                <a:ea typeface="Aptos"/>
                <a:cs typeface="Aptos"/>
              </a:rPr>
              <a:t>CopybookParser builds field tree and LayoutComputer resolves byte offsets and usage.</a:t>
            </a:r>
          </a:p>
        </p:txBody>
      </p:sp>
      <p:sp>
        <p:nvSpPr>
          <p:cNvPr id="12" name="Shape 12"/>
          <p:cNvSpPr/>
          <p:nvPr/>
        </p:nvSpPr>
        <p:spPr>
          <a:xfrm>
            <a:off x="3429000" y="1508760"/>
            <a:ext cx="2514600" cy="1325880"/>
          </a:xfrm>
          <a:prstGeom prst="roundRect">
            <a:avLst/>
          </a:prstGeom>
          <a:solidFill>
            <a:srgbClr val="EAF7EF"/>
          </a:solidFill>
          <a:ln w="9525">
            <a:solidFill>
              <a:srgbClr val="DCE4ED"/>
            </a:solidFill>
          </a:ln>
          <a:effectLst/>
        </p:spPr>
        <p:txBody>
          <a:bodyPr/>
          <a:lstStyle/>
          <a:p/>
        </p:txBody>
      </p:sp>
      <p:sp>
        <p:nvSpPr>
          <p:cNvPr id="13" name="Shape 13"/>
          <p:cNvSpPr/>
          <p:nvPr/>
        </p:nvSpPr>
        <p:spPr>
          <a:xfrm>
            <a:off x="3593592" y="1655064"/>
            <a:ext cx="475488" cy="256032"/>
          </a:xfrm>
          <a:prstGeom prst="roundRect">
            <a:avLst/>
          </a:prstGeom>
          <a:solidFill>
            <a:srgbClr val="2F7D59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14" name="TextBox 14"/>
          <p:cNvSpPr txBox="1"/>
          <p:nvPr/>
        </p:nvSpPr>
        <p:spPr>
          <a:xfrm>
            <a:off x="3593592" y="1673352"/>
            <a:ext cx="475488" cy="146304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30"/>
              </a:spcAft>
            </a:pPr>
            <a:r>
              <a:rPr sz="7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178808" y="1645920"/>
            <a:ext cx="2130552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60"/>
              </a:spcAft>
            </a:pPr>
            <a:r>
              <a:rPr sz="1200" b="1">
                <a:solidFill>
                  <a:srgbClr val="071E3A"/>
                </a:solidFill>
                <a:latin typeface="Aptos"/>
                <a:ea typeface="Aptos"/>
                <a:cs typeface="Aptos"/>
              </a:rPr>
              <a:t>Decode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611880" y="2011680"/>
            <a:ext cx="2148840" cy="79552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"/>
              </a:spcAft>
            </a:pPr>
            <a:r>
              <a:rPr sz="800">
                <a:solidFill>
                  <a:srgbClr val="5B6878"/>
                </a:solidFill>
                <a:latin typeface="Aptos"/>
                <a:ea typeface="Aptos"/>
                <a:cs typeface="Aptos"/>
              </a:rPr>
              <a:t>RecordCodec reads EBCDIC, packed decimal, zoned decimal and binary integer fields.</a:t>
            </a:r>
          </a:p>
        </p:txBody>
      </p:sp>
      <p:sp>
        <p:nvSpPr>
          <p:cNvPr id="17" name="Shape 17"/>
          <p:cNvSpPr/>
          <p:nvPr/>
        </p:nvSpPr>
        <p:spPr>
          <a:xfrm>
            <a:off x="6172200" y="1508760"/>
            <a:ext cx="2514600" cy="1325880"/>
          </a:xfrm>
          <a:prstGeom prst="roundRect">
            <a:avLst/>
          </a:prstGeom>
          <a:solidFill>
            <a:srgbClr val="F1EFFF"/>
          </a:solidFill>
          <a:ln w="9525">
            <a:solidFill>
              <a:srgbClr val="DCE4ED"/>
            </a:solidFill>
          </a:ln>
          <a:effectLst/>
        </p:spPr>
        <p:txBody>
          <a:bodyPr/>
          <a:lstStyle/>
          <a:p/>
        </p:txBody>
      </p:sp>
      <p:sp>
        <p:nvSpPr>
          <p:cNvPr id="18" name="Shape 18"/>
          <p:cNvSpPr/>
          <p:nvPr/>
        </p:nvSpPr>
        <p:spPr>
          <a:xfrm>
            <a:off x="6336792" y="1655064"/>
            <a:ext cx="475488" cy="256032"/>
          </a:xfrm>
          <a:prstGeom prst="roundRect">
            <a:avLst/>
          </a:prstGeom>
          <a:solidFill>
            <a:srgbClr val="5146A6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19" name="TextBox 19"/>
          <p:cNvSpPr txBox="1"/>
          <p:nvPr/>
        </p:nvSpPr>
        <p:spPr>
          <a:xfrm>
            <a:off x="6336792" y="1673352"/>
            <a:ext cx="475488" cy="146304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30"/>
              </a:spcAft>
            </a:pPr>
            <a:r>
              <a:rPr sz="7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922008" y="1645920"/>
            <a:ext cx="2130552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60"/>
              </a:spcAft>
            </a:pPr>
            <a:r>
              <a:rPr sz="1200" b="1">
                <a:solidFill>
                  <a:srgbClr val="071E3A"/>
                </a:solidFill>
                <a:latin typeface="Aptos"/>
                <a:ea typeface="Aptos"/>
                <a:cs typeface="Aptos"/>
              </a:rPr>
              <a:t>Mask overlay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355080" y="2011680"/>
            <a:ext cx="2148840" cy="79552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"/>
              </a:spcAft>
            </a:pPr>
            <a:r>
              <a:rPr sz="800">
                <a:solidFill>
                  <a:srgbClr val="5B6878"/>
                </a:solidFill>
                <a:latin typeface="Aptos"/>
                <a:ea typeface="Aptos"/>
                <a:cs typeface="Aptos"/>
              </a:rPr>
              <a:t>Mask selected field values, encode them back into original byte positions.</a:t>
            </a:r>
          </a:p>
        </p:txBody>
      </p:sp>
      <p:sp>
        <p:nvSpPr>
          <p:cNvPr id="22" name="Shape 22"/>
          <p:cNvSpPr/>
          <p:nvPr/>
        </p:nvSpPr>
        <p:spPr>
          <a:xfrm>
            <a:off x="8915400" y="1508760"/>
            <a:ext cx="2514600" cy="1325880"/>
          </a:xfrm>
          <a:prstGeom prst="roundRect">
            <a:avLst/>
          </a:prstGeom>
          <a:solidFill>
            <a:srgbClr val="FFF4E6"/>
          </a:solidFill>
          <a:ln w="9525">
            <a:solidFill>
              <a:srgbClr val="DCE4ED"/>
            </a:solidFill>
          </a:ln>
          <a:effectLst/>
        </p:spPr>
        <p:txBody>
          <a:bodyPr/>
          <a:lstStyle/>
          <a:p/>
        </p:txBody>
      </p:sp>
      <p:sp>
        <p:nvSpPr>
          <p:cNvPr id="23" name="Shape 23"/>
          <p:cNvSpPr/>
          <p:nvPr/>
        </p:nvSpPr>
        <p:spPr>
          <a:xfrm>
            <a:off x="9079992" y="1655064"/>
            <a:ext cx="475488" cy="256032"/>
          </a:xfrm>
          <a:prstGeom prst="roundRect">
            <a:avLst/>
          </a:prstGeom>
          <a:solidFill>
            <a:srgbClr val="B45309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24" name="TextBox 24"/>
          <p:cNvSpPr txBox="1"/>
          <p:nvPr/>
        </p:nvSpPr>
        <p:spPr>
          <a:xfrm>
            <a:off x="9079992" y="1673352"/>
            <a:ext cx="475488" cy="146304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30"/>
              </a:spcAft>
            </a:pPr>
            <a:r>
              <a:rPr sz="7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665208" y="1645920"/>
            <a:ext cx="2130552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60"/>
              </a:spcAft>
            </a:pPr>
            <a:r>
              <a:rPr sz="1200" b="1">
                <a:solidFill>
                  <a:srgbClr val="071E3A"/>
                </a:solidFill>
                <a:latin typeface="Aptos"/>
                <a:ea typeface="Aptos"/>
                <a:cs typeface="Aptos"/>
              </a:rPr>
              <a:t>Transport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098280" y="2011680"/>
            <a:ext cx="2148840" cy="79552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"/>
              </a:spcAft>
            </a:pPr>
            <a:r>
              <a:rPr sz="800">
                <a:solidFill>
                  <a:srgbClr val="5B6878"/>
                </a:solidFill>
                <a:latin typeface="Aptos"/>
                <a:ea typeface="Aptos"/>
                <a:cs typeface="Aptos"/>
              </a:rPr>
              <a:t>Local folder or Zowe transport reads/writes datasets for jobs.</a:t>
            </a:r>
          </a:p>
        </p:txBody>
      </p:sp>
      <p:sp>
        <p:nvSpPr>
          <p:cNvPr id="27" name="Shape 27"/>
          <p:cNvSpPr/>
          <p:nvPr/>
        </p:nvSpPr>
        <p:spPr>
          <a:xfrm>
            <a:off x="868680" y="3703320"/>
            <a:ext cx="10195560" cy="1097280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28" name="TextBox 28"/>
          <p:cNvSpPr txBox="1"/>
          <p:nvPr/>
        </p:nvSpPr>
        <p:spPr>
          <a:xfrm>
            <a:off x="1097280" y="3931920"/>
            <a:ext cx="973836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60"/>
              </a:spcAft>
            </a:pPr>
            <a:r>
              <a:rPr sz="1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Mainframe rule for the team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097280" y="4315968"/>
            <a:ext cx="96926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60"/>
              </a:spcAft>
            </a:pPr>
            <a:r>
              <a:rPr sz="1100">
                <a:solidFill>
                  <a:srgbClr val="CBDEF6"/>
                </a:solidFill>
                <a:latin typeface="Aptos"/>
                <a:ea typeface="Aptos"/>
                <a:cs typeface="Aptos"/>
              </a:rPr>
              <a:t>Never treat a mainframe record like CSV. The copybook is the contract: field width, encoding, packed decimals and byte positions must be preserved.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502920" y="6446520"/>
            <a:ext cx="521208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60"/>
              </a:spcAft>
            </a:pPr>
            <a:r>
              <a:rPr sz="800">
                <a:solidFill>
                  <a:srgbClr val="5B6878"/>
                </a:solidFill>
                <a:latin typeface="Aptos"/>
                <a:ea typeface="Aptos"/>
                <a:cs typeface="Aptos"/>
              </a:rPr>
              <a:t>ForgeTDM team walkthrough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109960" y="6446520"/>
            <a:ext cx="4572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160"/>
              </a:spcAft>
            </a:pPr>
            <a:r>
              <a:rPr sz="800">
                <a:solidFill>
                  <a:srgbClr val="5B6878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3" name="TextBox 3"/>
          <p:cNvSpPr txBox="1"/>
          <p:nvPr/>
        </p:nvSpPr>
        <p:spPr>
          <a:xfrm>
            <a:off x="502920" y="310896"/>
            <a:ext cx="402336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60"/>
              </a:spcAft>
            </a:pPr>
            <a:r>
              <a:rPr sz="1000" b="1">
                <a:solidFill>
                  <a:srgbClr val="1D6FB8"/>
                </a:solidFill>
                <a:latin typeface="Aptos"/>
                <a:ea typeface="Aptos"/>
                <a:cs typeface="Aptos"/>
              </a:rPr>
              <a:t>FLOW 6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02920" y="566928"/>
            <a:ext cx="94183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"/>
              </a:spcAft>
            </a:pPr>
            <a:r>
              <a:rPr sz="2600" b="1">
                <a:solidFill>
                  <a:srgbClr val="071E3A"/>
                </a:solidFill>
                <a:latin typeface="Cambria"/>
                <a:ea typeface="Cambria"/>
                <a:cs typeface="Cambria"/>
              </a:rPr>
              <a:t>Virtualization and snapshots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972800" y="621792"/>
            <a:ext cx="5943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70"/>
              </a:spcAft>
            </a:pPr>
            <a:r>
              <a:rPr sz="1200" b="1">
                <a:solidFill>
                  <a:srgbClr val="1D6FB8"/>
                </a:solidFill>
                <a:latin typeface="Cambria"/>
                <a:ea typeface="Cambria"/>
                <a:cs typeface="Cambria"/>
              </a:rPr>
              <a:t>11</a:t>
            </a:r>
          </a:p>
        </p:txBody>
      </p:sp>
      <p:sp>
        <p:nvSpPr>
          <p:cNvPr id="6" name="Shape 6"/>
          <p:cNvSpPr/>
          <p:nvPr/>
        </p:nvSpPr>
        <p:spPr>
          <a:xfrm>
            <a:off x="502920" y="1124712"/>
            <a:ext cx="11155680" cy="20117"/>
          </a:xfrm>
          <a:prstGeom prst="rect">
            <a:avLst/>
          </a:prstGeom>
          <a:solidFill>
            <a:srgbClr val="DCE4ED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7" name="Shape 7"/>
          <p:cNvSpPr/>
          <p:nvPr/>
        </p:nvSpPr>
        <p:spPr>
          <a:xfrm>
            <a:off x="685800" y="1828800"/>
            <a:ext cx="502920" cy="502920"/>
          </a:xfrm>
          <a:prstGeom prst="ellipse">
            <a:avLst/>
          </a:prstGeom>
          <a:solidFill>
            <a:srgbClr val="1D6FB8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8" name="TextBox 8"/>
          <p:cNvSpPr txBox="1"/>
          <p:nvPr/>
        </p:nvSpPr>
        <p:spPr>
          <a:xfrm>
            <a:off x="685800" y="1856232"/>
            <a:ext cx="5029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"/>
              </a:spcAft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7160" y="2514600"/>
            <a:ext cx="1600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160"/>
              </a:spcAft>
            </a:pPr>
            <a:r>
              <a:rPr sz="1100" b="1">
                <a:solidFill>
                  <a:srgbClr val="071E3A"/>
                </a:solidFill>
                <a:latin typeface="Aptos"/>
                <a:ea typeface="Aptos"/>
                <a:cs typeface="Aptos"/>
              </a:rPr>
              <a:t>dSource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-45720" y="2788920"/>
            <a:ext cx="196596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160"/>
              </a:spcAft>
            </a:pPr>
            <a:r>
              <a:rPr sz="800">
                <a:solidFill>
                  <a:srgbClr val="5B6878"/>
                </a:solidFill>
                <a:latin typeface="Aptos"/>
                <a:ea typeface="Aptos"/>
                <a:cs typeface="Aptos"/>
              </a:rPr>
              <a:t>Registered source database that can be captured.</a:t>
            </a:r>
          </a:p>
        </p:txBody>
      </p:sp>
      <p:sp>
        <p:nvSpPr>
          <p:cNvPr id="11" name="Shape 11"/>
          <p:cNvSpPr/>
          <p:nvPr/>
        </p:nvSpPr>
        <p:spPr>
          <a:xfrm>
            <a:off x="1216152" y="2057400"/>
            <a:ext cx="1234440" cy="27432"/>
          </a:xfrm>
          <a:prstGeom prst="rect">
            <a:avLst/>
          </a:prstGeom>
          <a:solidFill>
            <a:srgbClr val="DCE4ED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2898648" y="1828800"/>
            <a:ext cx="502920" cy="502920"/>
          </a:xfrm>
          <a:prstGeom prst="ellipse">
            <a:avLst/>
          </a:prstGeom>
          <a:solidFill>
            <a:srgbClr val="2F7D59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13" name="TextBox 13"/>
          <p:cNvSpPr txBox="1"/>
          <p:nvPr/>
        </p:nvSpPr>
        <p:spPr>
          <a:xfrm>
            <a:off x="2898648" y="1856232"/>
            <a:ext cx="5029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"/>
              </a:spcAft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350008" y="2514600"/>
            <a:ext cx="1600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160"/>
              </a:spcAft>
            </a:pPr>
            <a:r>
              <a:rPr sz="1100" b="1">
                <a:solidFill>
                  <a:srgbClr val="071E3A"/>
                </a:solidFill>
                <a:latin typeface="Aptos"/>
                <a:ea typeface="Aptos"/>
                <a:cs typeface="Aptos"/>
              </a:rPr>
              <a:t>Snapshot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167128" y="2788920"/>
            <a:ext cx="196596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160"/>
              </a:spcAft>
            </a:pPr>
            <a:r>
              <a:rPr sz="800">
                <a:solidFill>
                  <a:srgbClr val="5B6878"/>
                </a:solidFill>
                <a:latin typeface="Aptos"/>
                <a:ea typeface="Aptos"/>
                <a:cs typeface="Aptos"/>
              </a:rPr>
              <a:t>Point-in-time metadata plus changed data chunks or provider snapshot.</a:t>
            </a:r>
          </a:p>
        </p:txBody>
      </p:sp>
      <p:sp>
        <p:nvSpPr>
          <p:cNvPr id="16" name="Shape 16"/>
          <p:cNvSpPr/>
          <p:nvPr/>
        </p:nvSpPr>
        <p:spPr>
          <a:xfrm>
            <a:off x="3429000" y="2057400"/>
            <a:ext cx="1234440" cy="27432"/>
          </a:xfrm>
          <a:prstGeom prst="rect">
            <a:avLst/>
          </a:prstGeom>
          <a:solidFill>
            <a:srgbClr val="DCE4ED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17" name="Shape 17"/>
          <p:cNvSpPr/>
          <p:nvPr/>
        </p:nvSpPr>
        <p:spPr>
          <a:xfrm>
            <a:off x="5111496" y="1828800"/>
            <a:ext cx="502920" cy="502920"/>
          </a:xfrm>
          <a:prstGeom prst="ellipse">
            <a:avLst/>
          </a:prstGeom>
          <a:solidFill>
            <a:srgbClr val="1D6FB8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18" name="TextBox 18"/>
          <p:cNvSpPr txBox="1"/>
          <p:nvPr/>
        </p:nvSpPr>
        <p:spPr>
          <a:xfrm>
            <a:off x="5111496" y="1856232"/>
            <a:ext cx="5029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"/>
              </a:spcAft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562856" y="2514600"/>
            <a:ext cx="1600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160"/>
              </a:spcAft>
            </a:pPr>
            <a:r>
              <a:rPr sz="1100" b="1">
                <a:solidFill>
                  <a:srgbClr val="071E3A"/>
                </a:solidFill>
                <a:latin typeface="Aptos"/>
                <a:ea typeface="Aptos"/>
                <a:cs typeface="Aptos"/>
              </a:rPr>
              <a:t>TimeFlow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379976" y="2788920"/>
            <a:ext cx="196596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160"/>
              </a:spcAft>
            </a:pPr>
            <a:r>
              <a:rPr sz="800">
                <a:solidFill>
                  <a:srgbClr val="5B6878"/>
                </a:solidFill>
                <a:latin typeface="Aptos"/>
                <a:ea typeface="Aptos"/>
                <a:cs typeface="Aptos"/>
              </a:rPr>
              <a:t>Lineage of dSource and VDB snapshots.</a:t>
            </a:r>
          </a:p>
        </p:txBody>
      </p:sp>
      <p:sp>
        <p:nvSpPr>
          <p:cNvPr id="21" name="Shape 21"/>
          <p:cNvSpPr/>
          <p:nvPr/>
        </p:nvSpPr>
        <p:spPr>
          <a:xfrm>
            <a:off x="5641848" y="2057400"/>
            <a:ext cx="1234440" cy="27432"/>
          </a:xfrm>
          <a:prstGeom prst="rect">
            <a:avLst/>
          </a:prstGeom>
          <a:solidFill>
            <a:srgbClr val="DCE4ED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22" name="Shape 22"/>
          <p:cNvSpPr/>
          <p:nvPr/>
        </p:nvSpPr>
        <p:spPr>
          <a:xfrm>
            <a:off x="7324344" y="1828800"/>
            <a:ext cx="502920" cy="502920"/>
          </a:xfrm>
          <a:prstGeom prst="ellipse">
            <a:avLst/>
          </a:prstGeom>
          <a:solidFill>
            <a:srgbClr val="2F7D59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23" name="TextBox 23"/>
          <p:cNvSpPr txBox="1"/>
          <p:nvPr/>
        </p:nvSpPr>
        <p:spPr>
          <a:xfrm>
            <a:off x="7324344" y="1856232"/>
            <a:ext cx="5029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"/>
              </a:spcAft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775704" y="2514600"/>
            <a:ext cx="1600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160"/>
              </a:spcAft>
            </a:pPr>
            <a:r>
              <a:rPr sz="1100" b="1">
                <a:solidFill>
                  <a:srgbClr val="071E3A"/>
                </a:solidFill>
                <a:latin typeface="Aptos"/>
                <a:ea typeface="Aptos"/>
                <a:cs typeface="Aptos"/>
              </a:rPr>
              <a:t>VDB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592824" y="2788920"/>
            <a:ext cx="196596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160"/>
              </a:spcAft>
            </a:pPr>
            <a:r>
              <a:rPr sz="800">
                <a:solidFill>
                  <a:srgbClr val="5B6878"/>
                </a:solidFill>
                <a:latin typeface="Aptos"/>
                <a:ea typeface="Aptos"/>
                <a:cs typeface="Aptos"/>
              </a:rPr>
              <a:t>Writable virtual data source registered back into ForgeTDM.</a:t>
            </a:r>
          </a:p>
        </p:txBody>
      </p:sp>
      <p:sp>
        <p:nvSpPr>
          <p:cNvPr id="26" name="Shape 26"/>
          <p:cNvSpPr/>
          <p:nvPr/>
        </p:nvSpPr>
        <p:spPr>
          <a:xfrm>
            <a:off x="7854696" y="2057400"/>
            <a:ext cx="1234440" cy="27432"/>
          </a:xfrm>
          <a:prstGeom prst="rect">
            <a:avLst/>
          </a:prstGeom>
          <a:solidFill>
            <a:srgbClr val="DCE4ED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27" name="Shape 27"/>
          <p:cNvSpPr/>
          <p:nvPr/>
        </p:nvSpPr>
        <p:spPr>
          <a:xfrm>
            <a:off x="9537192" y="1828800"/>
            <a:ext cx="502920" cy="502920"/>
          </a:xfrm>
          <a:prstGeom prst="ellipse">
            <a:avLst/>
          </a:prstGeom>
          <a:solidFill>
            <a:srgbClr val="1D6FB8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28" name="TextBox 28"/>
          <p:cNvSpPr txBox="1"/>
          <p:nvPr/>
        </p:nvSpPr>
        <p:spPr>
          <a:xfrm>
            <a:off x="9537192" y="1856232"/>
            <a:ext cx="5029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"/>
              </a:spcAft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988552" y="2514600"/>
            <a:ext cx="1600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160"/>
              </a:spcAft>
            </a:pPr>
            <a:r>
              <a:rPr sz="1100" b="1">
                <a:solidFill>
                  <a:srgbClr val="071E3A"/>
                </a:solidFill>
                <a:latin typeface="Aptos"/>
                <a:ea typeface="Aptos"/>
                <a:cs typeface="Aptos"/>
              </a:rPr>
              <a:t>Ops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805672" y="2788920"/>
            <a:ext cx="196596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160"/>
              </a:spcAft>
            </a:pPr>
            <a:r>
              <a:rPr sz="800">
                <a:solidFill>
                  <a:srgbClr val="5B6878"/>
                </a:solidFill>
                <a:latin typeface="Aptos"/>
                <a:ea typeface="Aptos"/>
                <a:cs typeface="Aptos"/>
              </a:rPr>
              <a:t>Snapshot, bookmark, refresh, rewind, delete.</a:t>
            </a:r>
          </a:p>
        </p:txBody>
      </p:sp>
      <p:sp>
        <p:nvSpPr>
          <p:cNvPr id="31" name="Shape 31"/>
          <p:cNvSpPr/>
          <p:nvPr/>
        </p:nvSpPr>
        <p:spPr>
          <a:xfrm>
            <a:off x="822960" y="4617720"/>
            <a:ext cx="3246120" cy="1005840"/>
          </a:xfrm>
          <a:prstGeom prst="roundRect">
            <a:avLst/>
          </a:prstGeom>
          <a:solidFill>
            <a:srgbClr val="F4F8FF"/>
          </a:solidFill>
          <a:ln w="9525">
            <a:solidFill>
              <a:srgbClr val="DCE4ED"/>
            </a:solidFill>
          </a:ln>
          <a:effectLst/>
        </p:spPr>
        <p:txBody>
          <a:bodyPr/>
          <a:lstStyle/>
          <a:p/>
        </p:txBody>
      </p:sp>
      <p:sp>
        <p:nvSpPr>
          <p:cNvPr id="32" name="TextBox 32"/>
          <p:cNvSpPr txBox="1"/>
          <p:nvPr/>
        </p:nvSpPr>
        <p:spPr>
          <a:xfrm>
            <a:off x="1005840" y="4754880"/>
            <a:ext cx="2862072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60"/>
              </a:spcAft>
            </a:pPr>
            <a:r>
              <a:rPr sz="1200" b="1">
                <a:solidFill>
                  <a:srgbClr val="071E3A"/>
                </a:solidFill>
                <a:latin typeface="Aptos"/>
                <a:ea typeface="Aptos"/>
                <a:cs typeface="Aptos"/>
              </a:rPr>
              <a:t>POOL provider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005840" y="5120640"/>
            <a:ext cx="2880360" cy="47548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"/>
              </a:spcAft>
            </a:pPr>
            <a:r>
              <a:rPr sz="800">
                <a:solidFill>
                  <a:srgbClr val="5B6878"/>
                </a:solidFill>
                <a:latin typeface="Aptos"/>
                <a:ea typeface="Aptos"/>
                <a:cs typeface="Aptos"/>
              </a:rPr>
              <a:t>Logical chunk store: SHA-256 chunks, gzip, dedup and materialized VDBs.</a:t>
            </a:r>
          </a:p>
        </p:txBody>
      </p:sp>
      <p:sp>
        <p:nvSpPr>
          <p:cNvPr id="34" name="Shape 34"/>
          <p:cNvSpPr/>
          <p:nvPr/>
        </p:nvSpPr>
        <p:spPr>
          <a:xfrm>
            <a:off x="4434840" y="4617720"/>
            <a:ext cx="3246120" cy="1005840"/>
          </a:xfrm>
          <a:prstGeom prst="roundRect">
            <a:avLst/>
          </a:prstGeom>
          <a:solidFill>
            <a:srgbClr val="EAF7EF"/>
          </a:solidFill>
          <a:ln w="9525">
            <a:solidFill>
              <a:srgbClr val="DCE4ED"/>
            </a:solidFill>
          </a:ln>
          <a:effectLst/>
        </p:spPr>
        <p:txBody>
          <a:bodyPr/>
          <a:lstStyle/>
          <a:p/>
        </p:txBody>
      </p:sp>
      <p:sp>
        <p:nvSpPr>
          <p:cNvPr id="35" name="TextBox 35"/>
          <p:cNvSpPr txBox="1"/>
          <p:nvPr/>
        </p:nvSpPr>
        <p:spPr>
          <a:xfrm>
            <a:off x="4617720" y="4754880"/>
            <a:ext cx="2862072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60"/>
              </a:spcAft>
            </a:pPr>
            <a:r>
              <a:rPr sz="1200" b="1">
                <a:solidFill>
                  <a:srgbClr val="071E3A"/>
                </a:solidFill>
                <a:latin typeface="Aptos"/>
                <a:ea typeface="Aptos"/>
                <a:cs typeface="Aptos"/>
              </a:rPr>
              <a:t>Container/ZFS providers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4617720" y="5120640"/>
            <a:ext cx="2880360" cy="47548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"/>
              </a:spcAft>
            </a:pPr>
            <a:r>
              <a:rPr sz="800">
                <a:solidFill>
                  <a:srgbClr val="5B6878"/>
                </a:solidFill>
                <a:latin typeface="Aptos"/>
                <a:ea typeface="Aptos"/>
                <a:cs typeface="Aptos"/>
              </a:rPr>
              <a:t>Physical or block-level paths for fast thin clones and target environments.</a:t>
            </a:r>
          </a:p>
        </p:txBody>
      </p:sp>
      <p:sp>
        <p:nvSpPr>
          <p:cNvPr id="37" name="Shape 37"/>
          <p:cNvSpPr/>
          <p:nvPr/>
        </p:nvSpPr>
        <p:spPr>
          <a:xfrm>
            <a:off x="8046720" y="4617720"/>
            <a:ext cx="2834640" cy="1005840"/>
          </a:xfrm>
          <a:prstGeom prst="roundRect">
            <a:avLst/>
          </a:prstGeom>
          <a:solidFill>
            <a:srgbClr val="FFF4E6"/>
          </a:solidFill>
          <a:ln w="9525">
            <a:solidFill>
              <a:srgbClr val="DCE4ED"/>
            </a:solidFill>
          </a:ln>
          <a:effectLst/>
        </p:spPr>
        <p:txBody>
          <a:bodyPr/>
          <a:lstStyle/>
          <a:p/>
        </p:txBody>
      </p:sp>
      <p:sp>
        <p:nvSpPr>
          <p:cNvPr id="38" name="TextBox 38"/>
          <p:cNvSpPr txBox="1"/>
          <p:nvPr/>
        </p:nvSpPr>
        <p:spPr>
          <a:xfrm>
            <a:off x="8229600" y="4754880"/>
            <a:ext cx="2450592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60"/>
              </a:spcAft>
            </a:pPr>
            <a:r>
              <a:rPr sz="1200" b="1">
                <a:solidFill>
                  <a:srgbClr val="071E3A"/>
                </a:solidFill>
                <a:latin typeface="Aptos"/>
                <a:ea typeface="Aptos"/>
                <a:cs typeface="Aptos"/>
              </a:rPr>
              <a:t>LogSync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8229600" y="5120640"/>
            <a:ext cx="2468880" cy="47548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"/>
              </a:spcAft>
            </a:pPr>
            <a:r>
              <a:rPr sz="800">
                <a:solidFill>
                  <a:srgbClr val="5B6878"/>
                </a:solidFill>
                <a:latin typeface="Aptos"/>
                <a:ea typeface="Aptos"/>
                <a:cs typeface="Aptos"/>
              </a:rPr>
              <a:t>Postgres WAL streaming for point-in-time provisioning on ZFS.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502920" y="6446520"/>
            <a:ext cx="521208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60"/>
              </a:spcAft>
            </a:pPr>
            <a:r>
              <a:rPr sz="800">
                <a:solidFill>
                  <a:srgbClr val="5B6878"/>
                </a:solidFill>
                <a:latin typeface="Aptos"/>
                <a:ea typeface="Aptos"/>
                <a:cs typeface="Aptos"/>
              </a:rPr>
              <a:t>ForgeTDM team walkthrough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1109960" y="6446520"/>
            <a:ext cx="4572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160"/>
              </a:spcAft>
            </a:pPr>
            <a:r>
              <a:rPr sz="800">
                <a:solidFill>
                  <a:srgbClr val="5B6878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3" name="TextBox 3"/>
          <p:cNvSpPr txBox="1"/>
          <p:nvPr/>
        </p:nvSpPr>
        <p:spPr>
          <a:xfrm>
            <a:off x="502920" y="310896"/>
            <a:ext cx="402336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60"/>
              </a:spcAft>
            </a:pPr>
            <a:r>
              <a:rPr sz="1000" b="1">
                <a:solidFill>
                  <a:srgbClr val="1D6FB8"/>
                </a:solidFill>
                <a:latin typeface="Aptos"/>
                <a:ea typeface="Aptos"/>
                <a:cs typeface="Aptos"/>
              </a:rPr>
              <a:t>GOVERNANCE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02920" y="566928"/>
            <a:ext cx="94183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"/>
              </a:spcAft>
            </a:pPr>
            <a:r>
              <a:rPr sz="2600" b="1">
                <a:solidFill>
                  <a:srgbClr val="071E3A"/>
                </a:solidFill>
                <a:latin typeface="Cambria"/>
                <a:ea typeface="Cambria"/>
                <a:cs typeface="Cambria"/>
              </a:rPr>
              <a:t>What happens after data is delivered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972800" y="621792"/>
            <a:ext cx="5943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70"/>
              </a:spcAft>
            </a:pPr>
            <a:r>
              <a:rPr sz="1200" b="1">
                <a:solidFill>
                  <a:srgbClr val="1D6FB8"/>
                </a:solidFill>
                <a:latin typeface="Cambria"/>
                <a:ea typeface="Cambria"/>
                <a:cs typeface="Cambria"/>
              </a:rPr>
              <a:t>12</a:t>
            </a:r>
          </a:p>
        </p:txBody>
      </p:sp>
      <p:sp>
        <p:nvSpPr>
          <p:cNvPr id="6" name="Shape 6"/>
          <p:cNvSpPr/>
          <p:nvPr/>
        </p:nvSpPr>
        <p:spPr>
          <a:xfrm>
            <a:off x="502920" y="1124712"/>
            <a:ext cx="11155680" cy="20117"/>
          </a:xfrm>
          <a:prstGeom prst="rect">
            <a:avLst/>
          </a:prstGeom>
          <a:solidFill>
            <a:srgbClr val="DCE4ED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7" name="Shape 7"/>
          <p:cNvSpPr/>
          <p:nvPr/>
        </p:nvSpPr>
        <p:spPr>
          <a:xfrm>
            <a:off x="685800" y="1554480"/>
            <a:ext cx="3337560" cy="1874520"/>
          </a:xfrm>
          <a:prstGeom prst="roundRect">
            <a:avLst/>
          </a:prstGeom>
          <a:solidFill>
            <a:srgbClr val="F4F8FF"/>
          </a:solidFill>
          <a:ln w="9525">
            <a:solidFill>
              <a:srgbClr val="DCE4ED"/>
            </a:solidFill>
          </a:ln>
          <a:effectLst/>
        </p:spPr>
        <p:txBody>
          <a:bodyPr/>
          <a:lstStyle/>
          <a:p/>
        </p:txBody>
      </p:sp>
      <p:sp>
        <p:nvSpPr>
          <p:cNvPr id="8" name="Shape 8"/>
          <p:cNvSpPr/>
          <p:nvPr/>
        </p:nvSpPr>
        <p:spPr>
          <a:xfrm>
            <a:off x="850392" y="1700784"/>
            <a:ext cx="475488" cy="256032"/>
          </a:xfrm>
          <a:prstGeom prst="roundRect">
            <a:avLst/>
          </a:prstGeom>
          <a:solidFill>
            <a:srgbClr val="1D6FB8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9" name="TextBox 9"/>
          <p:cNvSpPr txBox="1"/>
          <p:nvPr/>
        </p:nvSpPr>
        <p:spPr>
          <a:xfrm>
            <a:off x="850392" y="1719072"/>
            <a:ext cx="475488" cy="146304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30"/>
              </a:spcAft>
            </a:pPr>
            <a:r>
              <a:rPr sz="7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VAL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35608" y="1691640"/>
            <a:ext cx="2953512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60"/>
              </a:spcAft>
            </a:pPr>
            <a:r>
              <a:rPr sz="1200" b="1">
                <a:solidFill>
                  <a:srgbClr val="071E3A"/>
                </a:solidFill>
                <a:latin typeface="Aptos"/>
                <a:ea typeface="Aptos"/>
                <a:cs typeface="Aptos"/>
              </a:rPr>
              <a:t>Validation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68680" y="2057400"/>
            <a:ext cx="2971800" cy="13441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"/>
              </a:spcAft>
            </a:pPr>
            <a:r>
              <a:rPr sz="800">
                <a:solidFill>
                  <a:srgbClr val="5B6878"/>
                </a:solidFill>
                <a:latin typeface="Aptos"/>
                <a:ea typeface="Aptos"/>
                <a:cs typeface="Aptos"/>
              </a:rPr>
              <a:t>ValidationService compares source and target against policy expectations.</a:t>
            </a:r>
          </a:p>
          <a:p>
            <a:pPr algn="l">
              <a:spcAft>
                <a:spcPts val="90"/>
              </a:spcAft>
            </a:pPr>
            <a:r>
              <a:rPr sz="800">
                <a:solidFill>
                  <a:srgbClr val="5B6878"/>
                </a:solidFill>
                <a:latin typeface="Aptos"/>
                <a:ea typeface="Aptos"/>
                <a:cs typeface="Aptos"/>
              </a:rPr>
              <a:t>Checks include leak, format, RI and email domain evidence.</a:t>
            </a:r>
          </a:p>
        </p:txBody>
      </p:sp>
      <p:sp>
        <p:nvSpPr>
          <p:cNvPr id="12" name="Shape 12"/>
          <p:cNvSpPr/>
          <p:nvPr/>
        </p:nvSpPr>
        <p:spPr>
          <a:xfrm>
            <a:off x="4434840" y="1554480"/>
            <a:ext cx="3337560" cy="1874520"/>
          </a:xfrm>
          <a:prstGeom prst="roundRect">
            <a:avLst/>
          </a:prstGeom>
          <a:solidFill>
            <a:srgbClr val="EAF7EF"/>
          </a:solidFill>
          <a:ln w="9525">
            <a:solidFill>
              <a:srgbClr val="DCE4ED"/>
            </a:solidFill>
          </a:ln>
          <a:effectLst/>
        </p:spPr>
        <p:txBody>
          <a:bodyPr/>
          <a:lstStyle/>
          <a:p/>
        </p:txBody>
      </p:sp>
      <p:sp>
        <p:nvSpPr>
          <p:cNvPr id="13" name="Shape 13"/>
          <p:cNvSpPr/>
          <p:nvPr/>
        </p:nvSpPr>
        <p:spPr>
          <a:xfrm>
            <a:off x="4599432" y="1700784"/>
            <a:ext cx="475488" cy="256032"/>
          </a:xfrm>
          <a:prstGeom prst="roundRect">
            <a:avLst/>
          </a:prstGeom>
          <a:solidFill>
            <a:srgbClr val="2F7D59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14" name="TextBox 14"/>
          <p:cNvSpPr txBox="1"/>
          <p:nvPr/>
        </p:nvSpPr>
        <p:spPr>
          <a:xfrm>
            <a:off x="4599432" y="1719072"/>
            <a:ext cx="475488" cy="146304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30"/>
              </a:spcAft>
            </a:pPr>
            <a:r>
              <a:rPr sz="7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184648" y="1691640"/>
            <a:ext cx="2953512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60"/>
              </a:spcAft>
            </a:pPr>
            <a:r>
              <a:rPr sz="1200" b="1">
                <a:solidFill>
                  <a:srgbClr val="071E3A"/>
                </a:solidFill>
                <a:latin typeface="Aptos"/>
                <a:ea typeface="Aptos"/>
                <a:cs typeface="Aptos"/>
              </a:rPr>
              <a:t>Find and Reserve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617720" y="2057400"/>
            <a:ext cx="2971800" cy="13441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"/>
              </a:spcAft>
            </a:pPr>
            <a:r>
              <a:rPr sz="800">
                <a:solidFill>
                  <a:srgbClr val="5B6878"/>
                </a:solidFill>
                <a:latin typeface="Aptos"/>
                <a:ea typeface="Aptos"/>
                <a:cs typeface="Aptos"/>
              </a:rPr>
              <a:t>ReservationService selects matching rows and stores reserved keys with owner and TTL.</a:t>
            </a:r>
          </a:p>
          <a:p>
            <a:pPr algn="l">
              <a:spcAft>
                <a:spcPts val="90"/>
              </a:spcAft>
            </a:pPr>
            <a:r>
              <a:rPr sz="800">
                <a:solidFill>
                  <a:srgbClr val="5B6878"/>
                </a:solidFill>
                <a:latin typeface="Aptos"/>
                <a:ea typeface="Aptos"/>
                <a:cs typeface="Aptos"/>
              </a:rPr>
              <a:t>Useful for test teams avoiding conflicts.</a:t>
            </a:r>
          </a:p>
        </p:txBody>
      </p:sp>
      <p:sp>
        <p:nvSpPr>
          <p:cNvPr id="17" name="Shape 17"/>
          <p:cNvSpPr/>
          <p:nvPr/>
        </p:nvSpPr>
        <p:spPr>
          <a:xfrm>
            <a:off x="8183880" y="1554480"/>
            <a:ext cx="3063240" cy="1874520"/>
          </a:xfrm>
          <a:prstGeom prst="roundRect">
            <a:avLst/>
          </a:prstGeom>
          <a:solidFill>
            <a:srgbClr val="F1EFFF"/>
          </a:solidFill>
          <a:ln w="9525">
            <a:solidFill>
              <a:srgbClr val="DCE4ED"/>
            </a:solidFill>
          </a:ln>
          <a:effectLst/>
        </p:spPr>
        <p:txBody>
          <a:bodyPr/>
          <a:lstStyle/>
          <a:p/>
        </p:txBody>
      </p:sp>
      <p:sp>
        <p:nvSpPr>
          <p:cNvPr id="18" name="Shape 18"/>
          <p:cNvSpPr/>
          <p:nvPr/>
        </p:nvSpPr>
        <p:spPr>
          <a:xfrm>
            <a:off x="8348472" y="1700784"/>
            <a:ext cx="475488" cy="256032"/>
          </a:xfrm>
          <a:prstGeom prst="roundRect">
            <a:avLst/>
          </a:prstGeom>
          <a:solidFill>
            <a:srgbClr val="5146A6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19" name="TextBox 19"/>
          <p:cNvSpPr txBox="1"/>
          <p:nvPr/>
        </p:nvSpPr>
        <p:spPr>
          <a:xfrm>
            <a:off x="8348472" y="1719072"/>
            <a:ext cx="475488" cy="146304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30"/>
              </a:spcAft>
            </a:pPr>
            <a:r>
              <a:rPr sz="7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AUD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933688" y="1691640"/>
            <a:ext cx="2679192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60"/>
              </a:spcAft>
            </a:pPr>
            <a:r>
              <a:rPr sz="1200" b="1">
                <a:solidFill>
                  <a:srgbClr val="071E3A"/>
                </a:solidFill>
                <a:latin typeface="Aptos"/>
                <a:ea typeface="Aptos"/>
                <a:cs typeface="Aptos"/>
              </a:rPr>
              <a:t>Audit Trail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366760" y="2057400"/>
            <a:ext cx="2697480" cy="13441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"/>
              </a:spcAft>
            </a:pPr>
            <a:r>
              <a:rPr sz="800">
                <a:solidFill>
                  <a:srgbClr val="5B6878"/>
                </a:solidFill>
                <a:latin typeface="Aptos"/>
                <a:ea typeface="Aptos"/>
                <a:cs typeface="Aptos"/>
              </a:rPr>
              <a:t>AuditService records consequential actions.</a:t>
            </a:r>
          </a:p>
          <a:p>
            <a:pPr algn="l">
              <a:spcAft>
                <a:spcPts val="90"/>
              </a:spcAft>
            </a:pPr>
            <a:r>
              <a:rPr sz="800">
                <a:solidFill>
                  <a:srgbClr val="5B6878"/>
                </a:solidFill>
                <a:latin typeface="Aptos"/>
                <a:ea typeface="Aptos"/>
                <a:cs typeface="Aptos"/>
              </a:rPr>
              <a:t>Use it to explain who created sources, ran discovery, generated policy or launched jobs.</a:t>
            </a:r>
          </a:p>
        </p:txBody>
      </p:sp>
      <p:sp>
        <p:nvSpPr>
          <p:cNvPr id="22" name="Shape 22"/>
          <p:cNvSpPr/>
          <p:nvPr/>
        </p:nvSpPr>
        <p:spPr>
          <a:xfrm>
            <a:off x="960120" y="4251960"/>
            <a:ext cx="10012680" cy="960120"/>
          </a:xfrm>
          <a:prstGeom prst="roundRect">
            <a:avLst/>
          </a:prstGeom>
          <a:solidFill>
            <a:srgbClr val="071E3A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23" name="TextBox 23"/>
          <p:cNvSpPr txBox="1"/>
          <p:nvPr/>
        </p:nvSpPr>
        <p:spPr>
          <a:xfrm>
            <a:off x="1143000" y="4498848"/>
            <a:ext cx="96012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60"/>
              </a:spcAft>
            </a:pPr>
            <a:r>
              <a:rPr sz="13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Internal talking point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43000" y="4846320"/>
            <a:ext cx="96012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60"/>
              </a:spcAft>
            </a:pPr>
            <a:r>
              <a:rPr sz="1000">
                <a:solidFill>
                  <a:srgbClr val="CBDEF6"/>
                </a:solidFill>
                <a:latin typeface="Aptos"/>
                <a:ea typeface="Aptos"/>
                <a:cs typeface="Aptos"/>
              </a:rPr>
              <a:t>The workflow is not complete when data lands. The team should show validation and audit because those are what make the data usable and trusted.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02920" y="6446520"/>
            <a:ext cx="521208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60"/>
              </a:spcAft>
            </a:pPr>
            <a:r>
              <a:rPr sz="800">
                <a:solidFill>
                  <a:srgbClr val="5B6878"/>
                </a:solidFill>
                <a:latin typeface="Aptos"/>
                <a:ea typeface="Aptos"/>
                <a:cs typeface="Aptos"/>
              </a:rPr>
              <a:t>ForgeTDM team walkthrough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109960" y="6446520"/>
            <a:ext cx="4572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160"/>
              </a:spcAft>
            </a:pPr>
            <a:r>
              <a:rPr sz="800">
                <a:solidFill>
                  <a:srgbClr val="5B6878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3" name="TextBox 3"/>
          <p:cNvSpPr txBox="1"/>
          <p:nvPr/>
        </p:nvSpPr>
        <p:spPr>
          <a:xfrm>
            <a:off x="502920" y="310896"/>
            <a:ext cx="402336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60"/>
              </a:spcAft>
            </a:pPr>
            <a:r>
              <a:rPr sz="1000" b="1">
                <a:solidFill>
                  <a:srgbClr val="1D6FB8"/>
                </a:solidFill>
                <a:latin typeface="Aptos"/>
                <a:ea typeface="Aptos"/>
                <a:cs typeface="Aptos"/>
              </a:rPr>
              <a:t>BUILDING ON IT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02920" y="566928"/>
            <a:ext cx="94183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"/>
              </a:spcAft>
            </a:pPr>
            <a:r>
              <a:rPr sz="2600" b="1">
                <a:solidFill>
                  <a:srgbClr val="071E3A"/>
                </a:solidFill>
                <a:latin typeface="Cambria"/>
                <a:ea typeface="Cambria"/>
                <a:cs typeface="Cambria"/>
              </a:rPr>
              <a:t>How to add or change a capability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972800" y="621792"/>
            <a:ext cx="5943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70"/>
              </a:spcAft>
            </a:pPr>
            <a:r>
              <a:rPr sz="1200" b="1">
                <a:solidFill>
                  <a:srgbClr val="1D6FB8"/>
                </a:solidFill>
                <a:latin typeface="Cambria"/>
                <a:ea typeface="Cambria"/>
                <a:cs typeface="Cambria"/>
              </a:rPr>
              <a:t>13</a:t>
            </a:r>
          </a:p>
        </p:txBody>
      </p:sp>
      <p:sp>
        <p:nvSpPr>
          <p:cNvPr id="6" name="Shape 6"/>
          <p:cNvSpPr/>
          <p:nvPr/>
        </p:nvSpPr>
        <p:spPr>
          <a:xfrm>
            <a:off x="502920" y="1124712"/>
            <a:ext cx="11155680" cy="20117"/>
          </a:xfrm>
          <a:prstGeom prst="rect">
            <a:avLst/>
          </a:prstGeom>
          <a:solidFill>
            <a:srgbClr val="DCE4ED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7" name="Shape 7"/>
          <p:cNvSpPr/>
          <p:nvPr/>
        </p:nvSpPr>
        <p:spPr>
          <a:xfrm>
            <a:off x="685800" y="1508760"/>
            <a:ext cx="3337560" cy="1417320"/>
          </a:xfrm>
          <a:prstGeom prst="roundRect">
            <a:avLst/>
          </a:prstGeom>
          <a:solidFill>
            <a:srgbClr val="F4F8FF"/>
          </a:solidFill>
          <a:ln w="9525">
            <a:solidFill>
              <a:srgbClr val="DCE4ED"/>
            </a:solidFill>
          </a:ln>
          <a:effectLst/>
        </p:spPr>
        <p:txBody>
          <a:bodyPr/>
          <a:lstStyle/>
          <a:p/>
        </p:txBody>
      </p:sp>
      <p:sp>
        <p:nvSpPr>
          <p:cNvPr id="8" name="Shape 8"/>
          <p:cNvSpPr/>
          <p:nvPr/>
        </p:nvSpPr>
        <p:spPr>
          <a:xfrm>
            <a:off x="850392" y="1655064"/>
            <a:ext cx="475488" cy="256032"/>
          </a:xfrm>
          <a:prstGeom prst="roundRect">
            <a:avLst/>
          </a:prstGeom>
          <a:solidFill>
            <a:srgbClr val="1D6FB8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9" name="TextBox 9"/>
          <p:cNvSpPr txBox="1"/>
          <p:nvPr/>
        </p:nvSpPr>
        <p:spPr>
          <a:xfrm>
            <a:off x="850392" y="1673352"/>
            <a:ext cx="475488" cy="146304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30"/>
              </a:spcAft>
            </a:pPr>
            <a:r>
              <a:rPr sz="7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35608" y="1645920"/>
            <a:ext cx="2953512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60"/>
              </a:spcAft>
            </a:pPr>
            <a:r>
              <a:rPr sz="1200" b="1">
                <a:solidFill>
                  <a:srgbClr val="071E3A"/>
                </a:solidFill>
                <a:latin typeface="Aptos"/>
                <a:ea typeface="Aptos"/>
                <a:cs typeface="Aptos"/>
              </a:rPr>
              <a:t>Data model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68680" y="2011680"/>
            <a:ext cx="2971800" cy="8869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"/>
              </a:spcAft>
            </a:pPr>
            <a:r>
              <a:rPr sz="800">
                <a:solidFill>
                  <a:srgbClr val="5B6878"/>
                </a:solidFill>
                <a:latin typeface="Aptos"/>
                <a:ea typeface="Aptos"/>
                <a:cs typeface="Aptos"/>
              </a:rPr>
              <a:t>Add Flyway migration and entity/repository changes if metadata must persist.</a:t>
            </a:r>
          </a:p>
        </p:txBody>
      </p:sp>
      <p:sp>
        <p:nvSpPr>
          <p:cNvPr id="12" name="Shape 12"/>
          <p:cNvSpPr/>
          <p:nvPr/>
        </p:nvSpPr>
        <p:spPr>
          <a:xfrm>
            <a:off x="4389120" y="1508760"/>
            <a:ext cx="3337560" cy="1417320"/>
          </a:xfrm>
          <a:prstGeom prst="roundRect">
            <a:avLst/>
          </a:prstGeom>
          <a:solidFill>
            <a:srgbClr val="F4F8FF"/>
          </a:solidFill>
          <a:ln w="9525">
            <a:solidFill>
              <a:srgbClr val="DCE4ED"/>
            </a:solidFill>
          </a:ln>
          <a:effectLst/>
        </p:spPr>
        <p:txBody>
          <a:bodyPr/>
          <a:lstStyle/>
          <a:p/>
        </p:txBody>
      </p:sp>
      <p:sp>
        <p:nvSpPr>
          <p:cNvPr id="13" name="Shape 13"/>
          <p:cNvSpPr/>
          <p:nvPr/>
        </p:nvSpPr>
        <p:spPr>
          <a:xfrm>
            <a:off x="4553712" y="1655064"/>
            <a:ext cx="475488" cy="256032"/>
          </a:xfrm>
          <a:prstGeom prst="roundRect">
            <a:avLst/>
          </a:prstGeom>
          <a:solidFill>
            <a:srgbClr val="1D6FB8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14" name="TextBox 14"/>
          <p:cNvSpPr txBox="1"/>
          <p:nvPr/>
        </p:nvSpPr>
        <p:spPr>
          <a:xfrm>
            <a:off x="4553712" y="1673352"/>
            <a:ext cx="475488" cy="146304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30"/>
              </a:spcAft>
            </a:pPr>
            <a:r>
              <a:rPr sz="7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138928" y="1645920"/>
            <a:ext cx="2953512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60"/>
              </a:spcAft>
            </a:pPr>
            <a:r>
              <a:rPr sz="1200" b="1">
                <a:solidFill>
                  <a:srgbClr val="071E3A"/>
                </a:solidFill>
                <a:latin typeface="Aptos"/>
                <a:ea typeface="Aptos"/>
                <a:cs typeface="Aptos"/>
              </a:rPr>
              <a:t>Service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572000" y="2011680"/>
            <a:ext cx="2971800" cy="8869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"/>
              </a:spcAft>
            </a:pPr>
            <a:r>
              <a:rPr sz="800">
                <a:solidFill>
                  <a:srgbClr val="5B6878"/>
                </a:solidFill>
                <a:latin typeface="Aptos"/>
                <a:ea typeface="Aptos"/>
                <a:cs typeface="Aptos"/>
              </a:rPr>
              <a:t>Put business logic in the service layer, not directly in the controller.</a:t>
            </a:r>
          </a:p>
        </p:txBody>
      </p:sp>
      <p:sp>
        <p:nvSpPr>
          <p:cNvPr id="17" name="Shape 17"/>
          <p:cNvSpPr/>
          <p:nvPr/>
        </p:nvSpPr>
        <p:spPr>
          <a:xfrm>
            <a:off x="8092440" y="1508760"/>
            <a:ext cx="3337560" cy="1417320"/>
          </a:xfrm>
          <a:prstGeom prst="roundRect">
            <a:avLst/>
          </a:prstGeom>
          <a:solidFill>
            <a:srgbClr val="F4F8FF"/>
          </a:solidFill>
          <a:ln w="9525">
            <a:solidFill>
              <a:srgbClr val="DCE4ED"/>
            </a:solidFill>
          </a:ln>
          <a:effectLst/>
        </p:spPr>
        <p:txBody>
          <a:bodyPr/>
          <a:lstStyle/>
          <a:p/>
        </p:txBody>
      </p:sp>
      <p:sp>
        <p:nvSpPr>
          <p:cNvPr id="18" name="Shape 18"/>
          <p:cNvSpPr/>
          <p:nvPr/>
        </p:nvSpPr>
        <p:spPr>
          <a:xfrm>
            <a:off x="8257032" y="1655064"/>
            <a:ext cx="475488" cy="256032"/>
          </a:xfrm>
          <a:prstGeom prst="roundRect">
            <a:avLst/>
          </a:prstGeom>
          <a:solidFill>
            <a:srgbClr val="1D6FB8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19" name="TextBox 19"/>
          <p:cNvSpPr txBox="1"/>
          <p:nvPr/>
        </p:nvSpPr>
        <p:spPr>
          <a:xfrm>
            <a:off x="8257032" y="1673352"/>
            <a:ext cx="475488" cy="146304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30"/>
              </a:spcAft>
            </a:pPr>
            <a:r>
              <a:rPr sz="7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842248" y="1645920"/>
            <a:ext cx="2953512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60"/>
              </a:spcAft>
            </a:pPr>
            <a:r>
              <a:rPr sz="1200" b="1">
                <a:solidFill>
                  <a:srgbClr val="071E3A"/>
                </a:solidFill>
                <a:latin typeface="Aptos"/>
                <a:ea typeface="Aptos"/>
                <a:cs typeface="Aptos"/>
              </a:rPr>
              <a:t>API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275320" y="2011680"/>
            <a:ext cx="2971800" cy="8869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"/>
              </a:spcAft>
            </a:pPr>
            <a:r>
              <a:rPr sz="800">
                <a:solidFill>
                  <a:srgbClr val="5B6878"/>
                </a:solidFill>
                <a:latin typeface="Aptos"/>
                <a:ea typeface="Aptos"/>
                <a:cs typeface="Aptos"/>
              </a:rPr>
              <a:t>Expose focused endpoints; validate request shape and return useful errors.</a:t>
            </a:r>
          </a:p>
        </p:txBody>
      </p:sp>
      <p:sp>
        <p:nvSpPr>
          <p:cNvPr id="22" name="Shape 22"/>
          <p:cNvSpPr/>
          <p:nvPr/>
        </p:nvSpPr>
        <p:spPr>
          <a:xfrm>
            <a:off x="685800" y="3291840"/>
            <a:ext cx="333756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4ED"/>
            </a:solidFill>
          </a:ln>
          <a:effectLst/>
        </p:spPr>
        <p:txBody>
          <a:bodyPr/>
          <a:lstStyle/>
          <a:p/>
        </p:txBody>
      </p:sp>
      <p:sp>
        <p:nvSpPr>
          <p:cNvPr id="23" name="Shape 23"/>
          <p:cNvSpPr/>
          <p:nvPr/>
        </p:nvSpPr>
        <p:spPr>
          <a:xfrm>
            <a:off x="850392" y="3438144"/>
            <a:ext cx="475488" cy="256032"/>
          </a:xfrm>
          <a:prstGeom prst="roundRect">
            <a:avLst/>
          </a:prstGeom>
          <a:solidFill>
            <a:srgbClr val="1D6FB8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24" name="TextBox 24"/>
          <p:cNvSpPr txBox="1"/>
          <p:nvPr/>
        </p:nvSpPr>
        <p:spPr>
          <a:xfrm>
            <a:off x="850392" y="3456432"/>
            <a:ext cx="475488" cy="146304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30"/>
              </a:spcAft>
            </a:pPr>
            <a:r>
              <a:rPr sz="7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435608" y="3429000"/>
            <a:ext cx="2953512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60"/>
              </a:spcAft>
            </a:pPr>
            <a:r>
              <a:rPr sz="1200" b="1">
                <a:solidFill>
                  <a:srgbClr val="071E3A"/>
                </a:solidFill>
                <a:latin typeface="Aptos"/>
                <a:ea typeface="Aptos"/>
                <a:cs typeface="Aptos"/>
              </a:rPr>
              <a:t>UI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68680" y="3794760"/>
            <a:ext cx="2971800" cy="8869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"/>
              </a:spcAft>
            </a:pPr>
            <a:r>
              <a:rPr sz="800">
                <a:solidFill>
                  <a:srgbClr val="5B6878"/>
                </a:solidFill>
                <a:latin typeface="Aptos"/>
                <a:ea typeface="Aptos"/>
                <a:cs typeface="Aptos"/>
              </a:rPr>
              <a:t>Add controls in index/app/page JS and keep state refresh explicit.</a:t>
            </a:r>
          </a:p>
        </p:txBody>
      </p:sp>
      <p:sp>
        <p:nvSpPr>
          <p:cNvPr id="27" name="Shape 27"/>
          <p:cNvSpPr/>
          <p:nvPr/>
        </p:nvSpPr>
        <p:spPr>
          <a:xfrm>
            <a:off x="4389120" y="3291840"/>
            <a:ext cx="333756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4ED"/>
            </a:solidFill>
          </a:ln>
          <a:effectLst/>
        </p:spPr>
        <p:txBody>
          <a:bodyPr/>
          <a:lstStyle/>
          <a:p/>
        </p:txBody>
      </p:sp>
      <p:sp>
        <p:nvSpPr>
          <p:cNvPr id="28" name="Shape 28"/>
          <p:cNvSpPr/>
          <p:nvPr/>
        </p:nvSpPr>
        <p:spPr>
          <a:xfrm>
            <a:off x="4553712" y="3438144"/>
            <a:ext cx="475488" cy="256032"/>
          </a:xfrm>
          <a:prstGeom prst="roundRect">
            <a:avLst/>
          </a:prstGeom>
          <a:solidFill>
            <a:srgbClr val="1D6FB8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29" name="TextBox 29"/>
          <p:cNvSpPr txBox="1"/>
          <p:nvPr/>
        </p:nvSpPr>
        <p:spPr>
          <a:xfrm>
            <a:off x="4553712" y="3456432"/>
            <a:ext cx="475488" cy="146304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30"/>
              </a:spcAft>
            </a:pPr>
            <a:r>
              <a:rPr sz="7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5138928" y="3429000"/>
            <a:ext cx="2953512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60"/>
              </a:spcAft>
            </a:pPr>
            <a:r>
              <a:rPr sz="1200" b="1">
                <a:solidFill>
                  <a:srgbClr val="071E3A"/>
                </a:solidFill>
                <a:latin typeface="Aptos"/>
                <a:ea typeface="Aptos"/>
                <a:cs typeface="Aptos"/>
              </a:rPr>
              <a:t>Job path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572000" y="3794760"/>
            <a:ext cx="2971800" cy="8869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"/>
              </a:spcAft>
            </a:pPr>
            <a:r>
              <a:rPr sz="800">
                <a:solidFill>
                  <a:srgbClr val="5B6878"/>
                </a:solidFill>
                <a:latin typeface="Aptos"/>
                <a:ea typeface="Aptos"/>
                <a:cs typeface="Aptos"/>
              </a:rPr>
              <a:t>If it runs long, make it async, cancellable and visible in the monitor.</a:t>
            </a:r>
          </a:p>
        </p:txBody>
      </p:sp>
      <p:sp>
        <p:nvSpPr>
          <p:cNvPr id="32" name="Shape 32"/>
          <p:cNvSpPr/>
          <p:nvPr/>
        </p:nvSpPr>
        <p:spPr>
          <a:xfrm>
            <a:off x="8092440" y="3291840"/>
            <a:ext cx="333756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4ED"/>
            </a:solidFill>
          </a:ln>
          <a:effectLst/>
        </p:spPr>
        <p:txBody>
          <a:bodyPr/>
          <a:lstStyle/>
          <a:p/>
        </p:txBody>
      </p:sp>
      <p:sp>
        <p:nvSpPr>
          <p:cNvPr id="33" name="Shape 33"/>
          <p:cNvSpPr/>
          <p:nvPr/>
        </p:nvSpPr>
        <p:spPr>
          <a:xfrm>
            <a:off x="8257032" y="3438144"/>
            <a:ext cx="475488" cy="256032"/>
          </a:xfrm>
          <a:prstGeom prst="roundRect">
            <a:avLst/>
          </a:prstGeom>
          <a:solidFill>
            <a:srgbClr val="1D6FB8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34" name="TextBox 34"/>
          <p:cNvSpPr txBox="1"/>
          <p:nvPr/>
        </p:nvSpPr>
        <p:spPr>
          <a:xfrm>
            <a:off x="8257032" y="3456432"/>
            <a:ext cx="475488" cy="146304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30"/>
              </a:spcAft>
            </a:pPr>
            <a:r>
              <a:rPr sz="7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842248" y="3429000"/>
            <a:ext cx="2953512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60"/>
              </a:spcAft>
            </a:pPr>
            <a:r>
              <a:rPr sz="1200" b="1">
                <a:solidFill>
                  <a:srgbClr val="071E3A"/>
                </a:solidFill>
                <a:latin typeface="Aptos"/>
                <a:ea typeface="Aptos"/>
                <a:cs typeface="Aptos"/>
              </a:rPr>
              <a:t>Tests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275320" y="3794760"/>
            <a:ext cx="2971800" cy="8869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"/>
              </a:spcAft>
            </a:pPr>
            <a:r>
              <a:rPr sz="800">
                <a:solidFill>
                  <a:srgbClr val="5B6878"/>
                </a:solidFill>
                <a:latin typeface="Aptos"/>
                <a:ea typeface="Aptos"/>
                <a:cs typeface="Aptos"/>
              </a:rPr>
              <a:t>Add unit tests around engine behavior and risky workflow branches.</a:t>
            </a:r>
          </a:p>
        </p:txBody>
      </p:sp>
      <p:sp>
        <p:nvSpPr>
          <p:cNvPr id="37" name="Shape 37"/>
          <p:cNvSpPr/>
          <p:nvPr/>
        </p:nvSpPr>
        <p:spPr>
          <a:xfrm>
            <a:off x="868680" y="5440680"/>
            <a:ext cx="10149840" cy="457200"/>
          </a:xfrm>
          <a:prstGeom prst="roundRect">
            <a:avLst/>
          </a:prstGeom>
          <a:solidFill>
            <a:srgbClr val="FFF1F1"/>
          </a:solidFill>
          <a:ln w="9525">
            <a:solidFill>
              <a:srgbClr val="DCE4ED"/>
            </a:solidFill>
          </a:ln>
          <a:effectLst/>
        </p:spPr>
        <p:txBody>
          <a:bodyPr/>
          <a:lstStyle/>
          <a:p/>
        </p:txBody>
      </p:sp>
      <p:sp>
        <p:nvSpPr>
          <p:cNvPr id="38" name="TextBox 38"/>
          <p:cNvSpPr txBox="1"/>
          <p:nvPr/>
        </p:nvSpPr>
        <p:spPr>
          <a:xfrm>
            <a:off x="1051560" y="5577840"/>
            <a:ext cx="9784080" cy="11887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160"/>
              </a:spcAft>
            </a:pPr>
            <a:r>
              <a:rPr sz="900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Team caution: any change that touches DataScope maps, load action, masking rules or mainframe encoding deserves an end-to-end demo check.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502920" y="6446520"/>
            <a:ext cx="521208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60"/>
              </a:spcAft>
            </a:pPr>
            <a:r>
              <a:rPr sz="800">
                <a:solidFill>
                  <a:srgbClr val="5B6878"/>
                </a:solidFill>
                <a:latin typeface="Aptos"/>
                <a:ea typeface="Aptos"/>
                <a:cs typeface="Aptos"/>
              </a:rPr>
              <a:t>ForgeTDM team walkthrough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1109960" y="6446520"/>
            <a:ext cx="4572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160"/>
              </a:spcAft>
            </a:pPr>
            <a:r>
              <a:rPr sz="800">
                <a:solidFill>
                  <a:srgbClr val="5B6878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E3A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E3A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4" name="TextBox 4"/>
          <p:cNvSpPr txBox="1"/>
          <p:nvPr/>
        </p:nvSpPr>
        <p:spPr>
          <a:xfrm>
            <a:off x="685800" y="749808"/>
            <a:ext cx="43891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60"/>
              </a:spcAft>
            </a:pPr>
            <a:r>
              <a:rPr sz="1100" b="1">
                <a:solidFill>
                  <a:srgbClr val="19A7CE"/>
                </a:solidFill>
                <a:latin typeface="Aptos"/>
                <a:ea typeface="Aptos"/>
                <a:cs typeface="Aptos"/>
              </a:rPr>
              <a:t>TEAM RUNBOOK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85800" y="1051560"/>
            <a:ext cx="8961120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"/>
              </a:spcAft>
            </a:pPr>
            <a:r>
              <a:rPr sz="3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Recommended internal walkthrough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13232" y="1783080"/>
            <a:ext cx="896112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60"/>
              </a:spcAft>
            </a:pPr>
            <a:r>
              <a:rPr sz="1400">
                <a:solidFill>
                  <a:srgbClr val="CBDEF6"/>
                </a:solidFill>
                <a:latin typeface="Aptos"/>
                <a:ea typeface="Aptos"/>
                <a:cs typeface="Aptos"/>
              </a:rPr>
              <a:t>Use this flow when explaining the tool to engineers, QA, platform and data teams.</a:t>
            </a:r>
          </a:p>
        </p:txBody>
      </p:sp>
      <p:sp>
        <p:nvSpPr>
          <p:cNvPr id="7" name="Shape 7"/>
          <p:cNvSpPr/>
          <p:nvPr/>
        </p:nvSpPr>
        <p:spPr>
          <a:xfrm>
            <a:off x="777240" y="2423160"/>
            <a:ext cx="4892040" cy="603504"/>
          </a:xfrm>
          <a:prstGeom prst="roundRect">
            <a:avLst/>
          </a:prstGeom>
          <a:solidFill>
            <a:srgbClr val="0D2D55"/>
          </a:solidFill>
          <a:ln w="9525">
            <a:solidFill>
              <a:srgbClr val="9FC2EE"/>
            </a:solidFill>
          </a:ln>
          <a:effectLst/>
        </p:spPr>
        <p:txBody>
          <a:bodyPr/>
          <a:lstStyle/>
          <a:p/>
        </p:txBody>
      </p:sp>
      <p:sp>
        <p:nvSpPr>
          <p:cNvPr id="8" name="Shape 8"/>
          <p:cNvSpPr/>
          <p:nvPr/>
        </p:nvSpPr>
        <p:spPr>
          <a:xfrm>
            <a:off x="960120" y="2542032"/>
            <a:ext cx="347472" cy="347472"/>
          </a:xfrm>
          <a:prstGeom prst="ellipse">
            <a:avLst/>
          </a:prstGeom>
          <a:solidFill>
            <a:srgbClr val="1D6FB8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9" name="TextBox 9"/>
          <p:cNvSpPr txBox="1"/>
          <p:nvPr/>
        </p:nvSpPr>
        <p:spPr>
          <a:xfrm>
            <a:off x="960120" y="2569464"/>
            <a:ext cx="347472" cy="30175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"/>
              </a:spcAft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35608" y="2532888"/>
            <a:ext cx="1051560" cy="1371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60"/>
              </a:spcAft>
            </a:pPr>
            <a:r>
              <a:rPr sz="1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Start app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441448" y="2532888"/>
            <a:ext cx="301752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60"/>
              </a:spcAft>
            </a:pPr>
            <a:r>
              <a:rPr sz="800">
                <a:solidFill>
                  <a:srgbClr val="DFF7FF"/>
                </a:solidFill>
                <a:latin typeface="Aptos"/>
                <a:ea typeface="Aptos"/>
                <a:cs typeface="Aptos"/>
              </a:rPr>
              <a:t>Run demo profile and open localhost:8088.</a:t>
            </a:r>
          </a:p>
        </p:txBody>
      </p:sp>
      <p:sp>
        <p:nvSpPr>
          <p:cNvPr id="12" name="Shape 12"/>
          <p:cNvSpPr/>
          <p:nvPr/>
        </p:nvSpPr>
        <p:spPr>
          <a:xfrm>
            <a:off x="6217920" y="2423160"/>
            <a:ext cx="4892040" cy="603504"/>
          </a:xfrm>
          <a:prstGeom prst="roundRect">
            <a:avLst/>
          </a:prstGeom>
          <a:solidFill>
            <a:srgbClr val="0D2D55"/>
          </a:solidFill>
          <a:ln w="9525">
            <a:solidFill>
              <a:srgbClr val="9FC2EE"/>
            </a:solidFill>
          </a:ln>
          <a:effectLst/>
        </p:spPr>
        <p:txBody>
          <a:bodyPr/>
          <a:lstStyle/>
          <a:p/>
        </p:txBody>
      </p:sp>
      <p:sp>
        <p:nvSpPr>
          <p:cNvPr id="13" name="Shape 13"/>
          <p:cNvSpPr/>
          <p:nvPr/>
        </p:nvSpPr>
        <p:spPr>
          <a:xfrm>
            <a:off x="6400800" y="2542032"/>
            <a:ext cx="347472" cy="347472"/>
          </a:xfrm>
          <a:prstGeom prst="ellipse">
            <a:avLst/>
          </a:prstGeom>
          <a:solidFill>
            <a:srgbClr val="1D6FB8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14" name="TextBox 14"/>
          <p:cNvSpPr txBox="1"/>
          <p:nvPr/>
        </p:nvSpPr>
        <p:spPr>
          <a:xfrm>
            <a:off x="6400800" y="2569464"/>
            <a:ext cx="347472" cy="30175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"/>
              </a:spcAft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76288" y="2532888"/>
            <a:ext cx="1051560" cy="1371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60"/>
              </a:spcAft>
            </a:pPr>
            <a:r>
              <a:rPr sz="1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Catalog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882128" y="2532888"/>
            <a:ext cx="301752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60"/>
              </a:spcAft>
            </a:pPr>
            <a:r>
              <a:rPr sz="800">
                <a:solidFill>
                  <a:srgbClr val="DFF7FF"/>
                </a:solidFill>
                <a:latin typeface="Aptos"/>
                <a:ea typeface="Aptos"/>
                <a:cs typeface="Aptos"/>
              </a:rPr>
              <a:t>Show Data Sources and Data Explorer metadata.</a:t>
            </a:r>
          </a:p>
        </p:txBody>
      </p:sp>
      <p:sp>
        <p:nvSpPr>
          <p:cNvPr id="17" name="Shape 17"/>
          <p:cNvSpPr/>
          <p:nvPr/>
        </p:nvSpPr>
        <p:spPr>
          <a:xfrm>
            <a:off x="777240" y="3264408"/>
            <a:ext cx="4892040" cy="603504"/>
          </a:xfrm>
          <a:prstGeom prst="roundRect">
            <a:avLst/>
          </a:prstGeom>
          <a:solidFill>
            <a:srgbClr val="0D2D55"/>
          </a:solidFill>
          <a:ln w="9525">
            <a:solidFill>
              <a:srgbClr val="9FC2EE"/>
            </a:solidFill>
          </a:ln>
          <a:effectLst/>
        </p:spPr>
        <p:txBody>
          <a:bodyPr/>
          <a:lstStyle/>
          <a:p/>
        </p:txBody>
      </p:sp>
      <p:sp>
        <p:nvSpPr>
          <p:cNvPr id="18" name="Shape 18"/>
          <p:cNvSpPr/>
          <p:nvPr/>
        </p:nvSpPr>
        <p:spPr>
          <a:xfrm>
            <a:off x="960120" y="3383280"/>
            <a:ext cx="347472" cy="347472"/>
          </a:xfrm>
          <a:prstGeom prst="ellipse">
            <a:avLst/>
          </a:prstGeom>
          <a:solidFill>
            <a:srgbClr val="1D6FB8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19" name="TextBox 19"/>
          <p:cNvSpPr txBox="1"/>
          <p:nvPr/>
        </p:nvSpPr>
        <p:spPr>
          <a:xfrm>
            <a:off x="960120" y="3410712"/>
            <a:ext cx="347472" cy="30175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"/>
              </a:spcAft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435608" y="3374136"/>
            <a:ext cx="1051560" cy="1371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60"/>
              </a:spcAft>
            </a:pPr>
            <a:r>
              <a:rPr sz="1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Discover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441448" y="3374136"/>
            <a:ext cx="301752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60"/>
              </a:spcAft>
            </a:pPr>
            <a:r>
              <a:rPr sz="800">
                <a:solidFill>
                  <a:srgbClr val="DFF7FF"/>
                </a:solidFill>
                <a:latin typeface="Aptos"/>
                <a:ea typeface="Aptos"/>
                <a:cs typeface="Aptos"/>
              </a:rPr>
              <a:t>Run PII scan, approve findings, generate policy.</a:t>
            </a:r>
          </a:p>
        </p:txBody>
      </p:sp>
      <p:sp>
        <p:nvSpPr>
          <p:cNvPr id="22" name="Shape 22"/>
          <p:cNvSpPr/>
          <p:nvPr/>
        </p:nvSpPr>
        <p:spPr>
          <a:xfrm>
            <a:off x="6217920" y="3264408"/>
            <a:ext cx="4892040" cy="603504"/>
          </a:xfrm>
          <a:prstGeom prst="roundRect">
            <a:avLst/>
          </a:prstGeom>
          <a:solidFill>
            <a:srgbClr val="0D2D55"/>
          </a:solidFill>
          <a:ln w="9525">
            <a:solidFill>
              <a:srgbClr val="9FC2EE"/>
            </a:solidFill>
          </a:ln>
          <a:effectLst/>
        </p:spPr>
        <p:txBody>
          <a:bodyPr/>
          <a:lstStyle/>
          <a:p/>
        </p:txBody>
      </p:sp>
      <p:sp>
        <p:nvSpPr>
          <p:cNvPr id="23" name="Shape 23"/>
          <p:cNvSpPr/>
          <p:nvPr/>
        </p:nvSpPr>
        <p:spPr>
          <a:xfrm>
            <a:off x="6400800" y="3383280"/>
            <a:ext cx="347472" cy="347472"/>
          </a:xfrm>
          <a:prstGeom prst="ellipse">
            <a:avLst/>
          </a:prstGeom>
          <a:solidFill>
            <a:srgbClr val="1D6FB8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24" name="TextBox 24"/>
          <p:cNvSpPr txBox="1"/>
          <p:nvPr/>
        </p:nvSpPr>
        <p:spPr>
          <a:xfrm>
            <a:off x="6400800" y="3410712"/>
            <a:ext cx="347472" cy="30175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"/>
              </a:spcAft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876288" y="3374136"/>
            <a:ext cx="1051560" cy="1371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60"/>
              </a:spcAft>
            </a:pPr>
            <a:r>
              <a:rPr sz="1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Design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882128" y="3374136"/>
            <a:ext cx="301752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60"/>
              </a:spcAft>
            </a:pPr>
            <a:r>
              <a:rPr sz="800">
                <a:solidFill>
                  <a:srgbClr val="DFF7FF"/>
                </a:solidFill>
                <a:latin typeface="Aptos"/>
                <a:ea typeface="Aptos"/>
                <a:cs typeface="Aptos"/>
              </a:rPr>
              <a:t>Build or open DataScope, table map and column map.</a:t>
            </a:r>
          </a:p>
        </p:txBody>
      </p:sp>
      <p:sp>
        <p:nvSpPr>
          <p:cNvPr id="27" name="Shape 27"/>
          <p:cNvSpPr/>
          <p:nvPr/>
        </p:nvSpPr>
        <p:spPr>
          <a:xfrm>
            <a:off x="777240" y="4105656"/>
            <a:ext cx="4892040" cy="603504"/>
          </a:xfrm>
          <a:prstGeom prst="roundRect">
            <a:avLst/>
          </a:prstGeom>
          <a:solidFill>
            <a:srgbClr val="0D2D55"/>
          </a:solidFill>
          <a:ln w="9525">
            <a:solidFill>
              <a:srgbClr val="9FC2EE"/>
            </a:solidFill>
          </a:ln>
          <a:effectLst/>
        </p:spPr>
        <p:txBody>
          <a:bodyPr/>
          <a:lstStyle/>
          <a:p/>
        </p:txBody>
      </p:sp>
      <p:sp>
        <p:nvSpPr>
          <p:cNvPr id="28" name="Shape 28"/>
          <p:cNvSpPr/>
          <p:nvPr/>
        </p:nvSpPr>
        <p:spPr>
          <a:xfrm>
            <a:off x="960120" y="4224528"/>
            <a:ext cx="347472" cy="347472"/>
          </a:xfrm>
          <a:prstGeom prst="ellipse">
            <a:avLst/>
          </a:prstGeom>
          <a:solidFill>
            <a:srgbClr val="1D6FB8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29" name="TextBox 29"/>
          <p:cNvSpPr txBox="1"/>
          <p:nvPr/>
        </p:nvSpPr>
        <p:spPr>
          <a:xfrm>
            <a:off x="960120" y="4251960"/>
            <a:ext cx="347472" cy="30175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"/>
              </a:spcAft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435608" y="4215384"/>
            <a:ext cx="1051560" cy="1371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60"/>
              </a:spcAft>
            </a:pPr>
            <a:r>
              <a:rPr sz="1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Provision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2441448" y="4215384"/>
            <a:ext cx="301752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60"/>
              </a:spcAft>
            </a:pPr>
            <a:r>
              <a:rPr sz="800">
                <a:solidFill>
                  <a:srgbClr val="DFF7FF"/>
                </a:solidFill>
                <a:latin typeface="Aptos"/>
                <a:ea typeface="Aptos"/>
                <a:cs typeface="Aptos"/>
              </a:rPr>
              <a:t>Launch job, explain load action and monitor status.</a:t>
            </a:r>
          </a:p>
        </p:txBody>
      </p:sp>
      <p:sp>
        <p:nvSpPr>
          <p:cNvPr id="32" name="Shape 32"/>
          <p:cNvSpPr/>
          <p:nvPr/>
        </p:nvSpPr>
        <p:spPr>
          <a:xfrm>
            <a:off x="6217920" y="4105656"/>
            <a:ext cx="4892040" cy="603504"/>
          </a:xfrm>
          <a:prstGeom prst="roundRect">
            <a:avLst/>
          </a:prstGeom>
          <a:solidFill>
            <a:srgbClr val="0D2D55"/>
          </a:solidFill>
          <a:ln w="9525">
            <a:solidFill>
              <a:srgbClr val="9FC2EE"/>
            </a:solidFill>
          </a:ln>
          <a:effectLst/>
        </p:spPr>
        <p:txBody>
          <a:bodyPr/>
          <a:lstStyle/>
          <a:p/>
        </p:txBody>
      </p:sp>
      <p:sp>
        <p:nvSpPr>
          <p:cNvPr id="33" name="Shape 33"/>
          <p:cNvSpPr/>
          <p:nvPr/>
        </p:nvSpPr>
        <p:spPr>
          <a:xfrm>
            <a:off x="6400800" y="4224528"/>
            <a:ext cx="347472" cy="347472"/>
          </a:xfrm>
          <a:prstGeom prst="ellipse">
            <a:avLst/>
          </a:prstGeom>
          <a:solidFill>
            <a:srgbClr val="1D6FB8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34" name="TextBox 34"/>
          <p:cNvSpPr txBox="1"/>
          <p:nvPr/>
        </p:nvSpPr>
        <p:spPr>
          <a:xfrm>
            <a:off x="6400800" y="4251960"/>
            <a:ext cx="347472" cy="30175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"/>
              </a:spcAft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876288" y="4215384"/>
            <a:ext cx="1051560" cy="1371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60"/>
              </a:spcAft>
            </a:pPr>
            <a:r>
              <a:rPr sz="1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Generate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882128" y="4215384"/>
            <a:ext cx="301752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60"/>
              </a:spcAft>
            </a:pPr>
            <a:r>
              <a:rPr sz="800">
                <a:solidFill>
                  <a:srgbClr val="DFF7FF"/>
                </a:solidFill>
                <a:latin typeface="Aptos"/>
                <a:ea typeface="Aptos"/>
                <a:cs typeface="Aptos"/>
              </a:rPr>
              <a:t>Show Synthetic and MF generator as no-source paths.</a:t>
            </a:r>
          </a:p>
        </p:txBody>
      </p:sp>
      <p:sp>
        <p:nvSpPr>
          <p:cNvPr id="37" name="Shape 37"/>
          <p:cNvSpPr/>
          <p:nvPr/>
        </p:nvSpPr>
        <p:spPr>
          <a:xfrm>
            <a:off x="777240" y="4946904"/>
            <a:ext cx="4892040" cy="603504"/>
          </a:xfrm>
          <a:prstGeom prst="roundRect">
            <a:avLst/>
          </a:prstGeom>
          <a:solidFill>
            <a:srgbClr val="0D2D55"/>
          </a:solidFill>
          <a:ln w="9525">
            <a:solidFill>
              <a:srgbClr val="9FC2EE"/>
            </a:solidFill>
          </a:ln>
          <a:effectLst/>
        </p:spPr>
        <p:txBody>
          <a:bodyPr/>
          <a:lstStyle/>
          <a:p/>
        </p:txBody>
      </p:sp>
      <p:sp>
        <p:nvSpPr>
          <p:cNvPr id="38" name="Shape 38"/>
          <p:cNvSpPr/>
          <p:nvPr/>
        </p:nvSpPr>
        <p:spPr>
          <a:xfrm>
            <a:off x="960120" y="5065776"/>
            <a:ext cx="347472" cy="347472"/>
          </a:xfrm>
          <a:prstGeom prst="ellipse">
            <a:avLst/>
          </a:prstGeom>
          <a:solidFill>
            <a:srgbClr val="1D6FB8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39" name="TextBox 39"/>
          <p:cNvSpPr txBox="1"/>
          <p:nvPr/>
        </p:nvSpPr>
        <p:spPr>
          <a:xfrm>
            <a:off x="960120" y="5093208"/>
            <a:ext cx="347472" cy="30175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"/>
              </a:spcAft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435608" y="5056632"/>
            <a:ext cx="1051560" cy="1371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60"/>
              </a:spcAft>
            </a:pPr>
            <a:r>
              <a:rPr sz="1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Govern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2441448" y="5056632"/>
            <a:ext cx="301752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60"/>
              </a:spcAft>
            </a:pPr>
            <a:r>
              <a:rPr sz="800">
                <a:solidFill>
                  <a:srgbClr val="DFF7FF"/>
                </a:solidFill>
                <a:latin typeface="Aptos"/>
                <a:ea typeface="Aptos"/>
                <a:cs typeface="Aptos"/>
              </a:rPr>
              <a:t>Run Validation and open Audit Trail.</a:t>
            </a:r>
          </a:p>
        </p:txBody>
      </p:sp>
      <p:sp>
        <p:nvSpPr>
          <p:cNvPr id="42" name="Shape 42"/>
          <p:cNvSpPr/>
          <p:nvPr/>
        </p:nvSpPr>
        <p:spPr>
          <a:xfrm>
            <a:off x="6217920" y="4946904"/>
            <a:ext cx="4892040" cy="603504"/>
          </a:xfrm>
          <a:prstGeom prst="roundRect">
            <a:avLst/>
          </a:prstGeom>
          <a:solidFill>
            <a:srgbClr val="0D2D55"/>
          </a:solidFill>
          <a:ln w="9525">
            <a:solidFill>
              <a:srgbClr val="9FC2EE"/>
            </a:solidFill>
          </a:ln>
          <a:effectLst/>
        </p:spPr>
        <p:txBody>
          <a:bodyPr/>
          <a:lstStyle/>
          <a:p/>
        </p:txBody>
      </p:sp>
      <p:sp>
        <p:nvSpPr>
          <p:cNvPr id="43" name="Shape 43"/>
          <p:cNvSpPr/>
          <p:nvPr/>
        </p:nvSpPr>
        <p:spPr>
          <a:xfrm>
            <a:off x="6400800" y="5065776"/>
            <a:ext cx="347472" cy="347472"/>
          </a:xfrm>
          <a:prstGeom prst="ellipse">
            <a:avLst/>
          </a:prstGeom>
          <a:solidFill>
            <a:srgbClr val="1D6FB8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44" name="TextBox 44"/>
          <p:cNvSpPr txBox="1"/>
          <p:nvPr/>
        </p:nvSpPr>
        <p:spPr>
          <a:xfrm>
            <a:off x="6400800" y="5093208"/>
            <a:ext cx="347472" cy="30175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"/>
              </a:spcAft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6876288" y="5056632"/>
            <a:ext cx="1051560" cy="1371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60"/>
              </a:spcAft>
            </a:pPr>
            <a:r>
              <a:rPr sz="1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Extend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7882128" y="5056632"/>
            <a:ext cx="301752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60"/>
              </a:spcAft>
            </a:pPr>
            <a:r>
              <a:rPr sz="800">
                <a:solidFill>
                  <a:srgbClr val="DFF7FF"/>
                </a:solidFill>
                <a:latin typeface="Aptos"/>
                <a:ea typeface="Aptos"/>
                <a:cs typeface="Aptos"/>
              </a:rPr>
              <a:t>Close with code map and where to add features.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777240" y="6080760"/>
            <a:ext cx="105156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160"/>
              </a:spcAft>
            </a:pPr>
            <a:r>
              <a:rPr sz="1200" b="1">
                <a:solidFill>
                  <a:srgbClr val="19A7CE"/>
                </a:solidFill>
                <a:latin typeface="Aptos"/>
                <a:ea typeface="Aptos"/>
                <a:cs typeface="Aptos"/>
              </a:rPr>
              <a:t>Goal for the meeting: everyone leaves knowing where the feature lives, how data moves, and how to safely change 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ForgeTDM</Application>
  <PresentationFormat>On-screen Show (16:9)</PresentationFormat>
  <Slides>14</Slides>
  <Notes>0</Notes>
  <HiddenSlides>0</HiddenSlides>
  <Company>ForgeTDM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ForgeTDM Team How It Works Deck</dc:title>
  <dc:subject>Internal technical walkthrough</dc:subject>
  <dc:creator>ForgeTDM</dc:creator>
  <cp:lastModifiedBy>ForgeTDM</cp:lastModifiedBy>
  <dcterms:created xsi:type="dcterms:W3CDTF">2026-06-19T00:00:00Z</dcterms:created>
  <dcterms:modified xsi:type="dcterms:W3CDTF">2026-06-19T00:00:00Z</dcterms:modified>
</cp:coreProperties>
</file>